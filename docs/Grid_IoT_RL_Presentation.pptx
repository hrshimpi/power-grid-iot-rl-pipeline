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5D8F2"/>
                </a:solidFill>
                <a:latin typeface="Segoe UI"/>
              </a:rPr>
              <a:t>IoT  ·  REINFORCEMENT LEARNING  ·  CLOUD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Grid IoT 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D2E8"/>
                </a:solidFill>
                <a:latin typeface="Segoe UI"/>
              </a:rPr>
              <a:t>Reinforcement Learning for Real-Time Power Grid Voltage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977639"/>
            <a:ext cx="1005840" cy="50800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Himanshu Shimpi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09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6B2"/>
                </a:solidFill>
                <a:latin typeface="Segoe UI"/>
              </a:rPr>
              <a:t>Edge → Cloud → AI → Action, closed in under a second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7848" y="5001768"/>
            <a:ext cx="3209544" cy="25400"/>
          </a:xfrm>
          <a:prstGeom prst="rect">
            <a:avLst/>
          </a:prstGeom>
          <a:solidFill>
            <a:srgbClr val="2A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8120" y="48920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0" y="5276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B2"/>
                </a:solidFill>
                <a:latin typeface="Segoe UI"/>
              </a:rPr>
              <a:t>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48920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5276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B2"/>
                </a:solidFill>
                <a:latin typeface="Segoe UI"/>
              </a:rPr>
              <a:t>IoT 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48920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5276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B2"/>
                </a:solidFill>
                <a:latin typeface="Segoe UI"/>
              </a:rPr>
              <a:t>AI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247120" y="489204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3D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27080" y="5276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96B2"/>
                </a:solidFill>
                <a:latin typeface="Segoe UI"/>
              </a:rPr>
              <a:t>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5D8F2"/>
                </a:solidFill>
                <a:latin typeface="Segoe U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E33"/>
                </a:solidFill>
                <a:latin typeface="Segoe UI"/>
              </a:rPr>
              <a:t>Grid Faults Don't Wait for Humans to React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07008"/>
            <a:ext cx="822960" cy="50800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B6680"/>
                </a:solidFill>
                <a:latin typeface="Segoe UI"/>
              </a:rPr>
              <a:t>Voltage sags, overcurrent, frequency drift and overheating can cascade into equipment damage or outages within seconds.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B668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B6680"/>
                </a:solidFill>
                <a:latin typeface="Segoe UI"/>
              </a:rPr>
              <a:t>Traditional monitoring relies on static thresholds and manual operator response — too slow for a modern, sensor-dense grid.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B668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B6680"/>
                </a:solidFill>
                <a:latin typeface="Segoe UI"/>
              </a:rPr>
              <a:t>This project replaces that reactive loop with an autonomous agent that senses, decides, and acts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8346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828800"/>
            <a:ext cx="2834640" cy="82296"/>
          </a:xfrm>
          <a:prstGeom prst="rect">
            <a:avLst/>
          </a:prstGeom>
          <a:solidFill>
            <a:srgbClr val="8A9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2084832"/>
            <a:ext cx="2505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B6680"/>
                </a:solidFill>
                <a:latin typeface="Segoe UI"/>
              </a:rPr>
              <a:t>Traditional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2468880"/>
            <a:ext cx="250545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B6680"/>
                </a:solidFill>
                <a:latin typeface="Segoe UI"/>
              </a:rPr>
              <a:t>Static thresholds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B6680"/>
                </a:solidFill>
                <a:latin typeface="Segoe UI"/>
              </a:rPr>
              <a:t>Manual operator response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B6680"/>
                </a:solidFill>
                <a:latin typeface="Segoe UI"/>
              </a:rPr>
              <a:t>Minutes to react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B6680"/>
                </a:solidFill>
                <a:latin typeface="Segoe UI"/>
              </a:rPr>
              <a:t>Purely reactive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828800"/>
            <a:ext cx="28346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52560" y="1828800"/>
            <a:ext cx="2834640" cy="82296"/>
          </a:xfrm>
          <a:prstGeom prst="rect">
            <a:avLst/>
          </a:prstGeom>
          <a:solidFill>
            <a:srgbClr val="33D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7152" y="2084832"/>
            <a:ext cx="2505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1E33"/>
                </a:solidFill>
                <a:latin typeface="Segoe UI"/>
              </a:rPr>
              <a:t>This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2468880"/>
            <a:ext cx="250545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B6680"/>
                </a:solidFill>
                <a:latin typeface="Segoe UI"/>
              </a:rPr>
              <a:t>Learned decision policy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B6680"/>
                </a:solidFill>
                <a:latin typeface="Segoe UI"/>
              </a:rPr>
              <a:t>Fully autonomous agent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B6680"/>
                </a:solidFill>
                <a:latin typeface="Segoe UI"/>
              </a:rPr>
              <a:t>Sub-second reaction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B6680"/>
                </a:solidFill>
                <a:latin typeface="Segoe UI"/>
              </a:rPr>
              <a:t>Adapts to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6060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35D8F2"/>
                </a:solidFill>
                <a:latin typeface="Segoe UI"/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GRID IoT RL  ·  Reinforcement Learning for Power Grid Voltage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01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5D8F2"/>
                </a:solidFill>
                <a:latin typeface="Segoe UI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E33"/>
                </a:solidFill>
                <a:latin typeface="Segoe UI"/>
              </a:rPr>
              <a:t>End-to-End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07008"/>
            <a:ext cx="822960" cy="50800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1454" y="2331720"/>
            <a:ext cx="1874519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1454" y="2331720"/>
            <a:ext cx="1874519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6046" y="2587752"/>
            <a:ext cx="1545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Edge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046" y="2971800"/>
            <a:ext cx="154533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680"/>
                </a:solidFill>
                <a:latin typeface="Segoe UI"/>
              </a:rPr>
              <a:t>sensor stream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34261" y="2839212"/>
            <a:ext cx="347472" cy="219456"/>
          </a:xfrm>
          <a:prstGeom prst="rightArrow">
            <a:avLst/>
          </a:prstGeom>
          <a:solidFill>
            <a:srgbClr val="B9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0021" y="2331720"/>
            <a:ext cx="1874519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0021" y="2331720"/>
            <a:ext cx="1874519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4613" y="2587752"/>
            <a:ext cx="1545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AWS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IoT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4613" y="2971800"/>
            <a:ext cx="154533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680"/>
                </a:solidFill>
                <a:latin typeface="Segoe UI"/>
              </a:rPr>
              <a:t>secure MQTT ingest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92828" y="2839212"/>
            <a:ext cx="347472" cy="219456"/>
          </a:xfrm>
          <a:prstGeom prst="rightArrow">
            <a:avLst/>
          </a:prstGeom>
          <a:solidFill>
            <a:srgbClr val="B9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58588" y="2331720"/>
            <a:ext cx="1874519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58588" y="2331720"/>
            <a:ext cx="1874519" cy="822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3180" y="2587752"/>
            <a:ext cx="1545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AWS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Lambda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3180" y="2971800"/>
            <a:ext cx="154533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680"/>
                </a:solidFill>
                <a:latin typeface="Segoe UI"/>
              </a:rPr>
              <a:t>security + orchestration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51395" y="2839212"/>
            <a:ext cx="347472" cy="219456"/>
          </a:xfrm>
          <a:prstGeom prst="rightArrow">
            <a:avLst/>
          </a:prstGeom>
          <a:solidFill>
            <a:srgbClr val="B9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17155" y="2331720"/>
            <a:ext cx="1874519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17155" y="2331720"/>
            <a:ext cx="1874519" cy="82296"/>
          </a:xfrm>
          <a:prstGeom prst="rect">
            <a:avLst/>
          </a:prstGeom>
          <a:solidFill>
            <a:srgbClr val="33D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1747" y="2587752"/>
            <a:ext cx="1545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SageMaker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RL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1747" y="2971800"/>
            <a:ext cx="154533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680"/>
                </a:solidFill>
                <a:latin typeface="Segoe UI"/>
              </a:rPr>
              <a:t>DQN inference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09962" y="2839212"/>
            <a:ext cx="347472" cy="219456"/>
          </a:xfrm>
          <a:prstGeom prst="rightArrow">
            <a:avLst/>
          </a:prstGeom>
          <a:solidFill>
            <a:srgbClr val="B9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75722" y="2331720"/>
            <a:ext cx="1874519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75722" y="2331720"/>
            <a:ext cx="1874519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40314" y="2587752"/>
            <a:ext cx="1545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Device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Shadow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0314" y="2971800"/>
            <a:ext cx="154533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B6680"/>
                </a:solidFill>
                <a:latin typeface="Segoe UI"/>
              </a:rPr>
              <a:t>decision delivered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5986119" y="3611880"/>
            <a:ext cx="219456" cy="502920"/>
          </a:xfrm>
          <a:prstGeom prst="downArrow">
            <a:avLst/>
          </a:prstGeom>
          <a:solidFill>
            <a:srgbClr val="B9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41268" y="4251960"/>
            <a:ext cx="1737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41268" y="4251960"/>
            <a:ext cx="1737360" cy="82296"/>
          </a:xfrm>
          <a:prstGeom prst="rect">
            <a:avLst/>
          </a:prstGeom>
          <a:solidFill>
            <a:srgbClr val="5B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05860" y="4507992"/>
            <a:ext cx="1408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1E33"/>
                </a:solidFill>
                <a:latin typeface="Segoe UI"/>
              </a:rPr>
              <a:t>S3 Data Lake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5860" y="4892040"/>
            <a:ext cx="14081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680"/>
                </a:solidFill>
                <a:latin typeface="Segoe UI"/>
              </a:rPr>
              <a:t>every reading archived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98668" y="4251960"/>
            <a:ext cx="1737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98668" y="4251960"/>
            <a:ext cx="1737360" cy="82296"/>
          </a:xfrm>
          <a:prstGeom prst="rect">
            <a:avLst/>
          </a:prstGeom>
          <a:solidFill>
            <a:srgbClr val="F45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63260" y="4507992"/>
            <a:ext cx="14081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1E33"/>
                </a:solidFill>
                <a:latin typeface="Segoe UI"/>
              </a:rPr>
              <a:t>SNS Alerts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63260" y="4892040"/>
            <a:ext cx="140817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680"/>
                </a:solidFill>
                <a:latin typeface="Segoe UI"/>
              </a:rPr>
              <a:t>fault → email notification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454" y="5285232"/>
            <a:ext cx="109087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B6680"/>
                </a:solidFill>
                <a:latin typeface="Segoe UI"/>
              </a:rPr>
              <a:t>the RL agent's action is delivered back to the edge device via the shadow, closing the loop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GRID IoT RL  ·  Reinforcement Learning for Power Grid Voltage 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02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5D8F2"/>
                </a:solidFill>
                <a:latin typeface="Segoe UI"/>
              </a:rPr>
              <a:t>INPUT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E33"/>
                </a:solidFill>
                <a:latin typeface="Segoe UI"/>
              </a:rPr>
              <a:t>What the Grid Tells Us, Every Second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07008"/>
            <a:ext cx="822960" cy="50800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54586" y="1828800"/>
            <a:ext cx="208483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4586" y="1828800"/>
            <a:ext cx="2084831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9178" y="2084832"/>
            <a:ext cx="17556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Voltage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178" y="2468880"/>
            <a:ext cx="17556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61E33"/>
                </a:solidFill>
                <a:latin typeface="Segoe UI"/>
              </a:rPr>
              <a:t>400–430 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4009" y="1828800"/>
            <a:ext cx="208483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04009" y="1828800"/>
            <a:ext cx="2084831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8601" y="2084832"/>
            <a:ext cx="17556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Current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8601" y="2468880"/>
            <a:ext cx="17556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61E33"/>
                </a:solidFill>
                <a:latin typeface="Segoe UI"/>
              </a:rPr>
              <a:t>60–100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3432" y="1828800"/>
            <a:ext cx="208483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53432" y="1828800"/>
            <a:ext cx="2084831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8024" y="2084832"/>
            <a:ext cx="17556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Frequency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8024" y="2468880"/>
            <a:ext cx="17556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61E33"/>
                </a:solidFill>
                <a:latin typeface="Segoe UI"/>
              </a:rPr>
              <a:t>49.9–50.1 Hz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02855" y="1828800"/>
            <a:ext cx="208483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02855" y="1828800"/>
            <a:ext cx="2084831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7447" y="2084832"/>
            <a:ext cx="17556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Temperature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7447" y="2468880"/>
            <a:ext cx="17556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61E33"/>
                </a:solidFill>
                <a:latin typeface="Segoe UI"/>
              </a:rPr>
              <a:t>30–55 °C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2278" y="1828800"/>
            <a:ext cx="208483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52278" y="1828800"/>
            <a:ext cx="2084831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6870" y="2084832"/>
            <a:ext cx="17556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Power Factor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6870" y="2468880"/>
            <a:ext cx="17556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61E33"/>
                </a:solidFill>
                <a:latin typeface="Segoe UI"/>
              </a:rPr>
              <a:t>0.90–0.99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749039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B6680"/>
                </a:solidFill>
                <a:latin typeface="Segoe UI"/>
              </a:rPr>
              <a:t>A fault is simply one or more of these signals drifting outside its normal band.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3727" y="448056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3727" y="4480560"/>
            <a:ext cx="1691640" cy="822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319" y="4736592"/>
            <a:ext cx="1362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61E33"/>
                </a:solidFill>
                <a:latin typeface="Segoe UI"/>
              </a:rPr>
              <a:t>Voltage Sag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319" y="5120640"/>
            <a:ext cx="1362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B6680"/>
                </a:solidFill>
                <a:latin typeface="Segoe UI"/>
              </a:rPr>
              <a:t>&lt; 395 V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38247" y="448056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38247" y="4480560"/>
            <a:ext cx="1691640" cy="822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2839" y="4736592"/>
            <a:ext cx="1362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61E33"/>
                </a:solidFill>
                <a:latin typeface="Segoe UI"/>
              </a:rPr>
              <a:t>Voltage Swell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2839" y="5120640"/>
            <a:ext cx="1362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B6680"/>
                </a:solidFill>
                <a:latin typeface="Segoe UI"/>
              </a:rPr>
              <a:t>&gt; 435 V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12767" y="448056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12767" y="4480560"/>
            <a:ext cx="1691640" cy="822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77359" y="4736592"/>
            <a:ext cx="1362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61E33"/>
                </a:solidFill>
                <a:latin typeface="Segoe UI"/>
              </a:rPr>
              <a:t>Overcurrent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77359" y="5120640"/>
            <a:ext cx="1362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B6680"/>
                </a:solidFill>
                <a:latin typeface="Segoe UI"/>
              </a:rPr>
              <a:t>&gt; 115 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7287" y="448056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87287" y="4480560"/>
            <a:ext cx="1691640" cy="822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1879" y="4736592"/>
            <a:ext cx="1362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61E33"/>
                </a:solidFill>
                <a:latin typeface="Segoe UI"/>
              </a:rPr>
              <a:t>Frequency Drop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1879" y="5120640"/>
            <a:ext cx="1362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B6680"/>
                </a:solidFill>
                <a:latin typeface="Segoe UI"/>
              </a:rPr>
              <a:t>&lt; 49.5 Hz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61807" y="448056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61807" y="4480560"/>
            <a:ext cx="1691640" cy="822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6399" y="4736592"/>
            <a:ext cx="1362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61E33"/>
                </a:solidFill>
                <a:latin typeface="Segoe UI"/>
              </a:rPr>
              <a:t>Overtemp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6399" y="5120640"/>
            <a:ext cx="1362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B6680"/>
                </a:solidFill>
                <a:latin typeface="Segoe UI"/>
              </a:rPr>
              <a:t>&gt; 65 °C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36327" y="448056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36327" y="4480560"/>
            <a:ext cx="1691640" cy="822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00919" y="4736592"/>
            <a:ext cx="1362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61E33"/>
                </a:solidFill>
                <a:latin typeface="Segoe UI"/>
              </a:rPr>
              <a:t>Low Power Factor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00919" y="5120640"/>
            <a:ext cx="1362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B6680"/>
                </a:solidFill>
                <a:latin typeface="Segoe UI"/>
              </a:rPr>
              <a:t>&lt; 0.85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GRID IoT RL  ·  Reinforcement Learning for Power Grid Voltage Control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03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5D8F2"/>
                </a:solidFill>
                <a:latin typeface="Segoe UI"/>
              </a:rPr>
              <a:t>THE DECISION-MAKER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E33"/>
                </a:solidFill>
                <a:latin typeface="Segoe UI"/>
              </a:rPr>
              <a:t>Deep Q-Network (DQN)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07008"/>
            <a:ext cx="822960" cy="50800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35024" y="2907792.0"/>
            <a:ext cx="1645920" cy="100584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35024" y="2907792.0"/>
            <a:ext cx="1645920" cy="50292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35024" y="3410712.0"/>
            <a:ext cx="1645920" cy="100584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335024" y="2907792.0"/>
            <a:ext cx="1645920" cy="50292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335024" y="2907792.0"/>
            <a:ext cx="1645920" cy="100584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35024" y="3913632.0"/>
            <a:ext cx="1645920" cy="100584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35024" y="3913632.0"/>
            <a:ext cx="1645920" cy="50292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35024" y="2907792.0"/>
            <a:ext cx="1645920" cy="150876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5024" y="4919472.0"/>
            <a:ext cx="1645920" cy="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335024" y="3410712.0"/>
            <a:ext cx="1645920" cy="150876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980944" y="2907792.0"/>
            <a:ext cx="1645920" cy="25146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80944" y="2907792.0"/>
            <a:ext cx="1645920" cy="176022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980944" y="3410712.0"/>
            <a:ext cx="1645920" cy="125730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980944" y="3410712.0"/>
            <a:ext cx="1645920" cy="25146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980944" y="3159252.0"/>
            <a:ext cx="1645920" cy="75438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980944" y="3913632.0"/>
            <a:ext cx="1645920" cy="75438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980944" y="3159252.0"/>
            <a:ext cx="1645920" cy="125730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980944" y="4165092.0"/>
            <a:ext cx="1645920" cy="25146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980944" y="4668012.0"/>
            <a:ext cx="1645920" cy="25146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980944" y="3159252.0"/>
            <a:ext cx="1645920" cy="176022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626864" y="3159252.0"/>
            <a:ext cx="1645920" cy="176022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626864" y="2907792.0"/>
            <a:ext cx="1645920" cy="25146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626864" y="3410712.0"/>
            <a:ext cx="1645920" cy="25146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626864" y="2907792.0"/>
            <a:ext cx="1645920" cy="75438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626864" y="4165092.0"/>
            <a:ext cx="1645920" cy="75438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626864" y="4165092.0"/>
            <a:ext cx="1645920" cy="25146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626864" y="2907792.0"/>
            <a:ext cx="1645920" cy="176022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626864" y="3410712.0"/>
            <a:ext cx="1645920" cy="1257300.0"/>
          </a:xfrm>
          <a:prstGeom prst="line">
            <a:avLst/>
          </a:prstGeom>
          <a:ln w="9525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188720" y="28346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88720" y="33375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88720" y="38404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88720" y="4343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188720" y="484632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257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1E33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5321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680"/>
                </a:solidFill>
                <a:latin typeface="Segoe UI"/>
              </a:rPr>
              <a:t>inputs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34640" y="28346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3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34640" y="33375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3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834640" y="38404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3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834640" y="4343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3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834640" y="484632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3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31720" y="5257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1E33"/>
                </a:solidFill>
                <a:latin typeface="Segoe UI"/>
              </a:rPr>
              <a:t>128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31720" y="55321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680"/>
                </a:solidFill>
                <a:latin typeface="Segoe UI"/>
              </a:rPr>
              <a:t>hidden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80560" y="30861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3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480560" y="358902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3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480560" y="40919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3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480560" y="45948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3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77640" y="5257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1E33"/>
                </a:solidFill>
                <a:latin typeface="Segoe UI"/>
              </a:rPr>
              <a:t>64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77640" y="55321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680"/>
                </a:solidFill>
                <a:latin typeface="Segoe UI"/>
              </a:rPr>
              <a:t>hidden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26480" y="28346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3D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126480" y="33375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3D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126480" y="38404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3D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126480" y="4343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3D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126480" y="484632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3D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23560" y="5257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61E33"/>
                </a:solidFill>
                <a:latin typeface="Segoe U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3560" y="55321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B6680"/>
                </a:solidFill>
                <a:latin typeface="Segoe UI"/>
              </a:rPr>
              <a:t>actions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160020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680"/>
                </a:solidFill>
                <a:latin typeface="Segoe UI"/>
              </a:rPr>
              <a:t>5 → 128 → 64 → 5, ReLU activations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20" y="15544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5D8F2"/>
                </a:solidFill>
                <a:latin typeface="Segoe UI"/>
              </a:rPr>
              <a:t>FIVE POSSIBLE ACTIONS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58952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3D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89520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11312" y="201168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No Action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589520" y="26700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89520" y="26700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11312" y="2670048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Shed Load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589520" y="332841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89520" y="33284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11312" y="3328416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Switch Backup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589520" y="39867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589520" y="39867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11312" y="3986784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Reduce Generation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589520" y="46451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45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89520" y="46451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11312" y="4645152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Alert Operator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B6680"/>
                </a:solidFill>
                <a:latin typeface="Segoe UI"/>
              </a:rPr>
              <a:t>Trained on 500 episodes × 1,000 steps — 500,000 simulated grid readings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GRID IoT RL  ·  Reinforcement Learning for Power Grid Voltage Control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04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5D8F2"/>
                </a:solidFill>
                <a:latin typeface="Segoe UI"/>
              </a:rPr>
              <a:t>TRAINING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E33"/>
                </a:solidFill>
                <a:latin typeface="Segoe UI"/>
              </a:rPr>
              <a:t>Teaching Good Judgment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07008"/>
            <a:ext cx="822960" cy="50800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292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5029200" cy="82296"/>
          </a:xfrm>
          <a:prstGeom prst="rect">
            <a:avLst/>
          </a:prstGeom>
          <a:solidFill>
            <a:srgbClr val="33D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84832"/>
            <a:ext cx="4700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61E33"/>
                </a:solidFill>
                <a:latin typeface="Segoe UI"/>
              </a:rPr>
              <a:t>Rewarded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68880"/>
            <a:ext cx="4700016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61E33"/>
                </a:solidFill>
                <a:latin typeface="Segoe UI"/>
              </a:rPr>
              <a:t>Correct action taken during a real fault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61E33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61E33"/>
                </a:solidFill>
                <a:latin typeface="Segoe UI"/>
              </a:rPr>
              <a:t>Staying idle when the grid is healthy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61E33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61E33"/>
                </a:solidFill>
                <a:latin typeface="Segoe UI"/>
              </a:rPr>
              <a:t>Voltage &amp; frequency held in the normal band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0292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5029200" cy="82296"/>
          </a:xfrm>
          <a:prstGeom prst="rect">
            <a:avLst/>
          </a:prstGeom>
          <a:solidFill>
            <a:srgbClr val="F45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084832"/>
            <a:ext cx="4700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61E33"/>
                </a:solidFill>
                <a:latin typeface="Segoe UI"/>
              </a:rPr>
              <a:t>Penalized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468880"/>
            <a:ext cx="4700016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61E33"/>
                </a:solidFill>
                <a:latin typeface="Segoe UI"/>
              </a:rPr>
              <a:t>Wrong intervention for the fault present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61E33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61E33"/>
                </a:solidFill>
                <a:latin typeface="Segoe UI"/>
              </a:rPr>
              <a:t>Ignoring a real fault entirely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61E33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61E33"/>
                </a:solidFill>
                <a:latin typeface="Segoe UI"/>
              </a:rPr>
              <a:t>Unnecessary action on a healthy 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5B6680"/>
                </a:solidFill>
                <a:latin typeface="Segoe UI"/>
              </a:rPr>
              <a:t>The agent isn't told the rules — it discovers them by trial and error across 500,000 readings.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GRID IoT RL  ·  Reinforcement Learning for Power Grid Voltage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05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5D8F2"/>
                </a:solidFill>
                <a:latin typeface="Segoe UI"/>
              </a:rPr>
              <a:t>SECURITY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E33"/>
                </a:solidFill>
                <a:latin typeface="Segoe UI"/>
              </a:rPr>
              <a:t>Built Like Real Industrial IoT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07008"/>
            <a:ext cx="822960" cy="50800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3520440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47672"/>
            <a:ext cx="3191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mTLS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331720"/>
            <a:ext cx="31912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B6680"/>
                </a:solidFill>
                <a:latin typeface="Segoe UI"/>
              </a:rPr>
              <a:t>X.509 certificates per device — mutual authentication on every connection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9164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691640"/>
            <a:ext cx="3520440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947672"/>
            <a:ext cx="3191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HMAC-SHA256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31720"/>
            <a:ext cx="31912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B6680"/>
                </a:solidFill>
                <a:latin typeface="Segoe UI"/>
              </a:rPr>
              <a:t>Every payload is signed; tampering is detected instantly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69164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691640"/>
            <a:ext cx="3520440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47672"/>
            <a:ext cx="3191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Replay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31720"/>
            <a:ext cx="31912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B6680"/>
                </a:solidFill>
                <a:latin typeface="Segoe UI"/>
              </a:rPr>
              <a:t>Sequence number + nonce + timestamp reject re-sent messages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10128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310128"/>
            <a:ext cx="3520440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566160"/>
            <a:ext cx="3191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Input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950208"/>
            <a:ext cx="31912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B6680"/>
                </a:solidFill>
                <a:latin typeface="Segoe UI"/>
              </a:rPr>
              <a:t>Bounds-checked readings, rate-limited per device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1688" y="3310128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1688" y="3310128"/>
            <a:ext cx="3520440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566160"/>
            <a:ext cx="3191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VPC Isolation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950208"/>
            <a:ext cx="31912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B6680"/>
                </a:solidFill>
                <a:latin typeface="Segoe UI"/>
              </a:rPr>
              <a:t>Inference logic runs in a private subnet, no public exposure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3310128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3296" y="3310128"/>
            <a:ext cx="3520440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3566160"/>
            <a:ext cx="3191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Secrets 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950208"/>
            <a:ext cx="319125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B6680"/>
                </a:solidFill>
                <a:latin typeface="Segoe UI"/>
              </a:rPr>
              <a:t>Shared secrets never live in source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GRID IoT RL  ·  Reinforcement Learning for Power Grid Voltage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06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5D8F2"/>
                </a:solidFill>
                <a:latin typeface="Segoe UI"/>
              </a:rPr>
              <a:t>INFRASTRUCTURE AS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E33"/>
                </a:solidFill>
                <a:latin typeface="Segoe UI"/>
              </a:rPr>
              <a:t>Fully Automated on AWS, via Terraform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07008"/>
            <a:ext cx="822960" cy="50800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2327" y="19202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327" y="1920240"/>
            <a:ext cx="2514600" cy="82296"/>
          </a:xfrm>
          <a:prstGeom prst="rect">
            <a:avLst/>
          </a:prstGeom>
          <a:solidFill>
            <a:srgbClr val="33D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6919" y="2176272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1E33"/>
                </a:solidFill>
                <a:latin typeface="Segoe UI"/>
              </a:rPr>
              <a:t>IoT 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9807" y="19202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9807" y="1920240"/>
            <a:ext cx="2514600" cy="82296"/>
          </a:xfrm>
          <a:prstGeom prst="rect">
            <a:avLst/>
          </a:prstGeom>
          <a:solidFill>
            <a:srgbClr val="33D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4399" y="2176272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1E33"/>
                </a:solidFill>
                <a:latin typeface="Segoe UI"/>
              </a:rPr>
              <a:t>Lambda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19202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7287" y="1920240"/>
            <a:ext cx="2514600" cy="82296"/>
          </a:xfrm>
          <a:prstGeom prst="rect">
            <a:avLst/>
          </a:prstGeom>
          <a:solidFill>
            <a:srgbClr val="33D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1879" y="2176272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1E33"/>
                </a:solidFill>
                <a:latin typeface="Segoe UI"/>
              </a:rPr>
              <a:t>SageMaker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84767" y="192024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84767" y="1920240"/>
            <a:ext cx="2514600" cy="82296"/>
          </a:xfrm>
          <a:prstGeom prst="rect">
            <a:avLst/>
          </a:prstGeom>
          <a:solidFill>
            <a:srgbClr val="33D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49359" y="2176272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1E33"/>
                </a:solidFill>
                <a:latin typeface="Segoe UI"/>
              </a:rPr>
              <a:t>S3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327" y="33375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2327" y="3337560"/>
            <a:ext cx="2514600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6919" y="3593592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1E33"/>
                </a:solidFill>
                <a:latin typeface="Segoe UI"/>
              </a:rPr>
              <a:t>SNS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89807" y="33375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89807" y="3337560"/>
            <a:ext cx="2514600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4399" y="3593592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1E33"/>
                </a:solidFill>
                <a:latin typeface="Segoe UI"/>
              </a:rPr>
              <a:t>Secrets Manager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7287" y="33375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7287" y="3337560"/>
            <a:ext cx="2514600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1879" y="3593592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1E33"/>
                </a:solidFill>
                <a:latin typeface="Segoe UI"/>
              </a:rPr>
              <a:t>CloudWatch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84767" y="33375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4767" y="3337560"/>
            <a:ext cx="2514600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49359" y="3593592"/>
            <a:ext cx="21854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1E33"/>
                </a:solidFill>
                <a:latin typeface="Segoe UI"/>
              </a:rPr>
              <a:t>VPC + IAM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93776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5B6680"/>
                </a:solidFill>
                <a:latin typeface="Segoe UI"/>
              </a:rPr>
              <a:t>One command — terraform apply — provisions the entire stack: networking, device identities, the inference pipeline, storage, alerting, and monitoring.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GRID IoT RL  ·  Reinforcement Learning for Power Grid Voltage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07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5D8F2"/>
                </a:solidFill>
                <a:latin typeface="Segoe U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E33"/>
                </a:solidFill>
                <a:latin typeface="Segoe UI"/>
              </a:rPr>
              <a:t>Stress-Tested Before Trusting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07008"/>
            <a:ext cx="822960" cy="50800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0887" y="2103120"/>
            <a:ext cx="2011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0887" y="2103120"/>
            <a:ext cx="2011680" cy="82296"/>
          </a:xfrm>
          <a:prstGeom prst="rect">
            <a:avLst/>
          </a:prstGeom>
          <a:solidFill>
            <a:srgbClr val="33D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2359152"/>
            <a:ext cx="1682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1E33"/>
                </a:solidFill>
                <a:latin typeface="Segoe UI"/>
              </a:rPr>
              <a:t>Happy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5479" y="2743200"/>
            <a:ext cx="168249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B6680"/>
                </a:solidFill>
                <a:latin typeface="Segoe UI"/>
              </a:rPr>
              <a:t>Clean data, ideal network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5447" y="2103120"/>
            <a:ext cx="2011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95447" y="2103120"/>
            <a:ext cx="2011680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0039" y="2359152"/>
            <a:ext cx="1682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1E33"/>
                </a:solidFill>
                <a:latin typeface="Segoe UI"/>
              </a:rPr>
              <a:t>Noisy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039" y="2743200"/>
            <a:ext cx="168249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B6680"/>
                </a:solidFill>
                <a:latin typeface="Segoe UI"/>
              </a:rPr>
              <a:t>Sensor drift &amp; Gaussian noise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0007" y="2103120"/>
            <a:ext cx="2011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90007" y="2103120"/>
            <a:ext cx="2011680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4599" y="2359152"/>
            <a:ext cx="1682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1E33"/>
                </a:solidFill>
                <a:latin typeface="Segoe UI"/>
              </a:rPr>
              <a:t>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4599" y="2743200"/>
            <a:ext cx="168249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B6680"/>
                </a:solidFill>
                <a:latin typeface="Segoe UI"/>
              </a:rPr>
              <a:t>Latency, packet loss, disconnects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4567" y="2103120"/>
            <a:ext cx="2011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84567" y="2103120"/>
            <a:ext cx="2011680" cy="822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9159" y="2359152"/>
            <a:ext cx="1682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1E33"/>
                </a:solidFill>
                <a:latin typeface="Segoe UI"/>
              </a:rPr>
              <a:t>Attack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9159" y="2743200"/>
            <a:ext cx="168249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B6680"/>
                </a:solidFill>
                <a:latin typeface="Segoe UI"/>
              </a:rPr>
              <a:t>Replay, tampering, false data, DoS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79127" y="2103120"/>
            <a:ext cx="2011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79127" y="2103120"/>
            <a:ext cx="2011680" cy="82296"/>
          </a:xfrm>
          <a:prstGeom prst="rect">
            <a:avLst/>
          </a:prstGeom>
          <a:solidFill>
            <a:srgbClr val="F45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3719" y="2359152"/>
            <a:ext cx="1682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61E33"/>
                </a:solidFill>
                <a:latin typeface="Segoe UI"/>
              </a:rPr>
              <a:t>Chaos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3719" y="2743200"/>
            <a:ext cx="1682496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5B6680"/>
                </a:solidFill>
                <a:latin typeface="Segoe UI"/>
              </a:rPr>
              <a:t>Everything, simultaneously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548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5B6680"/>
                </a:solidFill>
                <a:latin typeface="Segoe UI"/>
              </a:rPr>
              <a:t>A simulated edge device runs each scenario end-to-end against the live pipeline — the same code path a real substation sensor would use.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GRID IoT RL  ·  Reinforcement Learning for Power Grid Voltage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08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5D8F2"/>
                </a:solidFill>
                <a:latin typeface="Segoe UI"/>
              </a:rPr>
              <a:t>ENGINEERING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E33"/>
                </a:solidFill>
                <a:latin typeface="Segoe UI"/>
              </a:rPr>
              <a:t>What Real-World Deployment Teaches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07008"/>
            <a:ext cx="822960" cy="50800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520440" cy="822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84832"/>
            <a:ext cx="3191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1E33"/>
                </a:solidFill>
                <a:latin typeface="Segoe UI"/>
              </a:rPr>
              <a:t>Networking is directional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68880"/>
            <a:ext cx="319125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61E33"/>
                </a:solidFill>
                <a:latin typeface="Segoe UI"/>
              </a:rPr>
              <a:t>A security group can allow outbound traffic yet still silently block the return path — the system just hangs, with no 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82880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828800"/>
            <a:ext cx="3520440" cy="822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084832"/>
            <a:ext cx="3191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1E33"/>
                </a:solidFill>
                <a:latin typeface="Segoe UI"/>
              </a:rPr>
              <a:t>Statelessness has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68880"/>
            <a:ext cx="319125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61E33"/>
                </a:solidFill>
                <a:latin typeface="Segoe UI"/>
              </a:rPr>
              <a:t>In-memory protections (like replay checks) reset on every restart; production systems need durable, shared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82880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828800"/>
            <a:ext cx="3520440" cy="822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084832"/>
            <a:ext cx="3191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1E33"/>
                </a:solidFill>
                <a:latin typeface="Segoe UI"/>
              </a:rPr>
              <a:t>Config drift is a real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68880"/>
            <a:ext cx="319125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61E33"/>
                </a:solidFill>
                <a:latin typeface="Segoe UI"/>
              </a:rPr>
              <a:t>The same value hardcoded in two places will eventually disagree — infrastructure should be the single source of truth.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GRID IoT RL  ·  Reinforcement Learning for Power Grid Voltage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09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5D8F2"/>
                </a:solidFill>
                <a:latin typeface="Segoe UI"/>
              </a:rPr>
              <a:t>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E33"/>
                </a:solidFill>
                <a:latin typeface="Segoe UI"/>
              </a:rPr>
              <a:t>Closed Loop,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07008"/>
            <a:ext cx="822960" cy="50800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5167" y="2377440"/>
            <a:ext cx="23774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5167" y="2377440"/>
            <a:ext cx="2377440" cy="82296"/>
          </a:xfrm>
          <a:prstGeom prst="rect">
            <a:avLst/>
          </a:prstGeom>
          <a:solidFill>
            <a:srgbClr val="F45B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759" y="2633472"/>
            <a:ext cx="2048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Voltage sags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to 360 V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78327" y="2999232"/>
            <a:ext cx="365760" cy="219456"/>
          </a:xfrm>
          <a:prstGeom prst="rightArrow">
            <a:avLst/>
          </a:prstGeom>
          <a:solidFill>
            <a:srgbClr val="B9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89807" y="2377440"/>
            <a:ext cx="23774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89807" y="2377440"/>
            <a:ext cx="2377440" cy="8229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4399" y="2633472"/>
            <a:ext cx="2048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RL Agent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decides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12967" y="2999232"/>
            <a:ext cx="365760" cy="219456"/>
          </a:xfrm>
          <a:prstGeom prst="rightArrow">
            <a:avLst/>
          </a:prstGeom>
          <a:solidFill>
            <a:srgbClr val="B9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24447" y="2377440"/>
            <a:ext cx="23774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4447" y="2377440"/>
            <a:ext cx="2377440" cy="82296"/>
          </a:xfrm>
          <a:prstGeom prst="rect">
            <a:avLst/>
          </a:prstGeom>
          <a:solidFill>
            <a:srgbClr val="33D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9039" y="2633472"/>
            <a:ext cx="2048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switch_backup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94% confidence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47607" y="2999232"/>
            <a:ext cx="365760" cy="219456"/>
          </a:xfrm>
          <a:prstGeom prst="rightArrow">
            <a:avLst/>
          </a:prstGeom>
          <a:solidFill>
            <a:srgbClr val="B9C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59087" y="2377440"/>
            <a:ext cx="23774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59087" y="2377440"/>
            <a:ext cx="2377440" cy="82296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3679" y="2633472"/>
            <a:ext cx="20482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Shadow updated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1E33"/>
                </a:solidFill>
                <a:latin typeface="Segoe UI"/>
              </a:rPr>
              <a:t>~700 ms later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805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5B6680"/>
                </a:solidFill>
                <a:latin typeface="Segoe UI"/>
              </a:rPr>
              <a:t>From sensor reading to corrective action — fully autonomous, sub-second, and logged for audit.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GRID IoT RL  ·  Reinforcement Learning for Power Grid Voltage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10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5D8F2"/>
                </a:solidFill>
                <a:latin typeface="Segoe UI"/>
              </a:rP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1E33"/>
                </a:solidFill>
                <a:latin typeface="Segoe UI"/>
              </a:rPr>
              <a:t>Where This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07008"/>
            <a:ext cx="822960" cy="50800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0195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61E33"/>
                </a:solidFill>
                <a:latin typeface="Segoe UI"/>
              </a:rPr>
              <a:t>Durable, shared replay protection (DynamoDB) for true multi-instance 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791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61E33"/>
                </a:solidFill>
                <a:latin typeface="Segoe UI"/>
              </a:rPr>
              <a:t>Live operator dashboard for real-time grid visibility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564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832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61E33"/>
                </a:solidFill>
                <a:latin typeface="Segoe UI"/>
              </a:rPr>
              <a:t>Multi-region deployment for geographic redundancy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336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605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61E33"/>
                </a:solidFill>
                <a:latin typeface="Segoe UI"/>
              </a:rPr>
              <a:t>Continual / online learning as new fault patterns emerge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109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9377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61E33"/>
                </a:solidFill>
                <a:latin typeface="Segoe UI"/>
              </a:rPr>
              <a:t>Expanded fault taxonomy beyond the current six 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GRID IoT RL  ·  Reinforcement Learning for Power Grid Voltage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B2"/>
                </a:solidFill>
                <a:latin typeface="Segoe UI"/>
              </a:rPr>
              <a:t>11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5204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35D8F2"/>
                </a:solidFill>
                <a:latin typeface="Segoe UI"/>
              </a:rP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160520"/>
            <a:ext cx="1005840" cy="50800"/>
          </a:xfrm>
          <a:prstGeom prst="rect">
            <a:avLst/>
          </a:prstGeom>
          <a:solidFill>
            <a:srgbClr val="35D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6B2"/>
                </a:solidFill>
                <a:latin typeface="Segoe UI"/>
              </a:rPr>
              <a:t>Himanshu Shimpi  ·  Grid IoT RL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