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Inter SemiBold"/>
      <p:regular r:id="rId30"/>
      <p:bold r:id="rId31"/>
      <p:italic r:id="rId32"/>
      <p:boldItalic r:id="rId33"/>
    </p:embeddedFont>
    <p:embeddedFont>
      <p:font typeface="Inter"/>
      <p:bold r:id="rId34"/>
      <p:boldItalic r:id="rId35"/>
    </p:embeddedFont>
    <p:embeddedFont>
      <p:font typeface="Inter ExtraBold"/>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31" Type="http://schemas.openxmlformats.org/officeDocument/2006/relationships/font" Target="fonts/InterSemiBold-bold.fntdata"/><Relationship Id="rId30" Type="http://schemas.openxmlformats.org/officeDocument/2006/relationships/font" Target="fonts/InterSemiBold-regular.fntdata"/><Relationship Id="rId33" Type="http://schemas.openxmlformats.org/officeDocument/2006/relationships/font" Target="fonts/InterSemiBold-boldItalic.fntdata"/><Relationship Id="rId32" Type="http://schemas.openxmlformats.org/officeDocument/2006/relationships/font" Target="fonts/InterSemiBold-italic.fntdata"/><Relationship Id="rId35" Type="http://schemas.openxmlformats.org/officeDocument/2006/relationships/font" Target="fonts/Inter-boldItalic.fntdata"/><Relationship Id="rId34" Type="http://schemas.openxmlformats.org/officeDocument/2006/relationships/font" Target="fonts/Inter-bold.fntdata"/><Relationship Id="rId37" Type="http://schemas.openxmlformats.org/officeDocument/2006/relationships/font" Target="fonts/InterExtraBold-boldItalic.fntdata"/><Relationship Id="rId36" Type="http://schemas.openxmlformats.org/officeDocument/2006/relationships/font" Target="fonts/InterExtraBo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678aa7818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678aa7818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678aa7818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678aa7818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678aa7818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678aa7818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678aa7818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678aa7818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678aa7818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678aa7818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678aa7818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678aa7818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678aa7818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f678aa7818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678aa7818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f678aa7818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844b7e24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f844b7e24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f844b7e247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f844b7e247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844b7e247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f844b7e247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844b7e247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f844b7e247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f844b7e247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f844b7e247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f844b7e247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f844b7e247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f844b7e247_0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f844b7e247_0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f844b7e247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f844b7e247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f844b7e247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f844b7e247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f844b7e247_0_1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f844b7e247_0_1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f678aa7818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f678aa7818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f844b7e247_0_1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f844b7e247_0_1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f678aa7818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f678aa7818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f678aa7818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f678aa7818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678aa7818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f678aa7818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f678aa7818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f678aa7818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78aa7818_10_0)">
  <p:cSld name="Generated (g3f678aa7818_10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40" Type="http://schemas.openxmlformats.org/officeDocument/2006/relationships/image" Target="../media/image43.png"/><Relationship Id="rId42" Type="http://schemas.openxmlformats.org/officeDocument/2006/relationships/image" Target="../media/image42.png"/><Relationship Id="rId41" Type="http://schemas.openxmlformats.org/officeDocument/2006/relationships/image" Target="../media/image58.png"/><Relationship Id="rId44" Type="http://schemas.openxmlformats.org/officeDocument/2006/relationships/image" Target="../media/image62.png"/><Relationship Id="rId43" Type="http://schemas.openxmlformats.org/officeDocument/2006/relationships/image" Target="../media/image45.png"/><Relationship Id="rId46" Type="http://schemas.openxmlformats.org/officeDocument/2006/relationships/image" Target="../media/image46.png"/><Relationship Id="rId45" Type="http://schemas.openxmlformats.org/officeDocument/2006/relationships/image" Target="../media/image48.png"/><Relationship Id="rId48" Type="http://schemas.openxmlformats.org/officeDocument/2006/relationships/image" Target="../media/image66.png"/><Relationship Id="rId47" Type="http://schemas.openxmlformats.org/officeDocument/2006/relationships/image" Target="../media/image54.png"/><Relationship Id="rId49" Type="http://schemas.openxmlformats.org/officeDocument/2006/relationships/image" Target="../media/image44.png"/><Relationship Id="rId31" Type="http://schemas.openxmlformats.org/officeDocument/2006/relationships/image" Target="../media/image38.png"/><Relationship Id="rId30" Type="http://schemas.openxmlformats.org/officeDocument/2006/relationships/image" Target="../media/image40.png"/><Relationship Id="rId33" Type="http://schemas.openxmlformats.org/officeDocument/2006/relationships/image" Target="../media/image26.png"/><Relationship Id="rId32" Type="http://schemas.openxmlformats.org/officeDocument/2006/relationships/image" Target="../media/image35.png"/><Relationship Id="rId35" Type="http://schemas.openxmlformats.org/officeDocument/2006/relationships/image" Target="../media/image41.png"/><Relationship Id="rId34" Type="http://schemas.openxmlformats.org/officeDocument/2006/relationships/image" Target="../media/image57.png"/><Relationship Id="rId37" Type="http://schemas.openxmlformats.org/officeDocument/2006/relationships/image" Target="../media/image34.png"/><Relationship Id="rId36" Type="http://schemas.openxmlformats.org/officeDocument/2006/relationships/image" Target="../media/image47.png"/><Relationship Id="rId39" Type="http://schemas.openxmlformats.org/officeDocument/2006/relationships/image" Target="../media/image36.png"/><Relationship Id="rId38" Type="http://schemas.openxmlformats.org/officeDocument/2006/relationships/image" Target="../media/image39.png"/><Relationship Id="rId20" Type="http://schemas.openxmlformats.org/officeDocument/2006/relationships/image" Target="../media/image14.png"/><Relationship Id="rId22" Type="http://schemas.openxmlformats.org/officeDocument/2006/relationships/image" Target="../media/image32.png"/><Relationship Id="rId21" Type="http://schemas.openxmlformats.org/officeDocument/2006/relationships/image" Target="../media/image15.png"/><Relationship Id="rId24" Type="http://schemas.openxmlformats.org/officeDocument/2006/relationships/image" Target="../media/image21.png"/><Relationship Id="rId23" Type="http://schemas.openxmlformats.org/officeDocument/2006/relationships/image" Target="../media/image25.png"/><Relationship Id="rId26" Type="http://schemas.openxmlformats.org/officeDocument/2006/relationships/image" Target="../media/image31.png"/><Relationship Id="rId25" Type="http://schemas.openxmlformats.org/officeDocument/2006/relationships/image" Target="../media/image27.png"/><Relationship Id="rId28" Type="http://schemas.openxmlformats.org/officeDocument/2006/relationships/image" Target="../media/image19.png"/><Relationship Id="rId27" Type="http://schemas.openxmlformats.org/officeDocument/2006/relationships/image" Target="../media/image37.png"/><Relationship Id="rId29" Type="http://schemas.openxmlformats.org/officeDocument/2006/relationships/image" Target="../media/image33.png"/><Relationship Id="rId95" Type="http://schemas.openxmlformats.org/officeDocument/2006/relationships/image" Target="../media/image116.png"/><Relationship Id="rId94" Type="http://schemas.openxmlformats.org/officeDocument/2006/relationships/image" Target="../media/image108.png"/><Relationship Id="rId97" Type="http://schemas.openxmlformats.org/officeDocument/2006/relationships/image" Target="../media/image112.png"/><Relationship Id="rId96" Type="http://schemas.openxmlformats.org/officeDocument/2006/relationships/image" Target="../media/image113.png"/><Relationship Id="rId11" Type="http://schemas.openxmlformats.org/officeDocument/2006/relationships/image" Target="../media/image1.png"/><Relationship Id="rId10" Type="http://schemas.openxmlformats.org/officeDocument/2006/relationships/image" Target="../media/image7.png"/><Relationship Id="rId98" Type="http://schemas.openxmlformats.org/officeDocument/2006/relationships/image" Target="../media/image109.png"/><Relationship Id="rId13" Type="http://schemas.openxmlformats.org/officeDocument/2006/relationships/image" Target="../media/image4.png"/><Relationship Id="rId12" Type="http://schemas.openxmlformats.org/officeDocument/2006/relationships/image" Target="../media/image2.png"/><Relationship Id="rId91" Type="http://schemas.openxmlformats.org/officeDocument/2006/relationships/image" Target="../media/image119.png"/><Relationship Id="rId90" Type="http://schemas.openxmlformats.org/officeDocument/2006/relationships/image" Target="../media/image104.png"/><Relationship Id="rId93" Type="http://schemas.openxmlformats.org/officeDocument/2006/relationships/image" Target="../media/image102.png"/><Relationship Id="rId92" Type="http://schemas.openxmlformats.org/officeDocument/2006/relationships/image" Target="../media/image122.png"/><Relationship Id="rId15" Type="http://schemas.openxmlformats.org/officeDocument/2006/relationships/image" Target="../media/image6.png"/><Relationship Id="rId14" Type="http://schemas.openxmlformats.org/officeDocument/2006/relationships/image" Target="../media/image9.png"/><Relationship Id="rId17" Type="http://schemas.openxmlformats.org/officeDocument/2006/relationships/image" Target="../media/image23.png"/><Relationship Id="rId16" Type="http://schemas.openxmlformats.org/officeDocument/2006/relationships/image" Target="../media/image17.png"/><Relationship Id="rId19" Type="http://schemas.openxmlformats.org/officeDocument/2006/relationships/image" Target="../media/image28.png"/><Relationship Id="rId18" Type="http://schemas.openxmlformats.org/officeDocument/2006/relationships/image" Target="../media/image13.png"/><Relationship Id="rId84" Type="http://schemas.openxmlformats.org/officeDocument/2006/relationships/image" Target="../media/image87.png"/><Relationship Id="rId83" Type="http://schemas.openxmlformats.org/officeDocument/2006/relationships/image" Target="../media/image91.png"/><Relationship Id="rId86" Type="http://schemas.openxmlformats.org/officeDocument/2006/relationships/image" Target="../media/image84.png"/><Relationship Id="rId85" Type="http://schemas.openxmlformats.org/officeDocument/2006/relationships/image" Target="../media/image93.png"/><Relationship Id="rId88" Type="http://schemas.openxmlformats.org/officeDocument/2006/relationships/image" Target="../media/image94.png"/><Relationship Id="rId87" Type="http://schemas.openxmlformats.org/officeDocument/2006/relationships/image" Target="../media/image124.png"/><Relationship Id="rId89" Type="http://schemas.openxmlformats.org/officeDocument/2006/relationships/image" Target="../media/image100.png"/><Relationship Id="rId80" Type="http://schemas.openxmlformats.org/officeDocument/2006/relationships/image" Target="../media/image86.png"/><Relationship Id="rId82" Type="http://schemas.openxmlformats.org/officeDocument/2006/relationships/image" Target="../media/image92.png"/><Relationship Id="rId81" Type="http://schemas.openxmlformats.org/officeDocument/2006/relationships/image" Target="../media/image89.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image" Target="../media/image30.png"/><Relationship Id="rId8" Type="http://schemas.openxmlformats.org/officeDocument/2006/relationships/image" Target="../media/image11.png"/><Relationship Id="rId73" Type="http://schemas.openxmlformats.org/officeDocument/2006/relationships/image" Target="../media/image88.png"/><Relationship Id="rId72" Type="http://schemas.openxmlformats.org/officeDocument/2006/relationships/image" Target="../media/image78.png"/><Relationship Id="rId75" Type="http://schemas.openxmlformats.org/officeDocument/2006/relationships/image" Target="../media/image73.png"/><Relationship Id="rId74" Type="http://schemas.openxmlformats.org/officeDocument/2006/relationships/image" Target="../media/image80.png"/><Relationship Id="rId77" Type="http://schemas.openxmlformats.org/officeDocument/2006/relationships/image" Target="../media/image85.png"/><Relationship Id="rId76" Type="http://schemas.openxmlformats.org/officeDocument/2006/relationships/image" Target="../media/image90.png"/><Relationship Id="rId79" Type="http://schemas.openxmlformats.org/officeDocument/2006/relationships/image" Target="../media/image82.png"/><Relationship Id="rId78" Type="http://schemas.openxmlformats.org/officeDocument/2006/relationships/image" Target="../media/image75.png"/><Relationship Id="rId71" Type="http://schemas.openxmlformats.org/officeDocument/2006/relationships/image" Target="../media/image72.png"/><Relationship Id="rId70" Type="http://schemas.openxmlformats.org/officeDocument/2006/relationships/image" Target="../media/image83.png"/><Relationship Id="rId62" Type="http://schemas.openxmlformats.org/officeDocument/2006/relationships/image" Target="../media/image52.png"/><Relationship Id="rId61" Type="http://schemas.openxmlformats.org/officeDocument/2006/relationships/image" Target="../media/image60.png"/><Relationship Id="rId64" Type="http://schemas.openxmlformats.org/officeDocument/2006/relationships/image" Target="../media/image67.png"/><Relationship Id="rId63" Type="http://schemas.openxmlformats.org/officeDocument/2006/relationships/image" Target="../media/image64.png"/><Relationship Id="rId66" Type="http://schemas.openxmlformats.org/officeDocument/2006/relationships/image" Target="../media/image70.png"/><Relationship Id="rId65" Type="http://schemas.openxmlformats.org/officeDocument/2006/relationships/image" Target="../media/image76.png"/><Relationship Id="rId68" Type="http://schemas.openxmlformats.org/officeDocument/2006/relationships/image" Target="../media/image65.png"/><Relationship Id="rId67" Type="http://schemas.openxmlformats.org/officeDocument/2006/relationships/image" Target="../media/image68.png"/><Relationship Id="rId60" Type="http://schemas.openxmlformats.org/officeDocument/2006/relationships/image" Target="../media/image56.png"/><Relationship Id="rId69" Type="http://schemas.openxmlformats.org/officeDocument/2006/relationships/image" Target="../media/image77.png"/><Relationship Id="rId51" Type="http://schemas.openxmlformats.org/officeDocument/2006/relationships/image" Target="../media/image51.png"/><Relationship Id="rId50" Type="http://schemas.openxmlformats.org/officeDocument/2006/relationships/image" Target="../media/image63.png"/><Relationship Id="rId53" Type="http://schemas.openxmlformats.org/officeDocument/2006/relationships/image" Target="../media/image53.png"/><Relationship Id="rId52" Type="http://schemas.openxmlformats.org/officeDocument/2006/relationships/image" Target="../media/image59.png"/><Relationship Id="rId55" Type="http://schemas.openxmlformats.org/officeDocument/2006/relationships/image" Target="../media/image49.png"/><Relationship Id="rId54" Type="http://schemas.openxmlformats.org/officeDocument/2006/relationships/image" Target="../media/image50.png"/><Relationship Id="rId57" Type="http://schemas.openxmlformats.org/officeDocument/2006/relationships/image" Target="../media/image71.png"/><Relationship Id="rId56" Type="http://schemas.openxmlformats.org/officeDocument/2006/relationships/image" Target="../media/image61.png"/><Relationship Id="rId59" Type="http://schemas.openxmlformats.org/officeDocument/2006/relationships/image" Target="../media/image55.png"/><Relationship Id="rId58" Type="http://schemas.openxmlformats.org/officeDocument/2006/relationships/image" Target="../media/image7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0.png"/><Relationship Id="rId4" Type="http://schemas.openxmlformats.org/officeDocument/2006/relationships/image" Target="../media/image111.png"/><Relationship Id="rId5" Type="http://schemas.openxmlformats.org/officeDocument/2006/relationships/image" Target="../media/image1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5.png"/><Relationship Id="rId4" Type="http://schemas.openxmlformats.org/officeDocument/2006/relationships/image" Target="../media/image1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5.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4"/>
          <p:cNvGrpSpPr/>
          <p:nvPr/>
        </p:nvGrpSpPr>
        <p:grpSpPr>
          <a:xfrm>
            <a:off x="0" y="0"/>
            <a:ext cx="9144000" cy="5143500"/>
            <a:chOff x="0" y="0"/>
            <a:chExt cx="9144000" cy="5143500"/>
          </a:xfrm>
        </p:grpSpPr>
        <p:sp>
          <p:nvSpPr>
            <p:cNvPr id="56" name="Google Shape;56;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7" name="Google Shape;57;p14"/>
            <p:cNvPicPr preferRelativeResize="0"/>
            <p:nvPr/>
          </p:nvPicPr>
          <p:blipFill rotWithShape="1">
            <a:blip r:embed="rId3">
              <a:alphaModFix/>
            </a:blip>
            <a:srcRect b="0" l="0" r="0" t="0"/>
            <a:stretch/>
          </p:blipFill>
          <p:spPr>
            <a:xfrm>
              <a:off x="9525" y="9525"/>
              <a:ext cx="8972700" cy="4972200"/>
            </a:xfrm>
            <a:prstGeom prst="rect">
              <a:avLst/>
            </a:prstGeom>
            <a:noFill/>
            <a:ln>
              <a:noFill/>
            </a:ln>
          </p:spPr>
        </p:pic>
        <p:sp>
          <p:nvSpPr>
            <p:cNvPr id="58" name="Google Shape;58;p14"/>
            <p:cNvSpPr/>
            <p:nvPr/>
          </p:nvSpPr>
          <p:spPr>
            <a:xfrm>
              <a:off x="0" y="4953000"/>
              <a:ext cx="9144000" cy="190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14"/>
            <p:cNvSpPr/>
            <p:nvPr/>
          </p:nvSpPr>
          <p:spPr>
            <a:xfrm>
              <a:off x="0" y="4914900"/>
              <a:ext cx="9144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0" name="Google Shape;60;p14"/>
          <p:cNvGrpSpPr/>
          <p:nvPr/>
        </p:nvGrpSpPr>
        <p:grpSpPr>
          <a:xfrm>
            <a:off x="571500" y="1047750"/>
            <a:ext cx="8001000" cy="2790825"/>
            <a:chOff x="571500" y="1047750"/>
            <a:chExt cx="8001000" cy="2790825"/>
          </a:xfrm>
        </p:grpSpPr>
        <p:sp>
          <p:nvSpPr>
            <p:cNvPr id="61" name="Google Shape;61;p14"/>
            <p:cNvSpPr/>
            <p:nvPr/>
          </p:nvSpPr>
          <p:spPr>
            <a:xfrm>
              <a:off x="571500" y="1047750"/>
              <a:ext cx="762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txBox="1"/>
            <p:nvPr/>
          </p:nvSpPr>
          <p:spPr>
            <a:xfrm>
              <a:off x="571500" y="1238250"/>
              <a:ext cx="800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300">
                  <a:solidFill>
                    <a:srgbClr val="0F172A"/>
                  </a:solidFill>
                  <a:latin typeface="Inter"/>
                  <a:ea typeface="Inter"/>
                  <a:cs typeface="Inter"/>
                  <a:sym typeface="Inter"/>
                </a:rPr>
                <a:t>Grid Fault Detection-RL</a:t>
              </a:r>
              <a:endParaRPr b="1" sz="3300">
                <a:solidFill>
                  <a:srgbClr val="0F172A"/>
                </a:solidFill>
                <a:latin typeface="Inter"/>
                <a:ea typeface="Inter"/>
                <a:cs typeface="Inter"/>
                <a:sym typeface="Inter"/>
              </a:endParaRPr>
            </a:p>
          </p:txBody>
        </p:sp>
        <p:sp>
          <p:nvSpPr>
            <p:cNvPr id="63" name="Google Shape;63;p14"/>
            <p:cNvSpPr txBox="1"/>
            <p:nvPr/>
          </p:nvSpPr>
          <p:spPr>
            <a:xfrm>
              <a:off x="571500" y="1952625"/>
              <a:ext cx="8001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284C7"/>
                  </a:solidFill>
                  <a:latin typeface="Inter SemiBold"/>
                  <a:ea typeface="Inter SemiBold"/>
                  <a:cs typeface="Inter SemiBold"/>
                  <a:sym typeface="Inter SemiBold"/>
                </a:rPr>
                <a:t>Autonomous Power Grid Voltage Control</a:t>
              </a:r>
              <a:endParaRPr b="0" sz="1500">
                <a:solidFill>
                  <a:srgbClr val="0284C7"/>
                </a:solidFill>
                <a:latin typeface="Inter SemiBold"/>
                <a:ea typeface="Inter SemiBold"/>
                <a:cs typeface="Inter SemiBold"/>
                <a:sym typeface="Inter SemiBold"/>
              </a:endParaRPr>
            </a:p>
            <a:p>
              <a:pPr indent="0" lvl="0" marL="0" rtl="0" algn="l">
                <a:spcBef>
                  <a:spcPts val="450"/>
                </a:spcBef>
                <a:spcAft>
                  <a:spcPts val="0"/>
                </a:spcAft>
                <a:buNone/>
              </a:pPr>
              <a:r>
                <a:rPr b="0" lang="en" sz="1500">
                  <a:solidFill>
                    <a:srgbClr val="0284C7"/>
                  </a:solidFill>
                  <a:latin typeface="Inter SemiBold"/>
                  <a:ea typeface="Inter SemiBold"/>
                  <a:cs typeface="Inter SemiBold"/>
                  <a:sym typeface="Inter SemiBold"/>
                </a:rPr>
                <a:t>via Deep Reinforcement Learning MLOps</a:t>
              </a:r>
              <a:endParaRPr b="0" sz="1500">
                <a:solidFill>
                  <a:srgbClr val="0284C7"/>
                </a:solidFill>
                <a:latin typeface="Inter SemiBold"/>
                <a:ea typeface="Inter SemiBold"/>
                <a:cs typeface="Inter SemiBold"/>
                <a:sym typeface="Inter SemiBold"/>
              </a:endParaRPr>
            </a:p>
          </p:txBody>
        </p:sp>
        <p:sp>
          <p:nvSpPr>
            <p:cNvPr id="64" name="Google Shape;64;p14"/>
            <p:cNvSpPr txBox="1"/>
            <p:nvPr/>
          </p:nvSpPr>
          <p:spPr>
            <a:xfrm>
              <a:off x="571500" y="2762250"/>
              <a:ext cx="8001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75569"/>
                  </a:solidFill>
                  <a:latin typeface="Inter"/>
                  <a:ea typeface="Inter"/>
                  <a:cs typeface="Inter"/>
                  <a:sym typeface="Inter"/>
                </a:rPr>
                <a:t>An end-to-end IoT MLOps pipeline on AWS featuring mTLS, HMAC-SHA256,</a:t>
              </a:r>
              <a:endParaRPr b="0" sz="1050">
                <a:solidFill>
                  <a:srgbClr val="475569"/>
                </a:solidFill>
                <a:latin typeface="Inter"/>
                <a:ea typeface="Inter"/>
                <a:cs typeface="Inter"/>
                <a:sym typeface="Inter"/>
              </a:endParaRPr>
            </a:p>
            <a:p>
              <a:pPr indent="0" lvl="0" marL="0" rtl="0" algn="l">
                <a:spcBef>
                  <a:spcPts val="450"/>
                </a:spcBef>
                <a:spcAft>
                  <a:spcPts val="0"/>
                </a:spcAft>
                <a:buNone/>
              </a:pPr>
              <a:r>
                <a:rPr b="0" lang="en" sz="1050">
                  <a:solidFill>
                    <a:srgbClr val="475569"/>
                  </a:solidFill>
                  <a:latin typeface="Inter"/>
                  <a:ea typeface="Inter"/>
                  <a:cs typeface="Inter"/>
                  <a:sym typeface="Inter"/>
                </a:rPr>
                <a:t>VPC isolation, and real-time fault detection with DQN RL.</a:t>
              </a:r>
              <a:endParaRPr b="0" sz="1050">
                <a:solidFill>
                  <a:srgbClr val="475569"/>
                </a:solidFill>
                <a:latin typeface="Inter"/>
                <a:ea typeface="Inter"/>
                <a:cs typeface="Inter"/>
                <a:sym typeface="Inter"/>
              </a:endParaRPr>
            </a:p>
          </p:txBody>
        </p:sp>
        <p:grpSp>
          <p:nvGrpSpPr>
            <p:cNvPr id="65" name="Google Shape;65;p14"/>
            <p:cNvGrpSpPr/>
            <p:nvPr/>
          </p:nvGrpSpPr>
          <p:grpSpPr>
            <a:xfrm>
              <a:off x="571500" y="3571875"/>
              <a:ext cx="857400" cy="266700"/>
              <a:chOff x="0" y="0"/>
              <a:chExt cx="857400" cy="266700"/>
            </a:xfrm>
          </p:grpSpPr>
          <p:sp>
            <p:nvSpPr>
              <p:cNvPr id="66" name="Google Shape;66;p14"/>
              <p:cNvSpPr/>
              <p:nvPr/>
            </p:nvSpPr>
            <p:spPr>
              <a:xfrm>
                <a:off x="0" y="0"/>
                <a:ext cx="857400" cy="266700"/>
              </a:xfrm>
              <a:prstGeom prst="roundRect">
                <a:avLst>
                  <a:gd fmla="val 14285" name="adj"/>
                </a:avLst>
              </a:prstGeom>
              <a:solidFill>
                <a:srgbClr val="E0F2FE"/>
              </a:solidFill>
              <a:ln cap="flat" cmpd="sng" w="952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4"/>
              <p:cNvSpPr txBox="1"/>
              <p:nvPr/>
            </p:nvSpPr>
            <p:spPr>
              <a:xfrm>
                <a:off x="0" y="0"/>
                <a:ext cx="857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0369A1"/>
                    </a:solidFill>
                    <a:latin typeface="Inter SemiBold"/>
                    <a:ea typeface="Inter SemiBold"/>
                    <a:cs typeface="Inter SemiBold"/>
                    <a:sym typeface="Inter SemiBold"/>
                  </a:rPr>
                  <a:t>PyTorch</a:t>
                </a:r>
                <a:endParaRPr b="0" sz="750">
                  <a:solidFill>
                    <a:srgbClr val="0369A1"/>
                  </a:solidFill>
                  <a:latin typeface="Inter SemiBold"/>
                  <a:ea typeface="Inter SemiBold"/>
                  <a:cs typeface="Inter SemiBold"/>
                  <a:sym typeface="Inter SemiBold"/>
                </a:endParaRPr>
              </a:p>
            </p:txBody>
          </p:sp>
        </p:grpSp>
        <p:grpSp>
          <p:nvGrpSpPr>
            <p:cNvPr id="68" name="Google Shape;68;p14"/>
            <p:cNvGrpSpPr/>
            <p:nvPr/>
          </p:nvGrpSpPr>
          <p:grpSpPr>
            <a:xfrm>
              <a:off x="1543050" y="3571875"/>
              <a:ext cx="1000200" cy="266700"/>
              <a:chOff x="0" y="0"/>
              <a:chExt cx="1000200" cy="266700"/>
            </a:xfrm>
          </p:grpSpPr>
          <p:sp>
            <p:nvSpPr>
              <p:cNvPr id="69" name="Google Shape;69;p14"/>
              <p:cNvSpPr/>
              <p:nvPr/>
            </p:nvSpPr>
            <p:spPr>
              <a:xfrm>
                <a:off x="0" y="0"/>
                <a:ext cx="1000200" cy="266700"/>
              </a:xfrm>
              <a:prstGeom prst="roundRect">
                <a:avLst>
                  <a:gd fmla="val 14285" name="adj"/>
                </a:avLst>
              </a:prstGeom>
              <a:solidFill>
                <a:srgbClr val="E0F2FE"/>
              </a:solidFill>
              <a:ln cap="flat" cmpd="sng" w="952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4"/>
              <p:cNvSpPr txBox="1"/>
              <p:nvPr/>
            </p:nvSpPr>
            <p:spPr>
              <a:xfrm>
                <a:off x="0" y="0"/>
                <a:ext cx="10002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0369A1"/>
                    </a:solidFill>
                    <a:latin typeface="Inter SemiBold"/>
                    <a:ea typeface="Inter SemiBold"/>
                    <a:cs typeface="Inter SemiBold"/>
                    <a:sym typeface="Inter SemiBold"/>
                  </a:rPr>
                  <a:t>Terraform</a:t>
                </a:r>
                <a:endParaRPr b="0" sz="750">
                  <a:solidFill>
                    <a:srgbClr val="0369A1"/>
                  </a:solidFill>
                  <a:latin typeface="Inter SemiBold"/>
                  <a:ea typeface="Inter SemiBold"/>
                  <a:cs typeface="Inter SemiBold"/>
                  <a:sym typeface="Inter SemiBold"/>
                </a:endParaRPr>
              </a:p>
            </p:txBody>
          </p:sp>
        </p:grpSp>
        <p:grpSp>
          <p:nvGrpSpPr>
            <p:cNvPr id="71" name="Google Shape;71;p14"/>
            <p:cNvGrpSpPr/>
            <p:nvPr/>
          </p:nvGrpSpPr>
          <p:grpSpPr>
            <a:xfrm>
              <a:off x="2657475" y="3571875"/>
              <a:ext cx="1190700" cy="266700"/>
              <a:chOff x="0" y="0"/>
              <a:chExt cx="1190700" cy="266700"/>
            </a:xfrm>
          </p:grpSpPr>
          <p:sp>
            <p:nvSpPr>
              <p:cNvPr id="72" name="Google Shape;72;p14"/>
              <p:cNvSpPr/>
              <p:nvPr/>
            </p:nvSpPr>
            <p:spPr>
              <a:xfrm>
                <a:off x="0" y="0"/>
                <a:ext cx="1190700" cy="266700"/>
              </a:xfrm>
              <a:prstGeom prst="roundRect">
                <a:avLst>
                  <a:gd fmla="val 14285" name="adj"/>
                </a:avLst>
              </a:prstGeom>
              <a:solidFill>
                <a:srgbClr val="E0F2FE"/>
              </a:solidFill>
              <a:ln cap="flat" cmpd="sng" w="952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4"/>
              <p:cNvSpPr txBox="1"/>
              <p:nvPr/>
            </p:nvSpPr>
            <p:spPr>
              <a:xfrm>
                <a:off x="0" y="0"/>
                <a:ext cx="11907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0369A1"/>
                    </a:solidFill>
                    <a:latin typeface="Inter SemiBold"/>
                    <a:ea typeface="Inter SemiBold"/>
                    <a:cs typeface="Inter SemiBold"/>
                    <a:sym typeface="Inter SemiBold"/>
                  </a:rPr>
                  <a:t>AWS IoT Core</a:t>
                </a:r>
                <a:endParaRPr b="0" sz="750">
                  <a:solidFill>
                    <a:srgbClr val="0369A1"/>
                  </a:solidFill>
                  <a:latin typeface="Inter SemiBold"/>
                  <a:ea typeface="Inter SemiBold"/>
                  <a:cs typeface="Inter SemiBold"/>
                  <a:sym typeface="Inter SemiBold"/>
                </a:endParaRPr>
              </a:p>
            </p:txBody>
          </p:sp>
        </p:grpSp>
        <p:grpSp>
          <p:nvGrpSpPr>
            <p:cNvPr id="74" name="Google Shape;74;p14"/>
            <p:cNvGrpSpPr/>
            <p:nvPr/>
          </p:nvGrpSpPr>
          <p:grpSpPr>
            <a:xfrm>
              <a:off x="3962400" y="3571875"/>
              <a:ext cx="1000200" cy="266700"/>
              <a:chOff x="0" y="0"/>
              <a:chExt cx="1000200" cy="266700"/>
            </a:xfrm>
          </p:grpSpPr>
          <p:sp>
            <p:nvSpPr>
              <p:cNvPr id="75" name="Google Shape;75;p14"/>
              <p:cNvSpPr/>
              <p:nvPr/>
            </p:nvSpPr>
            <p:spPr>
              <a:xfrm>
                <a:off x="0" y="0"/>
                <a:ext cx="1000200" cy="266700"/>
              </a:xfrm>
              <a:prstGeom prst="roundRect">
                <a:avLst>
                  <a:gd fmla="val 14285" name="adj"/>
                </a:avLst>
              </a:prstGeom>
              <a:solidFill>
                <a:srgbClr val="E0F2FE"/>
              </a:solidFill>
              <a:ln cap="flat" cmpd="sng" w="952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4"/>
              <p:cNvSpPr txBox="1"/>
              <p:nvPr/>
            </p:nvSpPr>
            <p:spPr>
              <a:xfrm>
                <a:off x="0" y="0"/>
                <a:ext cx="10002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0369A1"/>
                    </a:solidFill>
                    <a:latin typeface="Inter SemiBold"/>
                    <a:ea typeface="Inter SemiBold"/>
                    <a:cs typeface="Inter SemiBold"/>
                    <a:sym typeface="Inter SemiBold"/>
                  </a:rPr>
                  <a:t>SageMaker</a:t>
                </a:r>
                <a:endParaRPr b="0" sz="750">
                  <a:solidFill>
                    <a:srgbClr val="0369A1"/>
                  </a:solidFill>
                  <a:latin typeface="Inter SemiBold"/>
                  <a:ea typeface="Inter SemiBold"/>
                  <a:cs typeface="Inter SemiBold"/>
                  <a:sym typeface="Inter SemiBold"/>
                </a:endParaRPr>
              </a:p>
            </p:txBody>
          </p:sp>
        </p:grpSp>
        <p:grpSp>
          <p:nvGrpSpPr>
            <p:cNvPr id="77" name="Google Shape;77;p14"/>
            <p:cNvGrpSpPr/>
            <p:nvPr/>
          </p:nvGrpSpPr>
          <p:grpSpPr>
            <a:xfrm>
              <a:off x="5076825" y="3571875"/>
              <a:ext cx="1095300" cy="266700"/>
              <a:chOff x="0" y="0"/>
              <a:chExt cx="1095300" cy="266700"/>
            </a:xfrm>
          </p:grpSpPr>
          <p:sp>
            <p:nvSpPr>
              <p:cNvPr id="78" name="Google Shape;78;p14"/>
              <p:cNvSpPr/>
              <p:nvPr/>
            </p:nvSpPr>
            <p:spPr>
              <a:xfrm>
                <a:off x="0" y="0"/>
                <a:ext cx="1095300" cy="266700"/>
              </a:xfrm>
              <a:prstGeom prst="roundRect">
                <a:avLst>
                  <a:gd fmla="val 14285" name="adj"/>
                </a:avLst>
              </a:prstGeom>
              <a:solidFill>
                <a:srgbClr val="E0F2FE"/>
              </a:solidFill>
              <a:ln cap="flat" cmpd="sng" w="952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4"/>
              <p:cNvSpPr txBox="1"/>
              <p:nvPr/>
            </p:nvSpPr>
            <p:spPr>
              <a:xfrm>
                <a:off x="0" y="0"/>
                <a:ext cx="10953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0369A1"/>
                    </a:solidFill>
                    <a:latin typeface="Inter SemiBold"/>
                    <a:ea typeface="Inter SemiBold"/>
                    <a:cs typeface="Inter SemiBold"/>
                    <a:sym typeface="Inter SemiBold"/>
                  </a:rPr>
                  <a:t>AWS Lambda</a:t>
                </a:r>
                <a:endParaRPr b="0" sz="750">
                  <a:solidFill>
                    <a:srgbClr val="0369A1"/>
                  </a:solidFill>
                  <a:latin typeface="Inter SemiBold"/>
                  <a:ea typeface="Inter SemiBold"/>
                  <a:cs typeface="Inter SemiBold"/>
                  <a:sym typeface="Inter SemiBold"/>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5"/>
          <p:cNvGrpSpPr/>
          <p:nvPr/>
        </p:nvGrpSpPr>
        <p:grpSpPr>
          <a:xfrm>
            <a:off x="0" y="0"/>
            <a:ext cx="9144000" cy="5143500"/>
            <a:chOff x="0" y="0"/>
            <a:chExt cx="9144000" cy="5143500"/>
          </a:xfrm>
        </p:grpSpPr>
        <p:sp>
          <p:nvSpPr>
            <p:cNvPr id="85" name="Google Shape;85;p1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6" name="Google Shape;86;p15"/>
            <p:cNvGrpSpPr/>
            <p:nvPr/>
          </p:nvGrpSpPr>
          <p:grpSpPr>
            <a:xfrm>
              <a:off x="0" y="0"/>
              <a:ext cx="9144000" cy="76350"/>
              <a:chOff x="0" y="0"/>
              <a:chExt cx="9144000" cy="76350"/>
            </a:xfrm>
          </p:grpSpPr>
          <p:sp>
            <p:nvSpPr>
              <p:cNvPr id="87" name="Google Shape;87;p15"/>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5"/>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89" name="Google Shape;89;p15"/>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grpSp>
      <p:sp>
        <p:nvSpPr>
          <p:cNvPr id="90" name="Google Shape;90;p15"/>
          <p:cNvSpPr txBox="1"/>
          <p:nvPr/>
        </p:nvSpPr>
        <p:spPr>
          <a:xfrm>
            <a:off x="381000" y="3810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Grid Control Research Context</a:t>
            </a:r>
            <a:endParaRPr b="1" sz="2400">
              <a:solidFill>
                <a:srgbClr val="0F172A"/>
              </a:solidFill>
              <a:latin typeface="Inter"/>
              <a:ea typeface="Inter"/>
              <a:cs typeface="Inter"/>
              <a:sym typeface="Inter"/>
            </a:endParaRPr>
          </a:p>
        </p:txBody>
      </p:sp>
      <p:grpSp>
        <p:nvGrpSpPr>
          <p:cNvPr id="91" name="Google Shape;91;p15"/>
          <p:cNvGrpSpPr/>
          <p:nvPr/>
        </p:nvGrpSpPr>
        <p:grpSpPr>
          <a:xfrm>
            <a:off x="381000" y="1238250"/>
            <a:ext cx="4095600" cy="3238500"/>
            <a:chOff x="381000" y="1238250"/>
            <a:chExt cx="4095600" cy="3238500"/>
          </a:xfrm>
        </p:grpSpPr>
        <p:sp>
          <p:nvSpPr>
            <p:cNvPr id="92" name="Google Shape;92;p15"/>
            <p:cNvSpPr/>
            <p:nvPr/>
          </p:nvSpPr>
          <p:spPr>
            <a:xfrm>
              <a:off x="381000" y="1238250"/>
              <a:ext cx="19200" cy="30480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txBox="1"/>
            <p:nvPr/>
          </p:nvSpPr>
          <p:spPr>
            <a:xfrm>
              <a:off x="533400" y="1238250"/>
              <a:ext cx="39432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IEEE PES RESEARCH FOUNDATION</a:t>
              </a:r>
              <a:endParaRPr b="0" sz="750">
                <a:solidFill>
                  <a:srgbClr val="0369A1"/>
                </a:solidFill>
                <a:latin typeface="Inter SemiBold"/>
                <a:ea typeface="Inter SemiBold"/>
                <a:cs typeface="Inter SemiBold"/>
                <a:sym typeface="Inter SemiBold"/>
              </a:endParaRPr>
            </a:p>
            <a:p>
              <a:pPr indent="0" lvl="0" marL="0" rtl="0" algn="l">
                <a:spcBef>
                  <a:spcPts val="600"/>
                </a:spcBef>
                <a:spcAft>
                  <a:spcPts val="0"/>
                </a:spcAft>
                <a:buNone/>
              </a:pPr>
              <a:r>
                <a:rPr b="0" lang="en" sz="1050">
                  <a:solidFill>
                    <a:srgbClr val="0284C7"/>
                  </a:solidFill>
                  <a:latin typeface="Inter SemiBold"/>
                  <a:ea typeface="Inter SemiBold"/>
                  <a:cs typeface="Inter SemiBold"/>
                  <a:sym typeface="Inter SemiBold"/>
                </a:rPr>
                <a:t>'Semantic-Aware Reinforcement Learning for Resource-Efficient IoT Communication'</a:t>
              </a:r>
              <a:endParaRPr b="0" sz="1050">
                <a:solidFill>
                  <a:srgbClr val="0284C7"/>
                </a:solidFill>
                <a:latin typeface="Inter SemiBold"/>
                <a:ea typeface="Inter SemiBold"/>
                <a:cs typeface="Inter SemiBold"/>
                <a:sym typeface="Inter SemiBold"/>
              </a:endParaRPr>
            </a:p>
            <a:p>
              <a:pPr indent="0" lvl="0" marL="0" rtl="0" algn="l">
                <a:spcBef>
                  <a:spcPts val="1500"/>
                </a:spcBef>
                <a:spcAft>
                  <a:spcPts val="0"/>
                </a:spcAft>
                <a:buNone/>
              </a:pPr>
              <a:r>
                <a:rPr b="0" lang="en" sz="750">
                  <a:solidFill>
                    <a:srgbClr val="0369A1"/>
                  </a:solidFill>
                  <a:latin typeface="Inter SemiBold"/>
                  <a:ea typeface="Inter SemiBold"/>
                  <a:cs typeface="Inter SemiBold"/>
                  <a:sym typeface="Inter SemiBold"/>
                </a:rPr>
                <a:t>THE CHALLENGE</a:t>
              </a:r>
              <a:endParaRPr b="0" sz="750">
                <a:solidFill>
                  <a:srgbClr val="0369A1"/>
                </a:solidFill>
                <a:latin typeface="Inter SemiBold"/>
                <a:ea typeface="Inter SemiBold"/>
                <a:cs typeface="Inter SemiBold"/>
                <a:sym typeface="Inter SemiBold"/>
              </a:endParaRPr>
            </a:p>
            <a:p>
              <a:pPr indent="0" lvl="0" marL="0" rtl="0" algn="l">
                <a:spcBef>
                  <a:spcPts val="450"/>
                </a:spcBef>
                <a:spcAft>
                  <a:spcPts val="0"/>
                </a:spcAft>
                <a:buNone/>
              </a:pPr>
              <a:r>
                <a:rPr b="0" lang="en" sz="1050">
                  <a:solidFill>
                    <a:srgbClr val="475569"/>
                  </a:solidFill>
                  <a:latin typeface="Inter"/>
                  <a:ea typeface="Inter"/>
                  <a:cs typeface="Inter"/>
                  <a:sym typeface="Inter"/>
                </a:rPr>
                <a:t>Modern power grids face dynamic and unpredictable conditions. Voltage fluctuations require extremely fast response times to prevent catastrophic, cascading grid failures.</a:t>
              </a:r>
              <a:endParaRPr b="0" sz="1050">
                <a:solidFill>
                  <a:srgbClr val="475569"/>
                </a:solidFill>
                <a:latin typeface="Inter"/>
                <a:ea typeface="Inter"/>
                <a:cs typeface="Inter"/>
                <a:sym typeface="Inter"/>
              </a:endParaRPr>
            </a:p>
            <a:p>
              <a:pPr indent="0" lvl="0" marL="0" rtl="0" algn="l">
                <a:spcBef>
                  <a:spcPts val="1500"/>
                </a:spcBef>
                <a:spcAft>
                  <a:spcPts val="0"/>
                </a:spcAft>
                <a:buNone/>
              </a:pPr>
              <a:r>
                <a:rPr b="0" lang="en" sz="750">
                  <a:solidFill>
                    <a:srgbClr val="0369A1"/>
                  </a:solidFill>
                  <a:latin typeface="Inter SemiBold"/>
                  <a:ea typeface="Inter SemiBold"/>
                  <a:cs typeface="Inter SemiBold"/>
                  <a:sym typeface="Inter SemiBold"/>
                </a:rPr>
                <a:t>THE SOLUTION</a:t>
              </a:r>
              <a:endParaRPr b="0" sz="750">
                <a:solidFill>
                  <a:srgbClr val="0369A1"/>
                </a:solidFill>
                <a:latin typeface="Inter SemiBold"/>
                <a:ea typeface="Inter SemiBold"/>
                <a:cs typeface="Inter SemiBold"/>
                <a:sym typeface="Inter SemiBold"/>
              </a:endParaRPr>
            </a:p>
            <a:p>
              <a:pPr indent="0" lvl="0" marL="0" rtl="0" algn="l">
                <a:spcBef>
                  <a:spcPts val="450"/>
                </a:spcBef>
                <a:spcAft>
                  <a:spcPts val="0"/>
                </a:spcAft>
                <a:buNone/>
              </a:pPr>
              <a:r>
                <a:rPr lang="en" sz="1050">
                  <a:solidFill>
                    <a:srgbClr val="475569"/>
                  </a:solidFill>
                  <a:latin typeface="Inter"/>
                  <a:ea typeface="Inter"/>
                  <a:cs typeface="Inter"/>
                  <a:sym typeface="Inter"/>
                </a:rPr>
                <a:t>I</a:t>
              </a:r>
              <a:r>
                <a:rPr b="0" lang="en" sz="1050">
                  <a:solidFill>
                    <a:srgbClr val="475569"/>
                  </a:solidFill>
                  <a:latin typeface="Inter"/>
                  <a:ea typeface="Inter"/>
                  <a:cs typeface="Inter"/>
                  <a:sym typeface="Inter"/>
                </a:rPr>
                <a:t>mplemented a resource-efficient </a:t>
              </a:r>
              <a:r>
                <a:rPr b="0" lang="en" sz="1050">
                  <a:solidFill>
                    <a:srgbClr val="0F172A"/>
                  </a:solidFill>
                  <a:latin typeface="Inter SemiBold"/>
                  <a:ea typeface="Inter SemiBold"/>
                  <a:cs typeface="Inter SemiBold"/>
                  <a:sym typeface="Inter SemiBold"/>
                </a:rPr>
                <a:t>edge-to-cloud architecture</a:t>
              </a:r>
              <a:r>
                <a:rPr b="0" lang="en" sz="1050">
                  <a:solidFill>
                    <a:srgbClr val="475569"/>
                  </a:solidFill>
                  <a:latin typeface="Inter"/>
                  <a:ea typeface="Inter"/>
                  <a:cs typeface="Inter"/>
                  <a:sym typeface="Inter"/>
                </a:rPr>
                <a:t> using </a:t>
              </a:r>
              <a:r>
                <a:rPr b="0" lang="en" sz="1050">
                  <a:solidFill>
                    <a:srgbClr val="0369A1"/>
                  </a:solidFill>
                  <a:latin typeface="Inter SemiBold"/>
                  <a:ea typeface="Inter SemiBold"/>
                  <a:cs typeface="Inter SemiBold"/>
                  <a:sym typeface="Inter SemiBold"/>
                </a:rPr>
                <a:t>Deep Reinforcement Learning (DRL)</a:t>
              </a:r>
              <a:r>
                <a:rPr b="0" lang="en" sz="1050">
                  <a:solidFill>
                    <a:srgbClr val="475569"/>
                  </a:solidFill>
                  <a:latin typeface="Inter"/>
                  <a:ea typeface="Inter"/>
                  <a:cs typeface="Inter"/>
                  <a:sym typeface="Inter"/>
                </a:rPr>
                <a:t>. This automates localized, real-time control decisions to ensure highly intelligent responses to fluctuating grid conditions.</a:t>
              </a:r>
              <a:endParaRPr b="0" sz="1050">
                <a:solidFill>
                  <a:srgbClr val="475569"/>
                </a:solidFill>
                <a:latin typeface="Inter"/>
                <a:ea typeface="Inter"/>
                <a:cs typeface="Inter"/>
                <a:sym typeface="Inter"/>
              </a:endParaRPr>
            </a:p>
          </p:txBody>
        </p:sp>
      </p:grpSp>
      <p:grpSp>
        <p:nvGrpSpPr>
          <p:cNvPr id="94" name="Google Shape;94;p15"/>
          <p:cNvGrpSpPr/>
          <p:nvPr/>
        </p:nvGrpSpPr>
        <p:grpSpPr>
          <a:xfrm>
            <a:off x="4762500" y="1238250"/>
            <a:ext cx="4000500" cy="3048000"/>
            <a:chOff x="4762500" y="1238250"/>
            <a:chExt cx="4000500" cy="3048000"/>
          </a:xfrm>
        </p:grpSpPr>
        <p:sp>
          <p:nvSpPr>
            <p:cNvPr id="95" name="Google Shape;95;p15"/>
            <p:cNvSpPr/>
            <p:nvPr/>
          </p:nvSpPr>
          <p:spPr>
            <a:xfrm>
              <a:off x="4762500" y="1238250"/>
              <a:ext cx="4000500" cy="3048000"/>
            </a:xfrm>
            <a:prstGeom prst="roundRect">
              <a:avLst>
                <a:gd fmla="val 2500" name="adj"/>
              </a:avLst>
            </a:prstGeom>
            <a:solidFill>
              <a:srgbClr val="E0F2FE"/>
            </a:solidFill>
            <a:ln cap="flat" cmpd="sng" w="19050">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4762500" y="1238250"/>
              <a:ext cx="4000500" cy="381000"/>
            </a:xfrm>
            <a:custGeom>
              <a:rect b="b" l="l" r="r" t="t"/>
              <a:pathLst>
                <a:path extrusionOk="0" h="120000" w="120000">
                  <a:moveTo>
                    <a:pt x="0" y="24000"/>
                  </a:moveTo>
                  <a:quadBezTo>
                    <a:pt x="0" y="0"/>
                    <a:pt x="2286" y="0"/>
                  </a:quadBezTo>
                  <a:lnTo>
                    <a:pt x="117714" y="0"/>
                  </a:lnTo>
                  <a:quadBezTo>
                    <a:pt x="120000" y="0"/>
                    <a:pt x="120000" y="24000"/>
                  </a:quadBezTo>
                  <a:lnTo>
                    <a:pt x="120000" y="120000"/>
                  </a:lnTo>
                  <a:lnTo>
                    <a:pt x="0" y="120000"/>
                  </a:lnTo>
                  <a:close/>
                </a:path>
              </a:pathLst>
            </a:cu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4953000" y="1238250"/>
              <a:ext cx="3619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25">
                  <a:solidFill>
                    <a:srgbClr val="FFFFFF"/>
                  </a:solidFill>
                  <a:latin typeface="Inter SemiBold"/>
                  <a:ea typeface="Inter SemiBold"/>
                  <a:cs typeface="Inter SemiBold"/>
                  <a:sym typeface="Inter SemiBold"/>
                </a:rPr>
                <a:t>CORE OPERATIONAL CRITERIA</a:t>
              </a:r>
              <a:endParaRPr b="0" sz="825">
                <a:solidFill>
                  <a:srgbClr val="FFFFFF"/>
                </a:solidFill>
                <a:latin typeface="Inter SemiBold"/>
                <a:ea typeface="Inter SemiBold"/>
                <a:cs typeface="Inter SemiBold"/>
                <a:sym typeface="Inter SemiBold"/>
              </a:endParaRPr>
            </a:p>
          </p:txBody>
        </p:sp>
        <p:pic>
          <p:nvPicPr>
            <p:cNvPr id="98" name="Google Shape;98;p15"/>
            <p:cNvPicPr preferRelativeResize="0"/>
            <p:nvPr/>
          </p:nvPicPr>
          <p:blipFill rotWithShape="1">
            <a:blip r:embed="rId4">
              <a:alphaModFix/>
            </a:blip>
            <a:srcRect b="0" l="0" r="0" t="0"/>
            <a:stretch/>
          </p:blipFill>
          <p:spPr>
            <a:xfrm>
              <a:off x="5119688" y="1885950"/>
              <a:ext cx="147600" cy="114300"/>
            </a:xfrm>
            <a:prstGeom prst="rect">
              <a:avLst/>
            </a:prstGeom>
            <a:noFill/>
            <a:ln>
              <a:noFill/>
            </a:ln>
          </p:spPr>
        </p:pic>
        <p:sp>
          <p:nvSpPr>
            <p:cNvPr id="99" name="Google Shape;99;p15"/>
            <p:cNvSpPr txBox="1"/>
            <p:nvPr/>
          </p:nvSpPr>
          <p:spPr>
            <a:xfrm>
              <a:off x="5095875" y="2190750"/>
              <a:ext cx="33339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500">
                  <a:solidFill>
                    <a:srgbClr val="0369A1"/>
                  </a:solidFill>
                  <a:latin typeface="Inter SemiBold"/>
                  <a:ea typeface="Inter SemiBold"/>
                  <a:cs typeface="Inter SemiBold"/>
                  <a:sym typeface="Inter SemiBold"/>
                </a:rPr>
                <a:t>"Extremely fast, sub-second response times to voltage fluctuations are required to prevent cascading failures."</a:t>
              </a:r>
              <a:endParaRPr b="0" i="1" sz="1500">
                <a:solidFill>
                  <a:srgbClr val="0369A1"/>
                </a:solidFill>
                <a:latin typeface="Inter SemiBold"/>
                <a:ea typeface="Inter SemiBold"/>
                <a:cs typeface="Inter SemiBold"/>
                <a:sym typeface="Inter SemiBold"/>
              </a:endParaRPr>
            </a:p>
            <a:p>
              <a:pPr indent="0" lvl="0" marL="0" rtl="0" algn="l">
                <a:spcBef>
                  <a:spcPts val="1125"/>
                </a:spcBef>
                <a:spcAft>
                  <a:spcPts val="0"/>
                </a:spcAft>
                <a:buNone/>
              </a:pPr>
              <a:r>
                <a:rPr b="0" lang="en" sz="900">
                  <a:solidFill>
                    <a:srgbClr val="475569"/>
                  </a:solidFill>
                  <a:latin typeface="Inter SemiBold"/>
                  <a:ea typeface="Inter SemiBold"/>
                  <a:cs typeface="Inter SemiBold"/>
                  <a:sym typeface="Inter SemiBold"/>
                </a:rPr>
                <a:t>— IEEE PES Research Requirement</a:t>
              </a:r>
              <a:endParaRPr b="0" sz="900">
                <a:solidFill>
                  <a:srgbClr val="475569"/>
                </a:solidFill>
                <a:latin typeface="Inter SemiBold"/>
                <a:ea typeface="Inter SemiBold"/>
                <a:cs typeface="Inter SemiBold"/>
                <a:sym typeface="Inter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5" name="Google Shape;105;p16"/>
          <p:cNvGrpSpPr/>
          <p:nvPr/>
        </p:nvGrpSpPr>
        <p:grpSpPr>
          <a:xfrm>
            <a:off x="0" y="0"/>
            <a:ext cx="9144000" cy="76350"/>
            <a:chOff x="0" y="0"/>
            <a:chExt cx="9144000" cy="76350"/>
          </a:xfrm>
        </p:grpSpPr>
        <p:sp>
          <p:nvSpPr>
            <p:cNvPr id="106" name="Google Shape;106;p16"/>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6"/>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108" name="Google Shape;108;p16"/>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sp>
        <p:nvSpPr>
          <p:cNvPr id="109" name="Google Shape;109;p16"/>
          <p:cNvSpPr txBox="1"/>
          <p:nvPr/>
        </p:nvSpPr>
        <p:spPr>
          <a:xfrm>
            <a:off x="381000" y="381000"/>
            <a:ext cx="6477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Pipeline and AWS Architecture</a:t>
            </a:r>
            <a:endParaRPr b="1" sz="2400">
              <a:solidFill>
                <a:srgbClr val="0F172A"/>
              </a:solidFill>
              <a:latin typeface="Inter"/>
              <a:ea typeface="Inter"/>
              <a:cs typeface="Inter"/>
              <a:sym typeface="Inter"/>
            </a:endParaRPr>
          </a:p>
        </p:txBody>
      </p:sp>
      <p:sp>
        <p:nvSpPr>
          <p:cNvPr id="110" name="Google Shape;110;p16"/>
          <p:cNvSpPr/>
          <p:nvPr/>
        </p:nvSpPr>
        <p:spPr>
          <a:xfrm>
            <a:off x="7048500" y="495300"/>
            <a:ext cx="1714500" cy="228600"/>
          </a:xfrm>
          <a:prstGeom prst="roundRect">
            <a:avLst>
              <a:gd fmla="val 50000" name="adj"/>
            </a:avLst>
          </a:prstGeom>
          <a:solidFill>
            <a:srgbClr val="E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6"/>
          <p:cNvSpPr txBox="1"/>
          <p:nvPr/>
        </p:nvSpPr>
        <p:spPr>
          <a:xfrm>
            <a:off x="7048500" y="495300"/>
            <a:ext cx="1714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75">
                <a:solidFill>
                  <a:srgbClr val="0369A1"/>
                </a:solidFill>
                <a:latin typeface="Inter"/>
                <a:ea typeface="Inter"/>
                <a:cs typeface="Inter"/>
                <a:sym typeface="Inter"/>
              </a:rPr>
              <a:t>8-SERVICE AWS STACK</a:t>
            </a:r>
            <a:endParaRPr b="1" sz="675">
              <a:solidFill>
                <a:srgbClr val="0369A1"/>
              </a:solidFill>
              <a:latin typeface="Inter"/>
              <a:ea typeface="Inter"/>
              <a:cs typeface="Inter"/>
              <a:sym typeface="Inter"/>
            </a:endParaRPr>
          </a:p>
        </p:txBody>
      </p:sp>
      <p:cxnSp>
        <p:nvCxnSpPr>
          <p:cNvPr id="112" name="Google Shape;112;p16"/>
          <p:cNvCxnSpPr/>
          <p:nvPr/>
        </p:nvCxnSpPr>
        <p:spPr>
          <a:xfrm>
            <a:off x="2047875" y="1476375"/>
            <a:ext cx="2190900" cy="0"/>
          </a:xfrm>
          <a:prstGeom prst="straightConnector1">
            <a:avLst/>
          </a:prstGeom>
          <a:solidFill>
            <a:srgbClr val="FFFFFF"/>
          </a:solidFill>
          <a:ln cap="flat" cmpd="sng" w="28575">
            <a:solidFill>
              <a:srgbClr val="E2E8F0"/>
            </a:solidFill>
            <a:prstDash val="solid"/>
            <a:round/>
            <a:headEnd len="sm" w="sm" type="none"/>
            <a:tailEnd len="sm" w="sm" type="none"/>
          </a:ln>
        </p:spPr>
      </p:cxnSp>
      <p:sp>
        <p:nvSpPr>
          <p:cNvPr id="113" name="Google Shape;113;p16"/>
          <p:cNvSpPr/>
          <p:nvPr/>
        </p:nvSpPr>
        <p:spPr>
          <a:xfrm>
            <a:off x="4191000" y="1438275"/>
            <a:ext cx="76200" cy="76200"/>
          </a:xfrm>
          <a:custGeom>
            <a:rect b="b" l="l" r="r" t="t"/>
            <a:pathLst>
              <a:path extrusionOk="0" h="120000" w="120000">
                <a:moveTo>
                  <a:pt x="0" y="0"/>
                </a:moveTo>
                <a:lnTo>
                  <a:pt x="120000" y="60000"/>
                </a:lnTo>
                <a:lnTo>
                  <a:pt x="0" y="120000"/>
                </a:lnTo>
                <a:close/>
              </a:path>
            </a:pathLst>
          </a:cu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4" name="Google Shape;114;p16"/>
          <p:cNvCxnSpPr/>
          <p:nvPr/>
        </p:nvCxnSpPr>
        <p:spPr>
          <a:xfrm>
            <a:off x="4905375" y="1476375"/>
            <a:ext cx="2190900" cy="0"/>
          </a:xfrm>
          <a:prstGeom prst="straightConnector1">
            <a:avLst/>
          </a:prstGeom>
          <a:solidFill>
            <a:srgbClr val="FFFFFF"/>
          </a:solidFill>
          <a:ln cap="flat" cmpd="sng" w="28575">
            <a:solidFill>
              <a:srgbClr val="E2E8F0"/>
            </a:solidFill>
            <a:prstDash val="solid"/>
            <a:round/>
            <a:headEnd len="sm" w="sm" type="none"/>
            <a:tailEnd len="sm" w="sm" type="none"/>
          </a:ln>
        </p:spPr>
      </p:cxnSp>
      <p:sp>
        <p:nvSpPr>
          <p:cNvPr id="115" name="Google Shape;115;p16"/>
          <p:cNvSpPr/>
          <p:nvPr/>
        </p:nvSpPr>
        <p:spPr>
          <a:xfrm>
            <a:off x="7048500" y="1438275"/>
            <a:ext cx="76200" cy="76200"/>
          </a:xfrm>
          <a:custGeom>
            <a:rect b="b" l="l" r="r" t="t"/>
            <a:pathLst>
              <a:path extrusionOk="0" h="120000" w="120000">
                <a:moveTo>
                  <a:pt x="0" y="0"/>
                </a:moveTo>
                <a:lnTo>
                  <a:pt x="120000" y="60000"/>
                </a:lnTo>
                <a:lnTo>
                  <a:pt x="0" y="120000"/>
                </a:lnTo>
                <a:close/>
              </a:path>
            </a:pathLst>
          </a:cu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p:nvPr/>
        </p:nvSpPr>
        <p:spPr>
          <a:xfrm>
            <a:off x="1504950" y="1266825"/>
            <a:ext cx="419100" cy="419100"/>
          </a:xfrm>
          <a:prstGeom prst="ellipse">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6"/>
          <p:cNvSpPr txBox="1"/>
          <p:nvPr/>
        </p:nvSpPr>
        <p:spPr>
          <a:xfrm>
            <a:off x="1476375" y="1352550"/>
            <a:ext cx="476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75">
                <a:solidFill>
                  <a:srgbClr val="FFFFFF"/>
                </a:solidFill>
                <a:latin typeface="Inter"/>
                <a:ea typeface="Inter"/>
                <a:cs typeface="Inter"/>
                <a:sym typeface="Inter"/>
              </a:rPr>
              <a:t>01</a:t>
            </a:r>
            <a:endParaRPr b="1" sz="975">
              <a:solidFill>
                <a:srgbClr val="FFFFFF"/>
              </a:solidFill>
              <a:latin typeface="Inter"/>
              <a:ea typeface="Inter"/>
              <a:cs typeface="Inter"/>
              <a:sym typeface="Inter"/>
            </a:endParaRPr>
          </a:p>
        </p:txBody>
      </p:sp>
      <p:sp>
        <p:nvSpPr>
          <p:cNvPr id="118" name="Google Shape;118;p16"/>
          <p:cNvSpPr/>
          <p:nvPr/>
        </p:nvSpPr>
        <p:spPr>
          <a:xfrm>
            <a:off x="4362450" y="1266825"/>
            <a:ext cx="419100" cy="419100"/>
          </a:xfrm>
          <a:prstGeom prst="ellipse">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txBox="1"/>
          <p:nvPr/>
        </p:nvSpPr>
        <p:spPr>
          <a:xfrm>
            <a:off x="4333875" y="1352550"/>
            <a:ext cx="476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75">
                <a:solidFill>
                  <a:srgbClr val="FFFFFF"/>
                </a:solidFill>
                <a:latin typeface="Inter"/>
                <a:ea typeface="Inter"/>
                <a:cs typeface="Inter"/>
                <a:sym typeface="Inter"/>
              </a:rPr>
              <a:t>02</a:t>
            </a:r>
            <a:endParaRPr b="1" sz="975">
              <a:solidFill>
                <a:srgbClr val="FFFFFF"/>
              </a:solidFill>
              <a:latin typeface="Inter"/>
              <a:ea typeface="Inter"/>
              <a:cs typeface="Inter"/>
              <a:sym typeface="Inter"/>
            </a:endParaRPr>
          </a:p>
        </p:txBody>
      </p:sp>
      <p:sp>
        <p:nvSpPr>
          <p:cNvPr id="120" name="Google Shape;120;p16"/>
          <p:cNvSpPr/>
          <p:nvPr/>
        </p:nvSpPr>
        <p:spPr>
          <a:xfrm>
            <a:off x="7219950" y="1266825"/>
            <a:ext cx="419100" cy="419100"/>
          </a:xfrm>
          <a:prstGeom prst="ellipse">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6"/>
          <p:cNvSpPr txBox="1"/>
          <p:nvPr/>
        </p:nvSpPr>
        <p:spPr>
          <a:xfrm>
            <a:off x="7191375" y="1352550"/>
            <a:ext cx="476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75">
                <a:solidFill>
                  <a:srgbClr val="FFFFFF"/>
                </a:solidFill>
                <a:latin typeface="Inter"/>
                <a:ea typeface="Inter"/>
                <a:cs typeface="Inter"/>
                <a:sym typeface="Inter"/>
              </a:rPr>
              <a:t>03</a:t>
            </a:r>
            <a:endParaRPr b="1" sz="975">
              <a:solidFill>
                <a:srgbClr val="FFFFFF"/>
              </a:solidFill>
              <a:latin typeface="Inter"/>
              <a:ea typeface="Inter"/>
              <a:cs typeface="Inter"/>
              <a:sym typeface="Inter"/>
            </a:endParaRPr>
          </a:p>
        </p:txBody>
      </p:sp>
      <p:sp>
        <p:nvSpPr>
          <p:cNvPr id="122" name="Google Shape;122;p16"/>
          <p:cNvSpPr/>
          <p:nvPr/>
        </p:nvSpPr>
        <p:spPr>
          <a:xfrm>
            <a:off x="381000" y="2000250"/>
            <a:ext cx="2667000" cy="26670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381000" y="2000250"/>
            <a:ext cx="2667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523875" y="2143125"/>
            <a:ext cx="2381400" cy="24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0F172A"/>
                </a:solidFill>
                <a:latin typeface="Inter SemiBold"/>
                <a:ea typeface="Inter SemiBold"/>
                <a:cs typeface="Inter SemiBold"/>
                <a:sym typeface="Inter SemiBold"/>
              </a:rPr>
              <a:t>01. Edge Stream (mTLS/MQTT)</a:t>
            </a:r>
            <a:endParaRPr b="0" sz="1050">
              <a:solidFill>
                <a:srgbClr val="0F172A"/>
              </a:solidFill>
              <a:latin typeface="Inter SemiBold"/>
              <a:ea typeface="Inter SemiBold"/>
              <a:cs typeface="Inter SemiBold"/>
              <a:sym typeface="Inter SemiBold"/>
            </a:endParaRPr>
          </a:p>
          <a:p>
            <a:pPr indent="0" lvl="0" marL="0" rtl="0" algn="l">
              <a:spcBef>
                <a:spcPts val="1125"/>
              </a:spcBef>
              <a:spcAft>
                <a:spcPts val="0"/>
              </a:spcAft>
              <a:buNone/>
            </a:pPr>
            <a:r>
              <a:rPr b="1" lang="en" sz="938">
                <a:solidFill>
                  <a:srgbClr val="0284C7"/>
                </a:solidFill>
                <a:latin typeface="Inter"/>
                <a:ea typeface="Inter"/>
                <a:cs typeface="Inter"/>
                <a:sym typeface="Inter"/>
              </a:rPr>
              <a:t>■</a:t>
            </a:r>
            <a:r>
              <a:rPr lang="en" sz="938">
                <a:solidFill>
                  <a:srgbClr val="475569"/>
                </a:solidFill>
                <a:latin typeface="Inter"/>
                <a:ea typeface="Inter"/>
                <a:cs typeface="Inter"/>
                <a:sym typeface="Inter"/>
              </a:rPr>
              <a:t> Streams </a:t>
            </a:r>
            <a:r>
              <a:rPr b="0" lang="en" sz="938">
                <a:solidFill>
                  <a:srgbClr val="0F172A"/>
                </a:solidFill>
                <a:latin typeface="Inter SemiBold"/>
                <a:ea typeface="Inter SemiBold"/>
                <a:cs typeface="Inter SemiBold"/>
                <a:sym typeface="Inter SemiBold"/>
              </a:rPr>
              <a:t>five sensor readings</a:t>
            </a:r>
            <a:r>
              <a:rPr lang="en" sz="938">
                <a:solidFill>
                  <a:srgbClr val="475569"/>
                </a:solidFill>
                <a:latin typeface="Inter"/>
                <a:ea typeface="Inter"/>
                <a:cs typeface="Inter"/>
                <a:sym typeface="Inter"/>
              </a:rPr>
              <a:t> from substation edge to AWS IoT Core</a:t>
            </a:r>
            <a:endParaRPr sz="938">
              <a:solidFill>
                <a:srgbClr val="475569"/>
              </a:solidFill>
              <a:latin typeface="Inter"/>
              <a:ea typeface="Inter"/>
              <a:cs typeface="Inter"/>
              <a:sym typeface="Inter"/>
            </a:endParaRPr>
          </a:p>
          <a:p>
            <a:pPr indent="0" lvl="0" marL="0" rtl="0" algn="l">
              <a:spcBef>
                <a:spcPts val="1050"/>
              </a:spcBef>
              <a:spcAft>
                <a:spcPts val="0"/>
              </a:spcAft>
              <a:buNone/>
            </a:pPr>
            <a:r>
              <a:rPr b="1" lang="en" sz="938">
                <a:solidFill>
                  <a:srgbClr val="0284C7"/>
                </a:solidFill>
                <a:latin typeface="Inter"/>
                <a:ea typeface="Inter"/>
                <a:cs typeface="Inter"/>
                <a:sym typeface="Inter"/>
              </a:rPr>
              <a:t>■</a:t>
            </a:r>
            <a:r>
              <a:rPr lang="en" sz="938">
                <a:solidFill>
                  <a:srgbClr val="475569"/>
                </a:solidFill>
                <a:latin typeface="Inter"/>
                <a:ea typeface="Inter"/>
                <a:cs typeface="Inter"/>
                <a:sym typeface="Inter"/>
              </a:rPr>
              <a:t> Submissions occur </a:t>
            </a:r>
            <a:r>
              <a:rPr b="0" lang="en" sz="938">
                <a:solidFill>
                  <a:srgbClr val="0F172A"/>
                </a:solidFill>
                <a:latin typeface="Inter SemiBold"/>
                <a:ea typeface="Inter SemiBold"/>
                <a:cs typeface="Inter SemiBold"/>
                <a:sym typeface="Inter SemiBold"/>
              </a:rPr>
              <a:t>every second</a:t>
            </a:r>
            <a:r>
              <a:rPr lang="en" sz="938">
                <a:solidFill>
                  <a:srgbClr val="475569"/>
                </a:solidFill>
                <a:latin typeface="Inter"/>
                <a:ea typeface="Inter"/>
                <a:cs typeface="Inter"/>
                <a:sym typeface="Inter"/>
              </a:rPr>
              <a:t> via MQTT over secure mTLS</a:t>
            </a:r>
            <a:endParaRPr sz="938">
              <a:solidFill>
                <a:srgbClr val="475569"/>
              </a:solidFill>
              <a:latin typeface="Inter"/>
              <a:ea typeface="Inter"/>
              <a:cs typeface="Inter"/>
              <a:sym typeface="Inter"/>
            </a:endParaRPr>
          </a:p>
          <a:p>
            <a:pPr indent="0" lvl="0" marL="0" rtl="0" algn="l">
              <a:spcBef>
                <a:spcPts val="1050"/>
              </a:spcBef>
              <a:spcAft>
                <a:spcPts val="1050"/>
              </a:spcAft>
              <a:buNone/>
            </a:pPr>
            <a:r>
              <a:rPr b="1" lang="en" sz="938">
                <a:solidFill>
                  <a:srgbClr val="0284C7"/>
                </a:solidFill>
                <a:latin typeface="Inter"/>
                <a:ea typeface="Inter"/>
                <a:cs typeface="Inter"/>
                <a:sym typeface="Inter"/>
              </a:rPr>
              <a:t>■</a:t>
            </a:r>
            <a:r>
              <a:rPr lang="en" sz="938">
                <a:solidFill>
                  <a:srgbClr val="475569"/>
                </a:solidFill>
                <a:latin typeface="Inter"/>
                <a:ea typeface="Inter"/>
                <a:cs typeface="Inter"/>
                <a:sym typeface="Inter"/>
              </a:rPr>
              <a:t> All ingested readings are archived in an </a:t>
            </a:r>
            <a:r>
              <a:rPr b="0" lang="en" sz="938">
                <a:solidFill>
                  <a:srgbClr val="0F172A"/>
                </a:solidFill>
                <a:latin typeface="Inter SemiBold"/>
                <a:ea typeface="Inter SemiBold"/>
                <a:cs typeface="Inter SemiBold"/>
                <a:sym typeface="Inter SemiBold"/>
              </a:rPr>
              <a:t>encrypted S3 bucket</a:t>
            </a:r>
            <a:endParaRPr sz="938">
              <a:solidFill>
                <a:srgbClr val="475569"/>
              </a:solidFill>
              <a:latin typeface="Inter"/>
              <a:ea typeface="Inter"/>
              <a:cs typeface="Inter"/>
              <a:sym typeface="Inter"/>
            </a:endParaRPr>
          </a:p>
        </p:txBody>
      </p:sp>
      <p:sp>
        <p:nvSpPr>
          <p:cNvPr id="125" name="Google Shape;125;p16"/>
          <p:cNvSpPr/>
          <p:nvPr/>
        </p:nvSpPr>
        <p:spPr>
          <a:xfrm>
            <a:off x="3238500" y="2000250"/>
            <a:ext cx="2667000" cy="26670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p:nvPr/>
        </p:nvSpPr>
        <p:spPr>
          <a:xfrm>
            <a:off x="3238500" y="2000250"/>
            <a:ext cx="2667000" cy="381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381375" y="2143125"/>
            <a:ext cx="2381400" cy="24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0F172A"/>
                </a:solidFill>
                <a:latin typeface="Inter SemiBold"/>
                <a:ea typeface="Inter SemiBold"/>
                <a:cs typeface="Inter SemiBold"/>
                <a:sym typeface="Inter SemiBold"/>
              </a:rPr>
              <a:t>02. Lambda Validation &amp; VPC</a:t>
            </a:r>
            <a:endParaRPr b="0" sz="1050">
              <a:solidFill>
                <a:srgbClr val="0F172A"/>
              </a:solidFill>
              <a:latin typeface="Inter SemiBold"/>
              <a:ea typeface="Inter SemiBold"/>
              <a:cs typeface="Inter SemiBold"/>
              <a:sym typeface="Inter SemiBold"/>
            </a:endParaRPr>
          </a:p>
          <a:p>
            <a:pPr indent="0" lvl="0" marL="0" rtl="0" algn="l">
              <a:spcBef>
                <a:spcPts val="1125"/>
              </a:spcBef>
              <a:spcAft>
                <a:spcPts val="0"/>
              </a:spcAft>
              <a:buNone/>
            </a:pPr>
            <a:r>
              <a:rPr b="1" lang="en" sz="938">
                <a:solidFill>
                  <a:srgbClr val="0369A1"/>
                </a:solidFill>
                <a:latin typeface="Inter"/>
                <a:ea typeface="Inter"/>
                <a:cs typeface="Inter"/>
                <a:sym typeface="Inter"/>
              </a:rPr>
              <a:t>■</a:t>
            </a:r>
            <a:r>
              <a:rPr lang="en" sz="938">
                <a:solidFill>
                  <a:srgbClr val="475569"/>
                </a:solidFill>
                <a:latin typeface="Inter"/>
                <a:ea typeface="Inter"/>
                <a:cs typeface="Inter"/>
                <a:sym typeface="Inter"/>
              </a:rPr>
              <a:t> AWS IoT Core routes data to a highly secure </a:t>
            </a:r>
            <a:r>
              <a:rPr b="0" lang="en" sz="938">
                <a:solidFill>
                  <a:srgbClr val="0F172A"/>
                </a:solidFill>
                <a:latin typeface="Inter SemiBold"/>
                <a:ea typeface="Inter SemiBold"/>
                <a:cs typeface="Inter SemiBold"/>
                <a:sym typeface="Inter SemiBold"/>
              </a:rPr>
              <a:t>Lambda function</a:t>
            </a:r>
            <a:endParaRPr sz="938">
              <a:solidFill>
                <a:srgbClr val="475569"/>
              </a:solidFill>
              <a:latin typeface="Inter"/>
              <a:ea typeface="Inter"/>
              <a:cs typeface="Inter"/>
              <a:sym typeface="Inter"/>
            </a:endParaRPr>
          </a:p>
          <a:p>
            <a:pPr indent="0" lvl="0" marL="0" rtl="0" algn="l">
              <a:spcBef>
                <a:spcPts val="1050"/>
              </a:spcBef>
              <a:spcAft>
                <a:spcPts val="0"/>
              </a:spcAft>
              <a:buNone/>
            </a:pPr>
            <a:r>
              <a:rPr b="1" lang="en" sz="938">
                <a:solidFill>
                  <a:srgbClr val="0369A1"/>
                </a:solidFill>
                <a:latin typeface="Inter"/>
                <a:ea typeface="Inter"/>
                <a:cs typeface="Inter"/>
                <a:sym typeface="Inter"/>
              </a:rPr>
              <a:t>■</a:t>
            </a:r>
            <a:r>
              <a:rPr lang="en" sz="938">
                <a:solidFill>
                  <a:srgbClr val="475569"/>
                </a:solidFill>
                <a:latin typeface="Inter"/>
                <a:ea typeface="Inter"/>
                <a:cs typeface="Inter"/>
                <a:sym typeface="Inter"/>
              </a:rPr>
              <a:t> Operates entirely within an isolated, </a:t>
            </a:r>
            <a:r>
              <a:rPr b="0" lang="en" sz="938">
                <a:solidFill>
                  <a:srgbClr val="0F172A"/>
                </a:solidFill>
                <a:latin typeface="Inter SemiBold"/>
                <a:ea typeface="Inter SemiBold"/>
                <a:cs typeface="Inter SemiBold"/>
                <a:sym typeface="Inter SemiBold"/>
              </a:rPr>
              <a:t>private VPC subnet</a:t>
            </a:r>
            <a:endParaRPr sz="938">
              <a:solidFill>
                <a:srgbClr val="475569"/>
              </a:solidFill>
              <a:latin typeface="Inter"/>
              <a:ea typeface="Inter"/>
              <a:cs typeface="Inter"/>
              <a:sym typeface="Inter"/>
            </a:endParaRPr>
          </a:p>
          <a:p>
            <a:pPr indent="0" lvl="0" marL="0" rtl="0" algn="l">
              <a:spcBef>
                <a:spcPts val="1050"/>
              </a:spcBef>
              <a:spcAft>
                <a:spcPts val="1050"/>
              </a:spcAft>
              <a:buNone/>
            </a:pPr>
            <a:r>
              <a:rPr b="1" lang="en" sz="938">
                <a:solidFill>
                  <a:srgbClr val="0369A1"/>
                </a:solidFill>
                <a:latin typeface="Inter"/>
                <a:ea typeface="Inter"/>
                <a:cs typeface="Inter"/>
                <a:sym typeface="Inter"/>
              </a:rPr>
              <a:t>■</a:t>
            </a:r>
            <a:r>
              <a:rPr lang="en" sz="938">
                <a:solidFill>
                  <a:srgbClr val="475569"/>
                </a:solidFill>
                <a:latin typeface="Inter"/>
                <a:ea typeface="Inter"/>
                <a:cs typeface="Inter"/>
                <a:sym typeface="Inter"/>
              </a:rPr>
              <a:t> Conducts </a:t>
            </a:r>
            <a:r>
              <a:rPr b="0" lang="en" sz="938">
                <a:solidFill>
                  <a:srgbClr val="0F172A"/>
                </a:solidFill>
                <a:latin typeface="Inter SemiBold"/>
                <a:ea typeface="Inter SemiBold"/>
                <a:cs typeface="Inter SemiBold"/>
                <a:sym typeface="Inter SemiBold"/>
              </a:rPr>
              <a:t>three inline security checks</a:t>
            </a:r>
            <a:r>
              <a:rPr lang="en" sz="938">
                <a:solidFill>
                  <a:srgbClr val="475569"/>
                </a:solidFill>
                <a:latin typeface="Inter"/>
                <a:ea typeface="Inter"/>
                <a:cs typeface="Inter"/>
                <a:sym typeface="Inter"/>
              </a:rPr>
              <a:t> on incoming telemetry</a:t>
            </a:r>
            <a:endParaRPr sz="938">
              <a:solidFill>
                <a:srgbClr val="475569"/>
              </a:solidFill>
              <a:latin typeface="Inter"/>
              <a:ea typeface="Inter"/>
              <a:cs typeface="Inter"/>
              <a:sym typeface="Inter"/>
            </a:endParaRPr>
          </a:p>
        </p:txBody>
      </p:sp>
      <p:sp>
        <p:nvSpPr>
          <p:cNvPr id="128" name="Google Shape;128;p16"/>
          <p:cNvSpPr/>
          <p:nvPr/>
        </p:nvSpPr>
        <p:spPr>
          <a:xfrm>
            <a:off x="6096000" y="2000250"/>
            <a:ext cx="2667000" cy="26670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p:nvPr/>
        </p:nvSpPr>
        <p:spPr>
          <a:xfrm>
            <a:off x="6096000" y="2000250"/>
            <a:ext cx="2667000" cy="381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238875" y="2143125"/>
            <a:ext cx="2381400" cy="24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0F172A"/>
                </a:solidFill>
                <a:latin typeface="Inter SemiBold"/>
                <a:ea typeface="Inter SemiBold"/>
                <a:cs typeface="Inter SemiBold"/>
                <a:sym typeface="Inter SemiBold"/>
              </a:rPr>
              <a:t>03. SageMaker &amp; Closed-Loop</a:t>
            </a:r>
            <a:endParaRPr b="0" sz="1050">
              <a:solidFill>
                <a:srgbClr val="0F172A"/>
              </a:solidFill>
              <a:latin typeface="Inter SemiBold"/>
              <a:ea typeface="Inter SemiBold"/>
              <a:cs typeface="Inter SemiBold"/>
              <a:sym typeface="Inter SemiBold"/>
            </a:endParaRPr>
          </a:p>
          <a:p>
            <a:pPr indent="0" lvl="0" marL="0" rtl="0" algn="l">
              <a:spcBef>
                <a:spcPts val="1125"/>
              </a:spcBef>
              <a:spcAft>
                <a:spcPts val="0"/>
              </a:spcAft>
              <a:buNone/>
            </a:pPr>
            <a:r>
              <a:rPr b="1" lang="en" sz="938">
                <a:solidFill>
                  <a:srgbClr val="0F172A"/>
                </a:solidFill>
                <a:latin typeface="Inter"/>
                <a:ea typeface="Inter"/>
                <a:cs typeface="Inter"/>
                <a:sym typeface="Inter"/>
              </a:rPr>
              <a:t>■</a:t>
            </a:r>
            <a:r>
              <a:rPr lang="en" sz="938">
                <a:solidFill>
                  <a:srgbClr val="475569"/>
                </a:solidFill>
                <a:latin typeface="Inter"/>
                <a:ea typeface="Inter"/>
                <a:cs typeface="Inter"/>
                <a:sym typeface="Inter"/>
              </a:rPr>
              <a:t> Lambda calls SageMaker hosting the trained </a:t>
            </a:r>
            <a:r>
              <a:rPr b="0" lang="en" sz="938">
                <a:solidFill>
                  <a:srgbClr val="0F172A"/>
                </a:solidFill>
                <a:latin typeface="Inter SemiBold"/>
                <a:ea typeface="Inter SemiBold"/>
                <a:cs typeface="Inter SemiBold"/>
                <a:sym typeface="Inter SemiBold"/>
              </a:rPr>
              <a:t>DQN RL agent</a:t>
            </a:r>
            <a:endParaRPr sz="938">
              <a:solidFill>
                <a:srgbClr val="475569"/>
              </a:solidFill>
              <a:latin typeface="Inter"/>
              <a:ea typeface="Inter"/>
              <a:cs typeface="Inter"/>
              <a:sym typeface="Inter"/>
            </a:endParaRPr>
          </a:p>
          <a:p>
            <a:pPr indent="0" lvl="0" marL="0" rtl="0" algn="l">
              <a:spcBef>
                <a:spcPts val="1050"/>
              </a:spcBef>
              <a:spcAft>
                <a:spcPts val="0"/>
              </a:spcAft>
              <a:buNone/>
            </a:pPr>
            <a:r>
              <a:rPr b="1" lang="en" sz="938">
                <a:solidFill>
                  <a:srgbClr val="0F172A"/>
                </a:solidFill>
                <a:latin typeface="Inter"/>
                <a:ea typeface="Inter"/>
                <a:cs typeface="Inter"/>
                <a:sym typeface="Inter"/>
              </a:rPr>
              <a:t>■</a:t>
            </a:r>
            <a:r>
              <a:rPr lang="en" sz="938">
                <a:solidFill>
                  <a:srgbClr val="475569"/>
                </a:solidFill>
                <a:latin typeface="Inter"/>
                <a:ea typeface="Inter"/>
                <a:cs typeface="Inter"/>
                <a:sym typeface="Inter"/>
              </a:rPr>
              <a:t> Closed-loop system recommends </a:t>
            </a:r>
            <a:r>
              <a:rPr b="0" lang="en" sz="938">
                <a:solidFill>
                  <a:srgbClr val="0F172A"/>
                </a:solidFill>
                <a:latin typeface="Inter SemiBold"/>
                <a:ea typeface="Inter SemiBold"/>
                <a:cs typeface="Inter SemiBold"/>
                <a:sym typeface="Inter SemiBold"/>
              </a:rPr>
              <a:t>one of five grid control actions</a:t>
            </a:r>
            <a:endParaRPr sz="938">
              <a:solidFill>
                <a:srgbClr val="475569"/>
              </a:solidFill>
              <a:latin typeface="Inter"/>
              <a:ea typeface="Inter"/>
              <a:cs typeface="Inter"/>
              <a:sym typeface="Inter"/>
            </a:endParaRPr>
          </a:p>
          <a:p>
            <a:pPr indent="0" lvl="0" marL="0" rtl="0" algn="l">
              <a:spcBef>
                <a:spcPts val="1050"/>
              </a:spcBef>
              <a:spcAft>
                <a:spcPts val="1050"/>
              </a:spcAft>
              <a:buNone/>
            </a:pPr>
            <a:r>
              <a:rPr b="1" lang="en" sz="938">
                <a:solidFill>
                  <a:srgbClr val="0F172A"/>
                </a:solidFill>
                <a:latin typeface="Inter"/>
                <a:ea typeface="Inter"/>
                <a:cs typeface="Inter"/>
                <a:sym typeface="Inter"/>
              </a:rPr>
              <a:t>■</a:t>
            </a:r>
            <a:r>
              <a:rPr lang="en" sz="938">
                <a:solidFill>
                  <a:srgbClr val="475569"/>
                </a:solidFill>
                <a:latin typeface="Inter"/>
                <a:ea typeface="Inter"/>
                <a:cs typeface="Inter"/>
                <a:sym typeface="Inter"/>
              </a:rPr>
              <a:t> Action is written to </a:t>
            </a:r>
            <a:r>
              <a:rPr b="0" lang="en" sz="938">
                <a:solidFill>
                  <a:srgbClr val="0F172A"/>
                </a:solidFill>
                <a:latin typeface="Inter SemiBold"/>
                <a:ea typeface="Inter SemiBold"/>
                <a:cs typeface="Inter SemiBold"/>
                <a:sym typeface="Inter SemiBold"/>
              </a:rPr>
              <a:t>IoT Device Shadow</a:t>
            </a:r>
            <a:r>
              <a:rPr lang="en" sz="938">
                <a:solidFill>
                  <a:srgbClr val="475569"/>
                </a:solidFill>
                <a:latin typeface="Inter"/>
                <a:ea typeface="Inter"/>
                <a:cs typeface="Inter"/>
                <a:sym typeface="Inter"/>
              </a:rPr>
              <a:t> &amp; pushed to edge in </a:t>
            </a:r>
            <a:r>
              <a:rPr b="0" lang="en" sz="938">
                <a:solidFill>
                  <a:srgbClr val="0F172A"/>
                </a:solidFill>
                <a:latin typeface="Inter SemiBold"/>
                <a:ea typeface="Inter SemiBold"/>
                <a:cs typeface="Inter SemiBold"/>
                <a:sym typeface="Inter SemiBold"/>
              </a:rPr>
              <a:t>under 1s</a:t>
            </a:r>
            <a:endParaRPr sz="938">
              <a:solidFill>
                <a:srgbClr val="475569"/>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6" name="Google Shape;136;p17"/>
          <p:cNvGrpSpPr/>
          <p:nvPr/>
        </p:nvGrpSpPr>
        <p:grpSpPr>
          <a:xfrm>
            <a:off x="0" y="0"/>
            <a:ext cx="9144000" cy="76350"/>
            <a:chOff x="0" y="0"/>
            <a:chExt cx="9144000" cy="76350"/>
          </a:xfrm>
        </p:grpSpPr>
        <p:sp>
          <p:nvSpPr>
            <p:cNvPr id="137" name="Google Shape;137;p17"/>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7"/>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139" name="Google Shape;139;p17"/>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sp>
        <p:nvSpPr>
          <p:cNvPr id="140" name="Google Shape;140;p17"/>
          <p:cNvSpPr txBox="1"/>
          <p:nvPr/>
        </p:nvSpPr>
        <p:spPr>
          <a:xfrm>
            <a:off x="381000" y="333375"/>
            <a:ext cx="7620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Data Schema and Preprocessing</a:t>
            </a:r>
            <a:endParaRPr b="1" sz="2400">
              <a:solidFill>
                <a:srgbClr val="0F172A"/>
              </a:solidFill>
              <a:latin typeface="Inter"/>
              <a:ea typeface="Inter"/>
              <a:cs typeface="Inter"/>
              <a:sym typeface="Inter"/>
            </a:endParaRPr>
          </a:p>
        </p:txBody>
      </p:sp>
      <p:grpSp>
        <p:nvGrpSpPr>
          <p:cNvPr id="141" name="Google Shape;141;p17"/>
          <p:cNvGrpSpPr/>
          <p:nvPr/>
        </p:nvGrpSpPr>
        <p:grpSpPr>
          <a:xfrm>
            <a:off x="381000" y="1000125"/>
            <a:ext cx="1524000" cy="1762200"/>
            <a:chOff x="381000" y="1000125"/>
            <a:chExt cx="1524000" cy="1762200"/>
          </a:xfrm>
        </p:grpSpPr>
        <p:sp>
          <p:nvSpPr>
            <p:cNvPr id="142" name="Google Shape;142;p17"/>
            <p:cNvSpPr/>
            <p:nvPr/>
          </p:nvSpPr>
          <p:spPr>
            <a:xfrm>
              <a:off x="381000" y="1000125"/>
              <a:ext cx="1524000" cy="17622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7"/>
            <p:cNvSpPr/>
            <p:nvPr/>
          </p:nvSpPr>
          <p:spPr>
            <a:xfrm>
              <a:off x="381000" y="1000125"/>
              <a:ext cx="1524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txBox="1"/>
            <p:nvPr/>
          </p:nvSpPr>
          <p:spPr>
            <a:xfrm>
              <a:off x="523875" y="1143000"/>
              <a:ext cx="12384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voltage_v</a:t>
              </a:r>
              <a:endParaRPr b="0" sz="750">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1125">
                  <a:solidFill>
                    <a:srgbClr val="0F172A"/>
                  </a:solidFill>
                  <a:latin typeface="Inter SemiBold"/>
                  <a:ea typeface="Inter SemiBold"/>
                  <a:cs typeface="Inter SemiBold"/>
                  <a:sym typeface="Inter SemiBold"/>
                </a:rPr>
                <a:t>Voltage</a:t>
              </a:r>
              <a:endParaRPr b="0" sz="1125">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900">
                  <a:solidFill>
                    <a:srgbClr val="0284C7"/>
                  </a:solidFill>
                  <a:latin typeface="Inter SemiBold"/>
                  <a:ea typeface="Inter SemiBold"/>
                  <a:cs typeface="Inter SemiBold"/>
                  <a:sym typeface="Inter SemiBold"/>
                </a:rPr>
                <a:t>400–430 V</a:t>
              </a:r>
              <a:endParaRPr b="0" sz="900">
                <a:solidFill>
                  <a:srgbClr val="0284C7"/>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MinMaxScaler strictly normalizes this raw input to a 0–1 range for DQN model stability.</a:t>
              </a:r>
              <a:endParaRPr b="0" sz="825">
                <a:solidFill>
                  <a:srgbClr val="475569"/>
                </a:solidFill>
                <a:latin typeface="Inter"/>
                <a:ea typeface="Inter"/>
                <a:cs typeface="Inter"/>
                <a:sym typeface="Inter"/>
              </a:endParaRPr>
            </a:p>
          </p:txBody>
        </p:sp>
      </p:grpSp>
      <p:grpSp>
        <p:nvGrpSpPr>
          <p:cNvPr id="145" name="Google Shape;145;p17"/>
          <p:cNvGrpSpPr/>
          <p:nvPr/>
        </p:nvGrpSpPr>
        <p:grpSpPr>
          <a:xfrm>
            <a:off x="2095500" y="1000125"/>
            <a:ext cx="1524000" cy="1762200"/>
            <a:chOff x="2095500" y="1000125"/>
            <a:chExt cx="1524000" cy="1762200"/>
          </a:xfrm>
        </p:grpSpPr>
        <p:sp>
          <p:nvSpPr>
            <p:cNvPr id="146" name="Google Shape;146;p17"/>
            <p:cNvSpPr/>
            <p:nvPr/>
          </p:nvSpPr>
          <p:spPr>
            <a:xfrm>
              <a:off x="2095500" y="1000125"/>
              <a:ext cx="1524000" cy="17622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7"/>
            <p:cNvSpPr/>
            <p:nvPr/>
          </p:nvSpPr>
          <p:spPr>
            <a:xfrm>
              <a:off x="2095500" y="1000125"/>
              <a:ext cx="1524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7"/>
            <p:cNvSpPr txBox="1"/>
            <p:nvPr/>
          </p:nvSpPr>
          <p:spPr>
            <a:xfrm>
              <a:off x="2238375" y="1143000"/>
              <a:ext cx="12384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current_a</a:t>
              </a:r>
              <a:endParaRPr b="0" sz="750">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1125">
                  <a:solidFill>
                    <a:srgbClr val="0F172A"/>
                  </a:solidFill>
                  <a:latin typeface="Inter SemiBold"/>
                  <a:ea typeface="Inter SemiBold"/>
                  <a:cs typeface="Inter SemiBold"/>
                  <a:sym typeface="Inter SemiBold"/>
                </a:rPr>
                <a:t>Current</a:t>
              </a:r>
              <a:endParaRPr b="0" sz="1125">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900">
                  <a:solidFill>
                    <a:srgbClr val="0284C7"/>
                  </a:solidFill>
                  <a:latin typeface="Inter SemiBold"/>
                  <a:ea typeface="Inter SemiBold"/>
                  <a:cs typeface="Inter SemiBold"/>
                  <a:sym typeface="Inter SemiBold"/>
                </a:rPr>
                <a:t>60–100 A</a:t>
              </a:r>
              <a:endParaRPr b="0" sz="900">
                <a:solidFill>
                  <a:srgbClr val="0284C7"/>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Monitors raw active current draw, mapped proportionally to stabilize the network state space.</a:t>
              </a:r>
              <a:endParaRPr b="0" sz="825">
                <a:solidFill>
                  <a:srgbClr val="475569"/>
                </a:solidFill>
                <a:latin typeface="Inter"/>
                <a:ea typeface="Inter"/>
                <a:cs typeface="Inter"/>
                <a:sym typeface="Inter"/>
              </a:endParaRPr>
            </a:p>
          </p:txBody>
        </p:sp>
      </p:grpSp>
      <p:grpSp>
        <p:nvGrpSpPr>
          <p:cNvPr id="149" name="Google Shape;149;p17"/>
          <p:cNvGrpSpPr/>
          <p:nvPr/>
        </p:nvGrpSpPr>
        <p:grpSpPr>
          <a:xfrm>
            <a:off x="3810000" y="1000125"/>
            <a:ext cx="1524000" cy="1762200"/>
            <a:chOff x="3810000" y="1000125"/>
            <a:chExt cx="1524000" cy="1762200"/>
          </a:xfrm>
        </p:grpSpPr>
        <p:sp>
          <p:nvSpPr>
            <p:cNvPr id="150" name="Google Shape;150;p17"/>
            <p:cNvSpPr/>
            <p:nvPr/>
          </p:nvSpPr>
          <p:spPr>
            <a:xfrm>
              <a:off x="3810000" y="1000125"/>
              <a:ext cx="1524000" cy="17622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7"/>
            <p:cNvSpPr/>
            <p:nvPr/>
          </p:nvSpPr>
          <p:spPr>
            <a:xfrm>
              <a:off x="3810000" y="1000125"/>
              <a:ext cx="1524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7"/>
            <p:cNvSpPr txBox="1"/>
            <p:nvPr/>
          </p:nvSpPr>
          <p:spPr>
            <a:xfrm>
              <a:off x="3952875" y="1143000"/>
              <a:ext cx="12384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frequency_hz</a:t>
              </a:r>
              <a:endParaRPr b="0" sz="750">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1125">
                  <a:solidFill>
                    <a:srgbClr val="0F172A"/>
                  </a:solidFill>
                  <a:latin typeface="Inter SemiBold"/>
                  <a:ea typeface="Inter SemiBold"/>
                  <a:cs typeface="Inter SemiBold"/>
                  <a:sym typeface="Inter SemiBold"/>
                </a:rPr>
                <a:t>Frequency</a:t>
              </a:r>
              <a:endParaRPr b="0" sz="1125">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900">
                  <a:solidFill>
                    <a:srgbClr val="0284C7"/>
                  </a:solidFill>
                  <a:latin typeface="Inter SemiBold"/>
                  <a:ea typeface="Inter SemiBold"/>
                  <a:cs typeface="Inter SemiBold"/>
                  <a:sym typeface="Inter SemiBold"/>
                </a:rPr>
                <a:t>49.9–50.1 Hz</a:t>
              </a:r>
              <a:endParaRPr b="0" sz="900">
                <a:solidFill>
                  <a:srgbClr val="0284C7"/>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Captures micro-fluctuations in grid frequency, scaled linearly to match state limits.</a:t>
              </a:r>
              <a:endParaRPr b="0" sz="825">
                <a:solidFill>
                  <a:srgbClr val="475569"/>
                </a:solidFill>
                <a:latin typeface="Inter"/>
                <a:ea typeface="Inter"/>
                <a:cs typeface="Inter"/>
                <a:sym typeface="Inter"/>
              </a:endParaRPr>
            </a:p>
          </p:txBody>
        </p:sp>
      </p:grpSp>
      <p:grpSp>
        <p:nvGrpSpPr>
          <p:cNvPr id="153" name="Google Shape;153;p17"/>
          <p:cNvGrpSpPr/>
          <p:nvPr/>
        </p:nvGrpSpPr>
        <p:grpSpPr>
          <a:xfrm>
            <a:off x="5524500" y="1000125"/>
            <a:ext cx="1524000" cy="1762200"/>
            <a:chOff x="5524500" y="1000125"/>
            <a:chExt cx="1524000" cy="1762200"/>
          </a:xfrm>
        </p:grpSpPr>
        <p:sp>
          <p:nvSpPr>
            <p:cNvPr id="154" name="Google Shape;154;p17"/>
            <p:cNvSpPr/>
            <p:nvPr/>
          </p:nvSpPr>
          <p:spPr>
            <a:xfrm>
              <a:off x="5524500" y="1000125"/>
              <a:ext cx="1524000" cy="17622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7"/>
            <p:cNvSpPr/>
            <p:nvPr/>
          </p:nvSpPr>
          <p:spPr>
            <a:xfrm>
              <a:off x="5524500" y="1000125"/>
              <a:ext cx="1524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7"/>
            <p:cNvSpPr txBox="1"/>
            <p:nvPr/>
          </p:nvSpPr>
          <p:spPr>
            <a:xfrm>
              <a:off x="5667375" y="1143000"/>
              <a:ext cx="12384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temperature_c</a:t>
              </a:r>
              <a:endParaRPr b="0" sz="750">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1125">
                  <a:solidFill>
                    <a:srgbClr val="0F172A"/>
                  </a:solidFill>
                  <a:latin typeface="Inter SemiBold"/>
                  <a:ea typeface="Inter SemiBold"/>
                  <a:cs typeface="Inter SemiBold"/>
                  <a:sym typeface="Inter SemiBold"/>
                </a:rPr>
                <a:t>Temperature</a:t>
              </a:r>
              <a:endParaRPr b="0" sz="1125">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900">
                  <a:solidFill>
                    <a:srgbClr val="0284C7"/>
                  </a:solidFill>
                  <a:latin typeface="Inter SemiBold"/>
                  <a:ea typeface="Inter SemiBold"/>
                  <a:cs typeface="Inter SemiBold"/>
                  <a:sym typeface="Inter SemiBold"/>
                </a:rPr>
                <a:t>30–55 °C</a:t>
              </a:r>
              <a:endParaRPr b="0" sz="900">
                <a:solidFill>
                  <a:srgbClr val="0284C7"/>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Tracks device running temperature, crucial for identifying safety thresholds in training.</a:t>
              </a:r>
              <a:endParaRPr b="0" sz="825">
                <a:solidFill>
                  <a:srgbClr val="475569"/>
                </a:solidFill>
                <a:latin typeface="Inter"/>
                <a:ea typeface="Inter"/>
                <a:cs typeface="Inter"/>
                <a:sym typeface="Inter"/>
              </a:endParaRPr>
            </a:p>
          </p:txBody>
        </p:sp>
      </p:grpSp>
      <p:grpSp>
        <p:nvGrpSpPr>
          <p:cNvPr id="157" name="Google Shape;157;p17"/>
          <p:cNvGrpSpPr/>
          <p:nvPr/>
        </p:nvGrpSpPr>
        <p:grpSpPr>
          <a:xfrm>
            <a:off x="7239000" y="1000125"/>
            <a:ext cx="1524000" cy="1762200"/>
            <a:chOff x="7239000" y="1000125"/>
            <a:chExt cx="1524000" cy="1762200"/>
          </a:xfrm>
        </p:grpSpPr>
        <p:sp>
          <p:nvSpPr>
            <p:cNvPr id="158" name="Google Shape;158;p17"/>
            <p:cNvSpPr/>
            <p:nvPr/>
          </p:nvSpPr>
          <p:spPr>
            <a:xfrm>
              <a:off x="7239000" y="1000125"/>
              <a:ext cx="1524000" cy="17622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p:nvPr/>
          </p:nvSpPr>
          <p:spPr>
            <a:xfrm>
              <a:off x="7239000" y="1000125"/>
              <a:ext cx="1524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7"/>
            <p:cNvSpPr txBox="1"/>
            <p:nvPr/>
          </p:nvSpPr>
          <p:spPr>
            <a:xfrm>
              <a:off x="7381875" y="1143000"/>
              <a:ext cx="12384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power_factor</a:t>
              </a:r>
              <a:endParaRPr b="0" sz="750">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1125">
                  <a:solidFill>
                    <a:srgbClr val="0F172A"/>
                  </a:solidFill>
                  <a:latin typeface="Inter SemiBold"/>
                  <a:ea typeface="Inter SemiBold"/>
                  <a:cs typeface="Inter SemiBold"/>
                  <a:sym typeface="Inter SemiBold"/>
                </a:rPr>
                <a:t>Power Factor</a:t>
              </a:r>
              <a:endParaRPr b="0" sz="1125">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900">
                  <a:solidFill>
                    <a:srgbClr val="0284C7"/>
                  </a:solidFill>
                  <a:latin typeface="Inter SemiBold"/>
                  <a:ea typeface="Inter SemiBold"/>
                  <a:cs typeface="Inter SemiBold"/>
                  <a:sym typeface="Inter SemiBold"/>
                </a:rPr>
                <a:t>0.90–0.99</a:t>
              </a:r>
              <a:endParaRPr b="0" sz="900">
                <a:solidFill>
                  <a:srgbClr val="0284C7"/>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Assesses electrical load efficiency, scaling high-efficiency parameters to top value ranges.</a:t>
              </a:r>
              <a:endParaRPr b="0" sz="825">
                <a:solidFill>
                  <a:srgbClr val="475569"/>
                </a:solidFill>
                <a:latin typeface="Inter"/>
                <a:ea typeface="Inter"/>
                <a:cs typeface="Inter"/>
                <a:sym typeface="Inter"/>
              </a:endParaRPr>
            </a:p>
          </p:txBody>
        </p:sp>
      </p:grpSp>
      <p:grpSp>
        <p:nvGrpSpPr>
          <p:cNvPr id="161" name="Google Shape;161;p17"/>
          <p:cNvGrpSpPr/>
          <p:nvPr/>
        </p:nvGrpSpPr>
        <p:grpSpPr>
          <a:xfrm>
            <a:off x="381000" y="3000375"/>
            <a:ext cx="4191000" cy="1762200"/>
            <a:chOff x="381000" y="3000375"/>
            <a:chExt cx="4191000" cy="1762200"/>
          </a:xfrm>
        </p:grpSpPr>
        <p:sp>
          <p:nvSpPr>
            <p:cNvPr id="162" name="Google Shape;162;p17"/>
            <p:cNvSpPr/>
            <p:nvPr/>
          </p:nvSpPr>
          <p:spPr>
            <a:xfrm>
              <a:off x="381000" y="3000375"/>
              <a:ext cx="4191000" cy="17622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7"/>
            <p:cNvSpPr/>
            <p:nvPr/>
          </p:nvSpPr>
          <p:spPr>
            <a:xfrm>
              <a:off x="381000" y="3000375"/>
              <a:ext cx="38100" cy="1762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txBox="1"/>
            <p:nvPr/>
          </p:nvSpPr>
          <p:spPr>
            <a:xfrm>
              <a:off x="523875" y="3095625"/>
              <a:ext cx="39054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MQTT JSON Payload Structure</a:t>
              </a:r>
              <a:endParaRPr b="0" sz="750">
                <a:solidFill>
                  <a:srgbClr val="0369A1"/>
                </a:solidFill>
                <a:latin typeface="Inter SemiBold"/>
                <a:ea typeface="Inter SemiBold"/>
                <a:cs typeface="Inter SemiBold"/>
                <a:sym typeface="Inter SemiBold"/>
              </a:endParaRPr>
            </a:p>
            <a:p>
              <a:pPr indent="0" lvl="0" marL="0" rtl="0" algn="l">
                <a:spcBef>
                  <a:spcPts val="600"/>
                </a:spcBef>
                <a:spcAft>
                  <a:spcPts val="0"/>
                </a:spcAft>
                <a:buNone/>
              </a:pPr>
              <a:r>
                <a:rPr lang="en" sz="825">
                  <a:solidFill>
                    <a:srgbClr val="0F172A"/>
                  </a:solidFill>
                  <a:highlight>
                    <a:srgbClr val="F1F5F9"/>
                  </a:highlight>
                  <a:latin typeface="Courier New"/>
                  <a:ea typeface="Courier New"/>
                  <a:cs typeface="Courier New"/>
                  <a:sym typeface="Courier New"/>
                </a:rPr>
                <a:t>{</a:t>
              </a:r>
              <a:endParaRPr sz="825">
                <a:solidFill>
                  <a:srgbClr val="0F172A"/>
                </a:solidFill>
                <a:highlight>
                  <a:srgbClr val="F1F5F9"/>
                </a:highlight>
                <a:latin typeface="Courier New"/>
                <a:ea typeface="Courier New"/>
                <a:cs typeface="Courier New"/>
                <a:sym typeface="Courier New"/>
              </a:endParaRPr>
            </a:p>
            <a:p>
              <a:pPr indent="0" lvl="0" marL="142875" marR="0" rtl="0" algn="l">
                <a:spcBef>
                  <a:spcPts val="0"/>
                </a:spcBef>
                <a:spcAft>
                  <a:spcPts val="0"/>
                </a:spcAft>
                <a:buNone/>
              </a:pPr>
              <a:r>
                <a:rPr lang="en" sz="825">
                  <a:solidFill>
                    <a:srgbClr val="0F172A"/>
                  </a:solidFill>
                  <a:highlight>
                    <a:srgbClr val="F1F5F9"/>
                  </a:highlight>
                  <a:latin typeface="Courier New"/>
                  <a:ea typeface="Courier New"/>
                  <a:cs typeface="Courier New"/>
                  <a:sym typeface="Courier New"/>
                </a:rPr>
                <a:t>"device_id": "sensor_node_west_14",</a:t>
              </a:r>
              <a:endParaRPr sz="825">
                <a:solidFill>
                  <a:srgbClr val="0F172A"/>
                </a:solidFill>
                <a:highlight>
                  <a:srgbClr val="F1F5F9"/>
                </a:highlight>
                <a:latin typeface="Courier New"/>
                <a:ea typeface="Courier New"/>
                <a:cs typeface="Courier New"/>
                <a:sym typeface="Courier New"/>
              </a:endParaRPr>
            </a:p>
            <a:p>
              <a:pPr indent="0" lvl="0" marL="142875" marR="0" rtl="0" algn="l">
                <a:spcBef>
                  <a:spcPts val="0"/>
                </a:spcBef>
                <a:spcAft>
                  <a:spcPts val="0"/>
                </a:spcAft>
                <a:buNone/>
              </a:pPr>
              <a:r>
                <a:rPr lang="en" sz="825">
                  <a:solidFill>
                    <a:srgbClr val="0F172A"/>
                  </a:solidFill>
                  <a:highlight>
                    <a:srgbClr val="F1F5F9"/>
                  </a:highlight>
                  <a:latin typeface="Courier New"/>
                  <a:ea typeface="Courier New"/>
                  <a:cs typeface="Courier New"/>
                  <a:sym typeface="Courier New"/>
                </a:rPr>
                <a:t>"timestamp": 1785979788,</a:t>
              </a:r>
              <a:endParaRPr sz="825">
                <a:solidFill>
                  <a:srgbClr val="0F172A"/>
                </a:solidFill>
                <a:highlight>
                  <a:srgbClr val="F1F5F9"/>
                </a:highlight>
                <a:latin typeface="Courier New"/>
                <a:ea typeface="Courier New"/>
                <a:cs typeface="Courier New"/>
                <a:sym typeface="Courier New"/>
              </a:endParaRPr>
            </a:p>
            <a:p>
              <a:pPr indent="0" lvl="0" marL="142875" marR="0" rtl="0" algn="l">
                <a:spcBef>
                  <a:spcPts val="0"/>
                </a:spcBef>
                <a:spcAft>
                  <a:spcPts val="0"/>
                </a:spcAft>
                <a:buNone/>
              </a:pPr>
              <a:r>
                <a:rPr lang="en" sz="825">
                  <a:solidFill>
                    <a:srgbClr val="0F172A"/>
                  </a:solidFill>
                  <a:highlight>
                    <a:srgbClr val="F1F5F9"/>
                  </a:highlight>
                  <a:latin typeface="Courier New"/>
                  <a:ea typeface="Courier New"/>
                  <a:cs typeface="Courier New"/>
                  <a:sym typeface="Courier New"/>
                </a:rPr>
                <a:t>"sequence_no": 9481,</a:t>
              </a:r>
              <a:endParaRPr sz="825">
                <a:solidFill>
                  <a:srgbClr val="0F172A"/>
                </a:solidFill>
                <a:highlight>
                  <a:srgbClr val="F1F5F9"/>
                </a:highlight>
                <a:latin typeface="Courier New"/>
                <a:ea typeface="Courier New"/>
                <a:cs typeface="Courier New"/>
                <a:sym typeface="Courier New"/>
              </a:endParaRPr>
            </a:p>
            <a:p>
              <a:pPr indent="0" lvl="0" marL="142875" marR="0" rtl="0" algn="l">
                <a:spcBef>
                  <a:spcPts val="0"/>
                </a:spcBef>
                <a:spcAft>
                  <a:spcPts val="0"/>
                </a:spcAft>
                <a:buNone/>
              </a:pPr>
              <a:r>
                <a:rPr lang="en" sz="825">
                  <a:solidFill>
                    <a:srgbClr val="0F172A"/>
                  </a:solidFill>
                  <a:highlight>
                    <a:srgbClr val="F1F5F9"/>
                  </a:highlight>
                  <a:latin typeface="Courier New"/>
                  <a:ea typeface="Courier New"/>
                  <a:cs typeface="Courier New"/>
                  <a:sym typeface="Courier New"/>
                </a:rPr>
                <a:t>"nonce": "e391b0f4a7c1",</a:t>
              </a:r>
              <a:endParaRPr sz="825">
                <a:solidFill>
                  <a:srgbClr val="0F172A"/>
                </a:solidFill>
                <a:highlight>
                  <a:srgbClr val="F1F5F9"/>
                </a:highlight>
                <a:latin typeface="Courier New"/>
                <a:ea typeface="Courier New"/>
                <a:cs typeface="Courier New"/>
                <a:sym typeface="Courier New"/>
              </a:endParaRPr>
            </a:p>
            <a:p>
              <a:pPr indent="0" lvl="0" marL="142875" marR="0" rtl="0" algn="l">
                <a:spcBef>
                  <a:spcPts val="0"/>
                </a:spcBef>
                <a:spcAft>
                  <a:spcPts val="0"/>
                </a:spcAft>
                <a:buNone/>
              </a:pPr>
              <a:r>
                <a:rPr lang="en" sz="825">
                  <a:solidFill>
                    <a:srgbClr val="0F172A"/>
                  </a:solidFill>
                  <a:highlight>
                    <a:srgbClr val="F1F5F9"/>
                  </a:highlight>
                  <a:latin typeface="Courier New"/>
                  <a:ea typeface="Courier New"/>
                  <a:cs typeface="Courier New"/>
                  <a:sym typeface="Courier New"/>
                </a:rPr>
                <a:t>"metrics": [0.45, 0.12, 0.50, 0.80, 0.95],</a:t>
              </a:r>
              <a:endParaRPr sz="825">
                <a:solidFill>
                  <a:srgbClr val="0F172A"/>
                </a:solidFill>
                <a:highlight>
                  <a:srgbClr val="F1F5F9"/>
                </a:highlight>
                <a:latin typeface="Courier New"/>
                <a:ea typeface="Courier New"/>
                <a:cs typeface="Courier New"/>
                <a:sym typeface="Courier New"/>
              </a:endParaRPr>
            </a:p>
            <a:p>
              <a:pPr indent="0" lvl="0" marL="142875" marR="0" rtl="0" algn="l">
                <a:spcBef>
                  <a:spcPts val="0"/>
                </a:spcBef>
                <a:spcAft>
                  <a:spcPts val="0"/>
                </a:spcAft>
                <a:buNone/>
              </a:pPr>
              <a:r>
                <a:rPr lang="en" sz="825">
                  <a:solidFill>
                    <a:srgbClr val="0F172A"/>
                  </a:solidFill>
                  <a:highlight>
                    <a:srgbClr val="F1F5F9"/>
                  </a:highlight>
                  <a:latin typeface="Courier New"/>
                  <a:ea typeface="Courier New"/>
                  <a:cs typeface="Courier New"/>
                  <a:sym typeface="Courier New"/>
                </a:rPr>
                <a:t>"hmac_sha256": "7a3f5c9e1b2d8f6c92e..."</a:t>
              </a:r>
              <a:endParaRPr sz="825">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lang="en" sz="825">
                  <a:solidFill>
                    <a:srgbClr val="0F172A"/>
                  </a:solidFill>
                  <a:highlight>
                    <a:srgbClr val="F1F5F9"/>
                  </a:highlight>
                  <a:latin typeface="Courier New"/>
                  <a:ea typeface="Courier New"/>
                  <a:cs typeface="Courier New"/>
                  <a:sym typeface="Courier New"/>
                </a:rPr>
                <a:t>}</a:t>
              </a:r>
              <a:endParaRPr sz="825">
                <a:solidFill>
                  <a:srgbClr val="0F172A"/>
                </a:solidFill>
                <a:highlight>
                  <a:srgbClr val="F1F5F9"/>
                </a:highlight>
                <a:latin typeface="Courier New"/>
                <a:ea typeface="Courier New"/>
                <a:cs typeface="Courier New"/>
                <a:sym typeface="Courier New"/>
              </a:endParaRPr>
            </a:p>
          </p:txBody>
        </p:sp>
      </p:grpSp>
      <p:grpSp>
        <p:nvGrpSpPr>
          <p:cNvPr id="165" name="Google Shape;165;p17"/>
          <p:cNvGrpSpPr/>
          <p:nvPr/>
        </p:nvGrpSpPr>
        <p:grpSpPr>
          <a:xfrm>
            <a:off x="4762500" y="3000375"/>
            <a:ext cx="4000500" cy="1762200"/>
            <a:chOff x="4762500" y="3000375"/>
            <a:chExt cx="4000500" cy="1762200"/>
          </a:xfrm>
        </p:grpSpPr>
        <p:sp>
          <p:nvSpPr>
            <p:cNvPr id="166" name="Google Shape;166;p17"/>
            <p:cNvSpPr/>
            <p:nvPr/>
          </p:nvSpPr>
          <p:spPr>
            <a:xfrm>
              <a:off x="4762500" y="3000375"/>
              <a:ext cx="4000500" cy="17622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7"/>
            <p:cNvSpPr/>
            <p:nvPr/>
          </p:nvSpPr>
          <p:spPr>
            <a:xfrm>
              <a:off x="4762500" y="3000375"/>
              <a:ext cx="38100" cy="17622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txBox="1"/>
            <p:nvPr/>
          </p:nvSpPr>
          <p:spPr>
            <a:xfrm>
              <a:off x="4905375" y="3095625"/>
              <a:ext cx="37149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10B981"/>
                  </a:solidFill>
                  <a:latin typeface="Inter SemiBold"/>
                  <a:ea typeface="Inter SemiBold"/>
                  <a:cs typeface="Inter SemiBold"/>
                  <a:sym typeface="Inter SemiBold"/>
                </a:rPr>
                <a:t>Payload Integrity &amp; Security</a:t>
              </a:r>
              <a:endParaRPr b="0" sz="750">
                <a:solidFill>
                  <a:srgbClr val="10B981"/>
                </a:solidFill>
                <a:latin typeface="Inter SemiBold"/>
                <a:ea typeface="Inter SemiBold"/>
                <a:cs typeface="Inter SemiBold"/>
                <a:sym typeface="Inter SemiBold"/>
              </a:endParaRPr>
            </a:p>
            <a:p>
              <a:pPr indent="0" lvl="0" marL="0" rtl="0" algn="l">
                <a:spcBef>
                  <a:spcPts val="450"/>
                </a:spcBef>
                <a:spcAft>
                  <a:spcPts val="0"/>
                </a:spcAft>
                <a:buNone/>
              </a:pPr>
              <a:r>
                <a:rPr b="0" lang="en" sz="1125">
                  <a:solidFill>
                    <a:srgbClr val="0F172A"/>
                  </a:solidFill>
                  <a:latin typeface="Inter SemiBold"/>
                  <a:ea typeface="Inter SemiBold"/>
                  <a:cs typeface="Inter SemiBold"/>
                  <a:sym typeface="Inter SemiBold"/>
                </a:rPr>
                <a:t>Secure Transit Safeguards</a:t>
              </a:r>
              <a:endParaRPr b="0" sz="1125">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900">
                  <a:solidFill>
                    <a:srgbClr val="475569"/>
                  </a:solidFill>
                  <a:latin typeface="Inter"/>
                  <a:ea typeface="Inter"/>
                  <a:cs typeface="Inter"/>
                  <a:sym typeface="Inter"/>
                </a:rPr>
                <a:t>Each transmission bundles the </a:t>
              </a:r>
              <a:r>
                <a:rPr b="1" lang="en" sz="900">
                  <a:solidFill>
                    <a:srgbClr val="475569"/>
                  </a:solidFill>
                  <a:latin typeface="Inter"/>
                  <a:ea typeface="Inter"/>
                  <a:cs typeface="Inter"/>
                  <a:sym typeface="Inter"/>
                </a:rPr>
                <a:t>five normalized sensor fields</a:t>
              </a:r>
              <a:r>
                <a:rPr b="0" lang="en" sz="900">
                  <a:solidFill>
                    <a:srgbClr val="475569"/>
                  </a:solidFill>
                  <a:latin typeface="Inter"/>
                  <a:ea typeface="Inter"/>
                  <a:cs typeface="Inter"/>
                  <a:sym typeface="Inter"/>
                </a:rPr>
                <a:t> alongside critical anti-tampering parameters. Incorporating a unique </a:t>
              </a:r>
              <a:r>
                <a:rPr b="1" lang="en" sz="900">
                  <a:solidFill>
                    <a:srgbClr val="475569"/>
                  </a:solidFill>
                  <a:latin typeface="Inter"/>
                  <a:ea typeface="Inter"/>
                  <a:cs typeface="Inter"/>
                  <a:sym typeface="Inter"/>
                </a:rPr>
                <a:t>sequence number</a:t>
              </a:r>
              <a:r>
                <a:rPr b="0" lang="en" sz="900">
                  <a:solidFill>
                    <a:srgbClr val="475569"/>
                  </a:solidFill>
                  <a:latin typeface="Inter"/>
                  <a:ea typeface="Inter"/>
                  <a:cs typeface="Inter"/>
                  <a:sym typeface="Inter"/>
                </a:rPr>
                <a:t> and a one-time </a:t>
              </a:r>
              <a:r>
                <a:rPr b="1" lang="en" sz="900">
                  <a:solidFill>
                    <a:srgbClr val="475569"/>
                  </a:solidFill>
                  <a:latin typeface="Inter"/>
                  <a:ea typeface="Inter"/>
                  <a:cs typeface="Inter"/>
                  <a:sym typeface="Inter"/>
                </a:rPr>
                <a:t>nonce</a:t>
              </a:r>
              <a:r>
                <a:rPr b="0" lang="en" sz="900">
                  <a:solidFill>
                    <a:srgbClr val="475569"/>
                  </a:solidFill>
                  <a:latin typeface="Inter"/>
                  <a:ea typeface="Inter"/>
                  <a:cs typeface="Inter"/>
                  <a:sym typeface="Inter"/>
                </a:rPr>
                <a:t> miti</a:t>
              </a:r>
              <a:r>
                <a:rPr lang="en" sz="900">
                  <a:solidFill>
                    <a:srgbClr val="475569"/>
                  </a:solidFill>
                  <a:latin typeface="Inter"/>
                  <a:ea typeface="Inter"/>
                  <a:cs typeface="Inter"/>
                  <a:sym typeface="Inter"/>
                </a:rPr>
                <a:t>Layers</a:t>
              </a:r>
              <a:r>
                <a:rPr b="0" lang="en" sz="900">
                  <a:solidFill>
                    <a:srgbClr val="475569"/>
                  </a:solidFill>
                  <a:latin typeface="Inter"/>
                  <a:ea typeface="Inter"/>
                  <a:cs typeface="Inter"/>
                  <a:sym typeface="Inter"/>
                </a:rPr>
                <a:t>s risk against active replay attacks in standard production.</a:t>
              </a:r>
              <a:endParaRPr b="0" sz="900">
                <a:solidFill>
                  <a:srgbClr val="475569"/>
                </a:solidFill>
                <a:latin typeface="Inter"/>
                <a:ea typeface="Inter"/>
                <a:cs typeface="Inter"/>
                <a:sym typeface="Inter"/>
              </a:endParaRPr>
            </a:p>
            <a:p>
              <a:pPr indent="0" lvl="0" marL="0" rtl="0" algn="l">
                <a:spcBef>
                  <a:spcPts val="600"/>
                </a:spcBef>
                <a:spcAft>
                  <a:spcPts val="0"/>
                </a:spcAft>
                <a:buNone/>
              </a:pPr>
              <a:r>
                <a:rPr b="0" lang="en" sz="900">
                  <a:solidFill>
                    <a:srgbClr val="475569"/>
                  </a:solidFill>
                  <a:latin typeface="Inter"/>
                  <a:ea typeface="Inter"/>
                  <a:cs typeface="Inter"/>
                  <a:sym typeface="Inter"/>
                </a:rPr>
                <a:t>The payload is sealed with a robust </a:t>
              </a:r>
              <a:r>
                <a:rPr b="1" lang="en" sz="900">
                  <a:solidFill>
                    <a:srgbClr val="475569"/>
                  </a:solidFill>
                  <a:latin typeface="Inter"/>
                  <a:ea typeface="Inter"/>
                  <a:cs typeface="Inter"/>
                  <a:sym typeface="Inter"/>
                </a:rPr>
                <a:t>HMAC-SHA256 signature</a:t>
              </a:r>
              <a:r>
                <a:rPr b="0" lang="en" sz="900">
                  <a:solidFill>
                    <a:srgbClr val="475569"/>
                  </a:solidFill>
                  <a:latin typeface="Inter"/>
                  <a:ea typeface="Inter"/>
                  <a:cs typeface="Inter"/>
                  <a:sym typeface="Inter"/>
                </a:rPr>
                <a:t>, assuring absolute end-to-end data integrity from edge sensor deployment straight to MLOps databases.</a:t>
              </a:r>
              <a:endParaRPr b="0" sz="900">
                <a:solidFill>
                  <a:srgbClr val="475569"/>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4" name="Google Shape;174;p18"/>
          <p:cNvGrpSpPr/>
          <p:nvPr/>
        </p:nvGrpSpPr>
        <p:grpSpPr>
          <a:xfrm>
            <a:off x="0" y="0"/>
            <a:ext cx="9144000" cy="76350"/>
            <a:chOff x="0" y="0"/>
            <a:chExt cx="9144000" cy="76350"/>
          </a:xfrm>
        </p:grpSpPr>
        <p:sp>
          <p:nvSpPr>
            <p:cNvPr id="175" name="Google Shape;175;p18"/>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8"/>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177" name="Google Shape;177;p18"/>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sp>
        <p:nvSpPr>
          <p:cNvPr id="178" name="Google Shape;178;p18"/>
          <p:cNvSpPr txBox="1"/>
          <p:nvPr/>
        </p:nvSpPr>
        <p:spPr>
          <a:xfrm>
            <a:off x="381000" y="3810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DQN RL Model &amp; Actions</a:t>
            </a:r>
            <a:endParaRPr b="1" sz="2400">
              <a:solidFill>
                <a:srgbClr val="0F172A"/>
              </a:solidFill>
              <a:latin typeface="Inter"/>
              <a:ea typeface="Inter"/>
              <a:cs typeface="Inter"/>
              <a:sym typeface="Inter"/>
            </a:endParaRPr>
          </a:p>
        </p:txBody>
      </p:sp>
      <p:sp>
        <p:nvSpPr>
          <p:cNvPr id="179" name="Google Shape;179;p18"/>
          <p:cNvSpPr txBox="1"/>
          <p:nvPr/>
        </p:nvSpPr>
        <p:spPr>
          <a:xfrm>
            <a:off x="381000" y="1143000"/>
            <a:ext cx="4857900" cy="3619500"/>
          </a:xfrm>
          <a:prstGeom prst="rect">
            <a:avLst/>
          </a:prstGeom>
          <a:noFill/>
          <a:ln>
            <a:noFill/>
          </a:ln>
        </p:spPr>
        <p:txBody>
          <a:bodyPr anchorCtr="0" anchor="t" bIns="0" lIns="0" spcFirstLastPara="1" rIns="0" wrap="square" tIns="0">
            <a:noAutofit/>
          </a:bodyPr>
          <a:lstStyle/>
          <a:p>
            <a:pPr indent="0" lvl="0" marL="457200" rtl="0" algn="l">
              <a:spcBef>
                <a:spcPts val="0"/>
              </a:spcBef>
              <a:spcAft>
                <a:spcPts val="0"/>
              </a:spcAft>
              <a:buNone/>
            </a:pPr>
            <a:r>
              <a:rPr b="0" lang="en" sz="1100">
                <a:solidFill>
                  <a:srgbClr val="0284C7"/>
                </a:solidFill>
                <a:latin typeface="Inter SemiBold"/>
                <a:ea typeface="Inter SemiBold"/>
                <a:cs typeface="Inter SemiBold"/>
                <a:sym typeface="Inter SemiBold"/>
              </a:rPr>
              <a:t>Network Architecture</a:t>
            </a:r>
            <a:endParaRPr b="0" sz="1100">
              <a:solidFill>
                <a:srgbClr val="0284C7"/>
              </a:solidFill>
              <a:latin typeface="Inter SemiBold"/>
              <a:ea typeface="Inter SemiBold"/>
              <a:cs typeface="Inter SemiBold"/>
              <a:sym typeface="Inter SemiBold"/>
            </a:endParaRPr>
          </a:p>
          <a:p>
            <a:pPr indent="0" lvl="0" marL="457200" rtl="0" algn="l">
              <a:spcBef>
                <a:spcPts val="750"/>
              </a:spcBef>
              <a:spcAft>
                <a:spcPts val="0"/>
              </a:spcAft>
              <a:buNone/>
            </a:pPr>
            <a:r>
              <a:rPr b="0" lang="en" sz="950">
                <a:solidFill>
                  <a:srgbClr val="475569"/>
                </a:solidFill>
                <a:latin typeface="Inter"/>
                <a:ea typeface="Inter"/>
                <a:cs typeface="Inter"/>
                <a:sym typeface="Inter"/>
              </a:rPr>
              <a:t>The Deep Q-Network utilizes a fully connected architecture with ReLU activations. It progresses from </a:t>
            </a:r>
            <a:r>
              <a:rPr b="0" lang="en" sz="950">
                <a:solidFill>
                  <a:srgbClr val="0F172A"/>
                </a:solidFill>
                <a:latin typeface="Inter SemiBold"/>
                <a:ea typeface="Inter SemiBold"/>
                <a:cs typeface="Inter SemiBold"/>
                <a:sym typeface="Inter SemiBold"/>
              </a:rPr>
              <a:t>5 inputs</a:t>
            </a:r>
            <a:r>
              <a:rPr b="0" lang="en" sz="950">
                <a:solidFill>
                  <a:srgbClr val="475569"/>
                </a:solidFill>
                <a:latin typeface="Inter"/>
                <a:ea typeface="Inter"/>
                <a:cs typeface="Inter"/>
                <a:sym typeface="Inter"/>
              </a:rPr>
              <a:t> (normalized sensor readings) to a </a:t>
            </a:r>
            <a:r>
              <a:rPr b="0" lang="en" sz="950">
                <a:solidFill>
                  <a:srgbClr val="0F172A"/>
                </a:solidFill>
                <a:latin typeface="Inter SemiBold"/>
                <a:ea typeface="Inter SemiBold"/>
                <a:cs typeface="Inter SemiBold"/>
                <a:sym typeface="Inter SemiBold"/>
              </a:rPr>
              <a:t>128-node hidden layer</a:t>
            </a:r>
            <a:r>
              <a:rPr b="0" lang="en" sz="950">
                <a:solidFill>
                  <a:srgbClr val="475569"/>
                </a:solidFill>
                <a:latin typeface="Inter"/>
                <a:ea typeface="Inter"/>
                <a:cs typeface="Inter"/>
                <a:sym typeface="Inter"/>
              </a:rPr>
              <a:t>, a </a:t>
            </a:r>
            <a:r>
              <a:rPr b="0" lang="en" sz="950">
                <a:solidFill>
                  <a:srgbClr val="0F172A"/>
                </a:solidFill>
                <a:latin typeface="Inter SemiBold"/>
                <a:ea typeface="Inter SemiBold"/>
                <a:cs typeface="Inter SemiBold"/>
                <a:sym typeface="Inter SemiBold"/>
              </a:rPr>
              <a:t>64-node hidden layer</a:t>
            </a:r>
            <a:r>
              <a:rPr b="0" lang="en" sz="950">
                <a:solidFill>
                  <a:srgbClr val="475569"/>
                </a:solidFill>
                <a:latin typeface="Inter"/>
                <a:ea typeface="Inter"/>
                <a:cs typeface="Inter"/>
                <a:sym typeface="Inter"/>
              </a:rPr>
              <a:t>, and </a:t>
            </a:r>
            <a:r>
              <a:rPr b="0" lang="en" sz="950">
                <a:solidFill>
                  <a:srgbClr val="0F172A"/>
                </a:solidFill>
                <a:latin typeface="Inter SemiBold"/>
                <a:ea typeface="Inter SemiBold"/>
                <a:cs typeface="Inter SemiBold"/>
                <a:sym typeface="Inter SemiBold"/>
              </a:rPr>
              <a:t>5 outputs</a:t>
            </a:r>
            <a:r>
              <a:rPr b="0" lang="en" sz="950">
                <a:solidFill>
                  <a:srgbClr val="475569"/>
                </a:solidFill>
                <a:latin typeface="Inter"/>
                <a:ea typeface="Inter"/>
                <a:cs typeface="Inter"/>
                <a:sym typeface="Inter"/>
              </a:rPr>
              <a:t> containing action Q-values.</a:t>
            </a:r>
            <a:endParaRPr b="0" sz="950">
              <a:solidFill>
                <a:srgbClr val="475569"/>
              </a:solidFill>
              <a:latin typeface="Inter"/>
              <a:ea typeface="Inter"/>
              <a:cs typeface="Inter"/>
              <a:sym typeface="Inter"/>
            </a:endParaRPr>
          </a:p>
          <a:p>
            <a:pPr indent="0" lvl="0" marL="457200" rtl="0" algn="l">
              <a:spcBef>
                <a:spcPts val="1350"/>
              </a:spcBef>
              <a:spcAft>
                <a:spcPts val="0"/>
              </a:spcAft>
              <a:buNone/>
            </a:pPr>
            <a:r>
              <a:rPr b="0" lang="en" sz="1100">
                <a:solidFill>
                  <a:srgbClr val="0284C7"/>
                </a:solidFill>
                <a:latin typeface="Inter SemiBold"/>
                <a:ea typeface="Inter SemiBold"/>
                <a:cs typeface="Inter SemiBold"/>
                <a:sym typeface="Inter SemiBold"/>
              </a:rPr>
              <a:t>Action Selection Policy</a:t>
            </a:r>
            <a:endParaRPr b="0" sz="1100">
              <a:solidFill>
                <a:srgbClr val="0284C7"/>
              </a:solidFill>
              <a:latin typeface="Inter SemiBold"/>
              <a:ea typeface="Inter SemiBold"/>
              <a:cs typeface="Inter SemiBold"/>
              <a:sym typeface="Inter SemiBold"/>
            </a:endParaRPr>
          </a:p>
          <a:p>
            <a:pPr indent="0" lvl="0" marL="457200" rtl="0" algn="l">
              <a:spcBef>
                <a:spcPts val="750"/>
              </a:spcBef>
              <a:spcAft>
                <a:spcPts val="0"/>
              </a:spcAft>
              <a:buNone/>
            </a:pPr>
            <a:r>
              <a:rPr b="0" lang="en" sz="950">
                <a:solidFill>
                  <a:srgbClr val="475569"/>
                </a:solidFill>
                <a:latin typeface="Inter"/>
                <a:ea typeface="Inter"/>
                <a:cs typeface="Inter"/>
                <a:sym typeface="Inter"/>
              </a:rPr>
              <a:t>The agent ingests the readings and selects the action with the highest Q-value:</a:t>
            </a:r>
            <a:endParaRPr b="0" sz="950">
              <a:solidFill>
                <a:srgbClr val="475569"/>
              </a:solidFill>
              <a:latin typeface="Inter"/>
              <a:ea typeface="Inter"/>
              <a:cs typeface="Inter"/>
              <a:sym typeface="Inter"/>
            </a:endParaRPr>
          </a:p>
          <a:p>
            <a:pPr indent="0" lvl="0" marL="457200" rtl="0" algn="l">
              <a:spcBef>
                <a:spcPts val="900"/>
              </a:spcBef>
              <a:spcAft>
                <a:spcPts val="0"/>
              </a:spcAft>
              <a:buNone/>
            </a:pPr>
            <a:r>
              <a:rPr b="0" lang="en" sz="950">
                <a:solidFill>
                  <a:srgbClr val="0284C7"/>
                </a:solidFill>
                <a:latin typeface="Inter SemiBold"/>
                <a:ea typeface="Inter SemiBold"/>
                <a:cs typeface="Inter SemiBold"/>
                <a:sym typeface="Inter SemiBold"/>
              </a:rPr>
              <a:t>Action 0 (No Action):</a:t>
            </a:r>
            <a:r>
              <a:rPr lang="en" sz="950">
                <a:solidFill>
                  <a:srgbClr val="475569"/>
                </a:solidFill>
                <a:latin typeface="Inter"/>
                <a:ea typeface="Inter"/>
                <a:cs typeface="Inter"/>
                <a:sym typeface="Inter"/>
              </a:rPr>
              <a:t> Selected during stable operational conditions.</a:t>
            </a:r>
            <a:endParaRPr sz="950">
              <a:solidFill>
                <a:srgbClr val="475569"/>
              </a:solidFill>
              <a:latin typeface="Inter"/>
              <a:ea typeface="Inter"/>
              <a:cs typeface="Inter"/>
              <a:sym typeface="Inter"/>
            </a:endParaRPr>
          </a:p>
          <a:p>
            <a:pPr indent="0" lvl="0" marL="457200" rtl="0" algn="l">
              <a:spcBef>
                <a:spcPts val="750"/>
              </a:spcBef>
              <a:spcAft>
                <a:spcPts val="0"/>
              </a:spcAft>
              <a:buNone/>
            </a:pPr>
            <a:r>
              <a:rPr b="0" lang="en" sz="950">
                <a:solidFill>
                  <a:srgbClr val="0284C7"/>
                </a:solidFill>
                <a:latin typeface="Inter SemiBold"/>
                <a:ea typeface="Inter SemiBold"/>
                <a:cs typeface="Inter SemiBold"/>
                <a:sym typeface="Inter SemiBold"/>
              </a:rPr>
              <a:t>Action 1 (Shed Load):</a:t>
            </a:r>
            <a:r>
              <a:rPr lang="en" sz="950">
                <a:solidFill>
                  <a:srgbClr val="475569"/>
                </a:solidFill>
                <a:latin typeface="Inter"/>
                <a:ea typeface="Inter"/>
                <a:cs typeface="Inter"/>
                <a:sym typeface="Inter"/>
              </a:rPr>
              <a:t> Enacted immediately to miti</a:t>
            </a:r>
            <a:r>
              <a:rPr lang="en" sz="950">
                <a:solidFill>
                  <a:srgbClr val="475569"/>
                </a:solidFill>
                <a:latin typeface="Inter"/>
                <a:ea typeface="Inter"/>
                <a:cs typeface="Inter"/>
                <a:sym typeface="Inter"/>
              </a:rPr>
              <a:t>Layers</a:t>
            </a:r>
            <a:r>
              <a:rPr lang="en" sz="950">
                <a:solidFill>
                  <a:srgbClr val="475569"/>
                </a:solidFill>
                <a:latin typeface="Inter"/>
                <a:ea typeface="Inter"/>
                <a:cs typeface="Inter"/>
                <a:sym typeface="Inter"/>
              </a:rPr>
              <a:t> overcurrent.</a:t>
            </a:r>
            <a:endParaRPr sz="950">
              <a:solidFill>
                <a:srgbClr val="475569"/>
              </a:solidFill>
              <a:latin typeface="Inter"/>
              <a:ea typeface="Inter"/>
              <a:cs typeface="Inter"/>
              <a:sym typeface="Inter"/>
            </a:endParaRPr>
          </a:p>
          <a:p>
            <a:pPr indent="0" lvl="0" marL="457200" rtl="0" algn="l">
              <a:spcBef>
                <a:spcPts val="750"/>
              </a:spcBef>
              <a:spcAft>
                <a:spcPts val="0"/>
              </a:spcAft>
              <a:buNone/>
            </a:pPr>
            <a:r>
              <a:rPr b="0" lang="en" sz="950">
                <a:solidFill>
                  <a:srgbClr val="0284C7"/>
                </a:solidFill>
                <a:latin typeface="Inter SemiBold"/>
                <a:ea typeface="Inter SemiBold"/>
                <a:cs typeface="Inter SemiBold"/>
                <a:sym typeface="Inter SemiBold"/>
              </a:rPr>
              <a:t>Action 2 (Switch to Backup):</a:t>
            </a:r>
            <a:r>
              <a:rPr lang="en" sz="950">
                <a:solidFill>
                  <a:srgbClr val="475569"/>
                </a:solidFill>
                <a:latin typeface="Inter"/>
                <a:ea typeface="Inter"/>
                <a:cs typeface="Inter"/>
                <a:sym typeface="Inter"/>
              </a:rPr>
              <a:t> Executed during severe voltage sags.</a:t>
            </a:r>
            <a:endParaRPr sz="950">
              <a:solidFill>
                <a:srgbClr val="475569"/>
              </a:solidFill>
              <a:latin typeface="Inter"/>
              <a:ea typeface="Inter"/>
              <a:cs typeface="Inter"/>
              <a:sym typeface="Inter"/>
            </a:endParaRPr>
          </a:p>
          <a:p>
            <a:pPr indent="0" lvl="0" marL="457200" rtl="0" algn="l">
              <a:spcBef>
                <a:spcPts val="750"/>
              </a:spcBef>
              <a:spcAft>
                <a:spcPts val="0"/>
              </a:spcAft>
              <a:buNone/>
            </a:pPr>
            <a:r>
              <a:rPr b="0" lang="en" sz="950">
                <a:solidFill>
                  <a:srgbClr val="0284C7"/>
                </a:solidFill>
                <a:latin typeface="Inter SemiBold"/>
                <a:ea typeface="Inter SemiBold"/>
                <a:cs typeface="Inter SemiBold"/>
                <a:sym typeface="Inter SemiBold"/>
              </a:rPr>
              <a:t>Action 3 (Reduce Generation):</a:t>
            </a:r>
            <a:r>
              <a:rPr lang="en" sz="950">
                <a:solidFill>
                  <a:srgbClr val="475569"/>
                </a:solidFill>
                <a:latin typeface="Inter"/>
                <a:ea typeface="Inter"/>
                <a:cs typeface="Inter"/>
                <a:sym typeface="Inter"/>
              </a:rPr>
              <a:t> Enforced during voltage swells.</a:t>
            </a:r>
            <a:endParaRPr sz="950">
              <a:solidFill>
                <a:srgbClr val="475569"/>
              </a:solidFill>
              <a:latin typeface="Inter"/>
              <a:ea typeface="Inter"/>
              <a:cs typeface="Inter"/>
              <a:sym typeface="Inter"/>
            </a:endParaRPr>
          </a:p>
          <a:p>
            <a:pPr indent="0" lvl="0" marL="457200" rtl="0" algn="l">
              <a:spcBef>
                <a:spcPts val="750"/>
              </a:spcBef>
              <a:spcAft>
                <a:spcPts val="750"/>
              </a:spcAft>
              <a:buNone/>
            </a:pPr>
            <a:r>
              <a:rPr b="0" lang="en" sz="950">
                <a:solidFill>
                  <a:srgbClr val="0284C7"/>
                </a:solidFill>
                <a:latin typeface="Inter SemiBold"/>
                <a:ea typeface="Inter SemiBold"/>
                <a:cs typeface="Inter SemiBold"/>
                <a:sym typeface="Inter SemiBold"/>
              </a:rPr>
              <a:t>Action 4 (Alert Operator):</a:t>
            </a:r>
            <a:r>
              <a:rPr lang="en" sz="950">
                <a:solidFill>
                  <a:srgbClr val="475569"/>
                </a:solidFill>
                <a:latin typeface="Inter"/>
                <a:ea typeface="Inter"/>
                <a:cs typeface="Inter"/>
                <a:sym typeface="Inter"/>
              </a:rPr>
              <a:t> Dispatched to handle complex multi-faults.</a:t>
            </a:r>
            <a:endParaRPr sz="950">
              <a:solidFill>
                <a:srgbClr val="475569"/>
              </a:solidFill>
              <a:latin typeface="Inter"/>
              <a:ea typeface="Inter"/>
              <a:cs typeface="Inter"/>
              <a:sym typeface="Inter"/>
            </a:endParaRPr>
          </a:p>
        </p:txBody>
      </p:sp>
      <p:sp>
        <p:nvSpPr>
          <p:cNvPr id="180" name="Google Shape;180;p18"/>
          <p:cNvSpPr/>
          <p:nvPr/>
        </p:nvSpPr>
        <p:spPr>
          <a:xfrm>
            <a:off x="5524500" y="1143000"/>
            <a:ext cx="3238500" cy="32385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8"/>
          <p:cNvSpPr/>
          <p:nvPr/>
        </p:nvSpPr>
        <p:spPr>
          <a:xfrm>
            <a:off x="5524500" y="1143000"/>
            <a:ext cx="3238500" cy="285900"/>
          </a:xfrm>
          <a:prstGeom prst="rect">
            <a:avLst/>
          </a:prstGeom>
          <a:solidFill>
            <a:srgbClr val="E2E8F0">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8"/>
          <p:cNvSpPr txBox="1"/>
          <p:nvPr/>
        </p:nvSpPr>
        <p:spPr>
          <a:xfrm>
            <a:off x="5524500" y="1200150"/>
            <a:ext cx="32385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75">
                <a:solidFill>
                  <a:srgbClr val="0F172A"/>
                </a:solidFill>
                <a:latin typeface="Inter SemiBold"/>
                <a:ea typeface="Inter SemiBold"/>
                <a:cs typeface="Inter SemiBold"/>
                <a:sym typeface="Inter SemiBold"/>
              </a:rPr>
              <a:t>Fully Connected DQN Architecture</a:t>
            </a:r>
            <a:endParaRPr b="0" sz="675">
              <a:solidFill>
                <a:srgbClr val="0F172A"/>
              </a:solidFill>
              <a:latin typeface="Inter SemiBold"/>
              <a:ea typeface="Inter SemiBold"/>
              <a:cs typeface="Inter SemiBold"/>
              <a:sym typeface="Inter SemiBold"/>
            </a:endParaRPr>
          </a:p>
        </p:txBody>
      </p:sp>
      <p:sp>
        <p:nvSpPr>
          <p:cNvPr id="183" name="Google Shape;183;p18"/>
          <p:cNvSpPr txBox="1"/>
          <p:nvPr/>
        </p:nvSpPr>
        <p:spPr>
          <a:xfrm>
            <a:off x="5715000" y="1457325"/>
            <a:ext cx="5715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0369A1"/>
                </a:solidFill>
                <a:latin typeface="Inter SemiBold"/>
                <a:ea typeface="Inter SemiBold"/>
                <a:cs typeface="Inter SemiBold"/>
                <a:sym typeface="Inter SemiBold"/>
              </a:rPr>
              <a:t>Input</a:t>
            </a:r>
            <a:br>
              <a:rPr b="0" lang="en" sz="600">
                <a:solidFill>
                  <a:srgbClr val="0369A1"/>
                </a:solidFill>
                <a:latin typeface="Inter SemiBold"/>
                <a:ea typeface="Inter SemiBold"/>
                <a:cs typeface="Inter SemiBold"/>
                <a:sym typeface="Inter SemiBold"/>
              </a:rPr>
            </a:br>
            <a:r>
              <a:rPr b="0" lang="en" sz="525">
                <a:solidFill>
                  <a:srgbClr val="475569"/>
                </a:solidFill>
                <a:latin typeface="Inter"/>
                <a:ea typeface="Inter"/>
                <a:cs typeface="Inter"/>
                <a:sym typeface="Inter"/>
              </a:rPr>
              <a:t>5 Sensors</a:t>
            </a:r>
            <a:endParaRPr b="0" sz="600">
              <a:solidFill>
                <a:srgbClr val="0369A1"/>
              </a:solidFill>
              <a:latin typeface="Inter SemiBold"/>
              <a:ea typeface="Inter SemiBold"/>
              <a:cs typeface="Inter SemiBold"/>
              <a:sym typeface="Inter SemiBold"/>
            </a:endParaRPr>
          </a:p>
        </p:txBody>
      </p:sp>
      <p:sp>
        <p:nvSpPr>
          <p:cNvPr id="184" name="Google Shape;184;p18"/>
          <p:cNvSpPr txBox="1"/>
          <p:nvPr/>
        </p:nvSpPr>
        <p:spPr>
          <a:xfrm>
            <a:off x="6477000" y="1457325"/>
            <a:ext cx="5715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0369A1"/>
                </a:solidFill>
                <a:latin typeface="Inter SemiBold"/>
                <a:ea typeface="Inter SemiBold"/>
                <a:cs typeface="Inter SemiBold"/>
                <a:sym typeface="Inter SemiBold"/>
              </a:rPr>
              <a:t>Hidden 1</a:t>
            </a:r>
            <a:br>
              <a:rPr b="0" lang="en" sz="600">
                <a:solidFill>
                  <a:srgbClr val="0369A1"/>
                </a:solidFill>
                <a:latin typeface="Inter SemiBold"/>
                <a:ea typeface="Inter SemiBold"/>
                <a:cs typeface="Inter SemiBold"/>
                <a:sym typeface="Inter SemiBold"/>
              </a:rPr>
            </a:br>
            <a:r>
              <a:rPr b="0" lang="en" sz="525">
                <a:solidFill>
                  <a:srgbClr val="475569"/>
                </a:solidFill>
                <a:latin typeface="Inter"/>
                <a:ea typeface="Inter"/>
                <a:cs typeface="Inter"/>
                <a:sym typeface="Inter"/>
              </a:rPr>
              <a:t>128 ReLU</a:t>
            </a:r>
            <a:endParaRPr b="0" sz="600">
              <a:solidFill>
                <a:srgbClr val="0369A1"/>
              </a:solidFill>
              <a:latin typeface="Inter SemiBold"/>
              <a:ea typeface="Inter SemiBold"/>
              <a:cs typeface="Inter SemiBold"/>
              <a:sym typeface="Inter SemiBold"/>
            </a:endParaRPr>
          </a:p>
        </p:txBody>
      </p:sp>
      <p:sp>
        <p:nvSpPr>
          <p:cNvPr id="185" name="Google Shape;185;p18"/>
          <p:cNvSpPr txBox="1"/>
          <p:nvPr/>
        </p:nvSpPr>
        <p:spPr>
          <a:xfrm>
            <a:off x="7239000" y="1457325"/>
            <a:ext cx="5715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0369A1"/>
                </a:solidFill>
                <a:latin typeface="Inter SemiBold"/>
                <a:ea typeface="Inter SemiBold"/>
                <a:cs typeface="Inter SemiBold"/>
                <a:sym typeface="Inter SemiBold"/>
              </a:rPr>
              <a:t>Hidden 2</a:t>
            </a:r>
            <a:br>
              <a:rPr b="0" lang="en" sz="600">
                <a:solidFill>
                  <a:srgbClr val="0369A1"/>
                </a:solidFill>
                <a:latin typeface="Inter SemiBold"/>
                <a:ea typeface="Inter SemiBold"/>
                <a:cs typeface="Inter SemiBold"/>
                <a:sym typeface="Inter SemiBold"/>
              </a:rPr>
            </a:br>
            <a:r>
              <a:rPr b="0" lang="en" sz="525">
                <a:solidFill>
                  <a:srgbClr val="475569"/>
                </a:solidFill>
                <a:latin typeface="Inter"/>
                <a:ea typeface="Inter"/>
                <a:cs typeface="Inter"/>
                <a:sym typeface="Inter"/>
              </a:rPr>
              <a:t>64 ReLU</a:t>
            </a:r>
            <a:endParaRPr b="0" sz="600">
              <a:solidFill>
                <a:srgbClr val="0369A1"/>
              </a:solidFill>
              <a:latin typeface="Inter SemiBold"/>
              <a:ea typeface="Inter SemiBold"/>
              <a:cs typeface="Inter SemiBold"/>
              <a:sym typeface="Inter SemiBold"/>
            </a:endParaRPr>
          </a:p>
        </p:txBody>
      </p:sp>
      <p:sp>
        <p:nvSpPr>
          <p:cNvPr id="186" name="Google Shape;186;p18"/>
          <p:cNvSpPr txBox="1"/>
          <p:nvPr/>
        </p:nvSpPr>
        <p:spPr>
          <a:xfrm>
            <a:off x="8001000" y="1457325"/>
            <a:ext cx="571500" cy="247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0369A1"/>
                </a:solidFill>
                <a:latin typeface="Inter SemiBold"/>
                <a:ea typeface="Inter SemiBold"/>
                <a:cs typeface="Inter SemiBold"/>
                <a:sym typeface="Inter SemiBold"/>
              </a:rPr>
              <a:t>Output</a:t>
            </a:r>
            <a:br>
              <a:rPr b="0" lang="en" sz="600">
                <a:solidFill>
                  <a:srgbClr val="0369A1"/>
                </a:solidFill>
                <a:latin typeface="Inter SemiBold"/>
                <a:ea typeface="Inter SemiBold"/>
                <a:cs typeface="Inter SemiBold"/>
                <a:sym typeface="Inter SemiBold"/>
              </a:rPr>
            </a:br>
            <a:r>
              <a:rPr b="0" lang="en" sz="525">
                <a:solidFill>
                  <a:srgbClr val="475569"/>
                </a:solidFill>
                <a:latin typeface="Inter"/>
                <a:ea typeface="Inter"/>
                <a:cs typeface="Inter"/>
                <a:sym typeface="Inter"/>
              </a:rPr>
              <a:t>5 Actions</a:t>
            </a:r>
            <a:endParaRPr b="0" sz="600">
              <a:solidFill>
                <a:srgbClr val="0369A1"/>
              </a:solidFill>
              <a:latin typeface="Inter SemiBold"/>
              <a:ea typeface="Inter SemiBold"/>
              <a:cs typeface="Inter SemiBold"/>
              <a:sym typeface="Inter SemiBold"/>
            </a:endParaRPr>
          </a:p>
        </p:txBody>
      </p:sp>
      <p:pic>
        <p:nvPicPr>
          <p:cNvPr id="187" name="Google Shape;187;p18"/>
          <p:cNvPicPr preferRelativeResize="0"/>
          <p:nvPr/>
        </p:nvPicPr>
        <p:blipFill rotWithShape="1">
          <a:blip r:embed="rId4">
            <a:alphaModFix/>
          </a:blip>
          <a:srcRect b="0" l="0" r="0" t="0"/>
          <a:stretch/>
        </p:blipFill>
        <p:spPr>
          <a:xfrm>
            <a:off x="6000750" y="1757363"/>
            <a:ext cx="762000" cy="9600"/>
          </a:xfrm>
          <a:prstGeom prst="rect">
            <a:avLst/>
          </a:prstGeom>
          <a:noFill/>
          <a:ln>
            <a:noFill/>
          </a:ln>
        </p:spPr>
      </p:pic>
      <p:pic>
        <p:nvPicPr>
          <p:cNvPr id="188" name="Google Shape;188;p18"/>
          <p:cNvPicPr preferRelativeResize="0"/>
          <p:nvPr/>
        </p:nvPicPr>
        <p:blipFill rotWithShape="1">
          <a:blip r:embed="rId5">
            <a:alphaModFix/>
          </a:blip>
          <a:srcRect b="0" l="0" r="0" t="0"/>
          <a:stretch/>
        </p:blipFill>
        <p:spPr>
          <a:xfrm>
            <a:off x="5995988" y="1757363"/>
            <a:ext cx="771600" cy="419100"/>
          </a:xfrm>
          <a:prstGeom prst="rect">
            <a:avLst/>
          </a:prstGeom>
          <a:noFill/>
          <a:ln>
            <a:noFill/>
          </a:ln>
        </p:spPr>
      </p:pic>
      <p:pic>
        <p:nvPicPr>
          <p:cNvPr id="189" name="Google Shape;189;p18"/>
          <p:cNvPicPr preferRelativeResize="0"/>
          <p:nvPr/>
        </p:nvPicPr>
        <p:blipFill rotWithShape="1">
          <a:blip r:embed="rId6">
            <a:alphaModFix/>
          </a:blip>
          <a:srcRect b="0" l="0" r="0" t="0"/>
          <a:stretch/>
        </p:blipFill>
        <p:spPr>
          <a:xfrm>
            <a:off x="5995988" y="1757363"/>
            <a:ext cx="771600" cy="828600"/>
          </a:xfrm>
          <a:prstGeom prst="rect">
            <a:avLst/>
          </a:prstGeom>
          <a:noFill/>
          <a:ln>
            <a:noFill/>
          </a:ln>
        </p:spPr>
      </p:pic>
      <p:pic>
        <p:nvPicPr>
          <p:cNvPr id="190" name="Google Shape;190;p18"/>
          <p:cNvPicPr preferRelativeResize="0"/>
          <p:nvPr/>
        </p:nvPicPr>
        <p:blipFill rotWithShape="1">
          <a:blip r:embed="rId7">
            <a:alphaModFix/>
          </a:blip>
          <a:srcRect b="0" l="0" r="0" t="0"/>
          <a:stretch/>
        </p:blipFill>
        <p:spPr>
          <a:xfrm>
            <a:off x="5995988" y="1757363"/>
            <a:ext cx="771600" cy="1238400"/>
          </a:xfrm>
          <a:prstGeom prst="rect">
            <a:avLst/>
          </a:prstGeom>
          <a:noFill/>
          <a:ln>
            <a:noFill/>
          </a:ln>
        </p:spPr>
      </p:pic>
      <p:pic>
        <p:nvPicPr>
          <p:cNvPr id="191" name="Google Shape;191;p18"/>
          <p:cNvPicPr preferRelativeResize="0"/>
          <p:nvPr/>
        </p:nvPicPr>
        <p:blipFill rotWithShape="1">
          <a:blip r:embed="rId8">
            <a:alphaModFix/>
          </a:blip>
          <a:srcRect b="0" l="0" r="0" t="0"/>
          <a:stretch/>
        </p:blipFill>
        <p:spPr>
          <a:xfrm>
            <a:off x="5995988" y="1757363"/>
            <a:ext cx="771600" cy="1647900"/>
          </a:xfrm>
          <a:prstGeom prst="rect">
            <a:avLst/>
          </a:prstGeom>
          <a:noFill/>
          <a:ln>
            <a:noFill/>
          </a:ln>
        </p:spPr>
      </p:pic>
      <p:pic>
        <p:nvPicPr>
          <p:cNvPr id="192" name="Google Shape;192;p18"/>
          <p:cNvPicPr preferRelativeResize="0"/>
          <p:nvPr/>
        </p:nvPicPr>
        <p:blipFill rotWithShape="1">
          <a:blip r:embed="rId9">
            <a:alphaModFix/>
          </a:blip>
          <a:srcRect b="0" l="0" r="0" t="0"/>
          <a:stretch/>
        </p:blipFill>
        <p:spPr>
          <a:xfrm>
            <a:off x="5995988" y="1757363"/>
            <a:ext cx="771600" cy="2057400"/>
          </a:xfrm>
          <a:prstGeom prst="rect">
            <a:avLst/>
          </a:prstGeom>
          <a:noFill/>
          <a:ln>
            <a:noFill/>
          </a:ln>
        </p:spPr>
      </p:pic>
      <p:pic>
        <p:nvPicPr>
          <p:cNvPr id="193" name="Google Shape;193;p18"/>
          <p:cNvPicPr preferRelativeResize="0"/>
          <p:nvPr/>
        </p:nvPicPr>
        <p:blipFill rotWithShape="1">
          <a:blip r:embed="rId10">
            <a:alphaModFix/>
          </a:blip>
          <a:srcRect b="0" l="0" r="0" t="0"/>
          <a:stretch/>
        </p:blipFill>
        <p:spPr>
          <a:xfrm>
            <a:off x="5995988" y="1757363"/>
            <a:ext cx="771600" cy="2466900"/>
          </a:xfrm>
          <a:prstGeom prst="rect">
            <a:avLst/>
          </a:prstGeom>
          <a:noFill/>
          <a:ln>
            <a:noFill/>
          </a:ln>
        </p:spPr>
      </p:pic>
      <p:pic>
        <p:nvPicPr>
          <p:cNvPr id="194" name="Google Shape;194;p18"/>
          <p:cNvPicPr preferRelativeResize="0"/>
          <p:nvPr/>
        </p:nvPicPr>
        <p:blipFill rotWithShape="1">
          <a:blip r:embed="rId11">
            <a:alphaModFix/>
          </a:blip>
          <a:srcRect b="0" l="0" r="0" t="0"/>
          <a:stretch/>
        </p:blipFill>
        <p:spPr>
          <a:xfrm>
            <a:off x="5995988" y="1757363"/>
            <a:ext cx="771600" cy="628800"/>
          </a:xfrm>
          <a:prstGeom prst="rect">
            <a:avLst/>
          </a:prstGeom>
          <a:noFill/>
          <a:ln>
            <a:noFill/>
          </a:ln>
        </p:spPr>
      </p:pic>
      <p:pic>
        <p:nvPicPr>
          <p:cNvPr id="195" name="Google Shape;195;p18"/>
          <p:cNvPicPr preferRelativeResize="0"/>
          <p:nvPr/>
        </p:nvPicPr>
        <p:blipFill rotWithShape="1">
          <a:blip r:embed="rId12">
            <a:alphaModFix/>
          </a:blip>
          <a:srcRect b="0" l="0" r="0" t="0"/>
          <a:stretch/>
        </p:blipFill>
        <p:spPr>
          <a:xfrm>
            <a:off x="5995988" y="2166938"/>
            <a:ext cx="771600" cy="219000"/>
          </a:xfrm>
          <a:prstGeom prst="rect">
            <a:avLst/>
          </a:prstGeom>
          <a:noFill/>
          <a:ln>
            <a:noFill/>
          </a:ln>
        </p:spPr>
      </p:pic>
      <p:pic>
        <p:nvPicPr>
          <p:cNvPr id="196" name="Google Shape;196;p18"/>
          <p:cNvPicPr preferRelativeResize="0"/>
          <p:nvPr/>
        </p:nvPicPr>
        <p:blipFill rotWithShape="1">
          <a:blip r:embed="rId13">
            <a:alphaModFix/>
          </a:blip>
          <a:srcRect b="0" l="0" r="0" t="0"/>
          <a:stretch/>
        </p:blipFill>
        <p:spPr>
          <a:xfrm>
            <a:off x="5995988" y="2376488"/>
            <a:ext cx="771600" cy="209700"/>
          </a:xfrm>
          <a:prstGeom prst="rect">
            <a:avLst/>
          </a:prstGeom>
          <a:noFill/>
          <a:ln>
            <a:noFill/>
          </a:ln>
        </p:spPr>
      </p:pic>
      <p:pic>
        <p:nvPicPr>
          <p:cNvPr id="197" name="Google Shape;197;p18"/>
          <p:cNvPicPr preferRelativeResize="0"/>
          <p:nvPr/>
        </p:nvPicPr>
        <p:blipFill rotWithShape="1">
          <a:blip r:embed="rId14">
            <a:alphaModFix/>
          </a:blip>
          <a:srcRect b="0" l="0" r="0" t="0"/>
          <a:stretch/>
        </p:blipFill>
        <p:spPr>
          <a:xfrm>
            <a:off x="5995988" y="2376488"/>
            <a:ext cx="771600" cy="619200"/>
          </a:xfrm>
          <a:prstGeom prst="rect">
            <a:avLst/>
          </a:prstGeom>
          <a:noFill/>
          <a:ln>
            <a:noFill/>
          </a:ln>
        </p:spPr>
      </p:pic>
      <p:pic>
        <p:nvPicPr>
          <p:cNvPr id="198" name="Google Shape;198;p18"/>
          <p:cNvPicPr preferRelativeResize="0"/>
          <p:nvPr/>
        </p:nvPicPr>
        <p:blipFill rotWithShape="1">
          <a:blip r:embed="rId15">
            <a:alphaModFix/>
          </a:blip>
          <a:srcRect b="0" l="0" r="0" t="0"/>
          <a:stretch/>
        </p:blipFill>
        <p:spPr>
          <a:xfrm>
            <a:off x="5995988" y="2376488"/>
            <a:ext cx="771600" cy="1028700"/>
          </a:xfrm>
          <a:prstGeom prst="rect">
            <a:avLst/>
          </a:prstGeom>
          <a:noFill/>
          <a:ln>
            <a:noFill/>
          </a:ln>
        </p:spPr>
      </p:pic>
      <p:pic>
        <p:nvPicPr>
          <p:cNvPr id="199" name="Google Shape;199;p18"/>
          <p:cNvPicPr preferRelativeResize="0"/>
          <p:nvPr/>
        </p:nvPicPr>
        <p:blipFill rotWithShape="1">
          <a:blip r:embed="rId16">
            <a:alphaModFix/>
          </a:blip>
          <a:srcRect b="0" l="0" r="0" t="0"/>
          <a:stretch/>
        </p:blipFill>
        <p:spPr>
          <a:xfrm>
            <a:off x="5995988" y="2376488"/>
            <a:ext cx="771600" cy="1438200"/>
          </a:xfrm>
          <a:prstGeom prst="rect">
            <a:avLst/>
          </a:prstGeom>
          <a:noFill/>
          <a:ln>
            <a:noFill/>
          </a:ln>
        </p:spPr>
      </p:pic>
      <p:pic>
        <p:nvPicPr>
          <p:cNvPr id="200" name="Google Shape;200;p18"/>
          <p:cNvPicPr preferRelativeResize="0"/>
          <p:nvPr/>
        </p:nvPicPr>
        <p:blipFill rotWithShape="1">
          <a:blip r:embed="rId17">
            <a:alphaModFix/>
          </a:blip>
          <a:srcRect b="0" l="0" r="0" t="0"/>
          <a:stretch/>
        </p:blipFill>
        <p:spPr>
          <a:xfrm>
            <a:off x="5995988" y="2376488"/>
            <a:ext cx="771600" cy="1848000"/>
          </a:xfrm>
          <a:prstGeom prst="rect">
            <a:avLst/>
          </a:prstGeom>
          <a:noFill/>
          <a:ln>
            <a:noFill/>
          </a:ln>
        </p:spPr>
      </p:pic>
      <p:pic>
        <p:nvPicPr>
          <p:cNvPr id="201" name="Google Shape;201;p18"/>
          <p:cNvPicPr preferRelativeResize="0"/>
          <p:nvPr/>
        </p:nvPicPr>
        <p:blipFill rotWithShape="1">
          <a:blip r:embed="rId18">
            <a:alphaModFix/>
          </a:blip>
          <a:srcRect b="0" l="0" r="0" t="0"/>
          <a:stretch/>
        </p:blipFill>
        <p:spPr>
          <a:xfrm>
            <a:off x="5995988" y="1757363"/>
            <a:ext cx="771600" cy="1247700"/>
          </a:xfrm>
          <a:prstGeom prst="rect">
            <a:avLst/>
          </a:prstGeom>
          <a:noFill/>
          <a:ln>
            <a:noFill/>
          </a:ln>
        </p:spPr>
      </p:pic>
      <p:pic>
        <p:nvPicPr>
          <p:cNvPr id="202" name="Google Shape;202;p18"/>
          <p:cNvPicPr preferRelativeResize="0"/>
          <p:nvPr/>
        </p:nvPicPr>
        <p:blipFill rotWithShape="1">
          <a:blip r:embed="rId19">
            <a:alphaModFix/>
          </a:blip>
          <a:srcRect b="0" l="0" r="0" t="0"/>
          <a:stretch/>
        </p:blipFill>
        <p:spPr>
          <a:xfrm>
            <a:off x="5995988" y="2166938"/>
            <a:ext cx="771600" cy="838200"/>
          </a:xfrm>
          <a:prstGeom prst="rect">
            <a:avLst/>
          </a:prstGeom>
          <a:noFill/>
          <a:ln>
            <a:noFill/>
          </a:ln>
        </p:spPr>
      </p:pic>
      <p:pic>
        <p:nvPicPr>
          <p:cNvPr id="203" name="Google Shape;203;p18"/>
          <p:cNvPicPr preferRelativeResize="0"/>
          <p:nvPr/>
        </p:nvPicPr>
        <p:blipFill rotWithShape="1">
          <a:blip r:embed="rId20">
            <a:alphaModFix/>
          </a:blip>
          <a:srcRect b="0" l="0" r="0" t="0"/>
          <a:stretch/>
        </p:blipFill>
        <p:spPr>
          <a:xfrm>
            <a:off x="5995988" y="2576513"/>
            <a:ext cx="771600" cy="428700"/>
          </a:xfrm>
          <a:prstGeom prst="rect">
            <a:avLst/>
          </a:prstGeom>
          <a:noFill/>
          <a:ln>
            <a:noFill/>
          </a:ln>
        </p:spPr>
      </p:pic>
      <p:pic>
        <p:nvPicPr>
          <p:cNvPr id="204" name="Google Shape;204;p18"/>
          <p:cNvPicPr preferRelativeResize="0"/>
          <p:nvPr/>
        </p:nvPicPr>
        <p:blipFill rotWithShape="1">
          <a:blip r:embed="rId21">
            <a:alphaModFix/>
          </a:blip>
          <a:srcRect b="0" l="0" r="0" t="0"/>
          <a:stretch/>
        </p:blipFill>
        <p:spPr>
          <a:xfrm>
            <a:off x="6000750" y="2986088"/>
            <a:ext cx="762000" cy="19200"/>
          </a:xfrm>
          <a:prstGeom prst="rect">
            <a:avLst/>
          </a:prstGeom>
          <a:noFill/>
          <a:ln>
            <a:noFill/>
          </a:ln>
        </p:spPr>
      </p:pic>
      <p:pic>
        <p:nvPicPr>
          <p:cNvPr id="205" name="Google Shape;205;p18"/>
          <p:cNvPicPr preferRelativeResize="0"/>
          <p:nvPr/>
        </p:nvPicPr>
        <p:blipFill rotWithShape="1">
          <a:blip r:embed="rId22">
            <a:alphaModFix/>
          </a:blip>
          <a:srcRect b="0" l="0" r="0" t="0"/>
          <a:stretch/>
        </p:blipFill>
        <p:spPr>
          <a:xfrm>
            <a:off x="5995988" y="2995613"/>
            <a:ext cx="771600" cy="409500"/>
          </a:xfrm>
          <a:prstGeom prst="rect">
            <a:avLst/>
          </a:prstGeom>
          <a:noFill/>
          <a:ln>
            <a:noFill/>
          </a:ln>
        </p:spPr>
      </p:pic>
      <p:pic>
        <p:nvPicPr>
          <p:cNvPr id="206" name="Google Shape;206;p18"/>
          <p:cNvPicPr preferRelativeResize="0"/>
          <p:nvPr/>
        </p:nvPicPr>
        <p:blipFill rotWithShape="1">
          <a:blip r:embed="rId23">
            <a:alphaModFix/>
          </a:blip>
          <a:srcRect b="0" l="0" r="0" t="0"/>
          <a:stretch/>
        </p:blipFill>
        <p:spPr>
          <a:xfrm>
            <a:off x="5995988" y="2995613"/>
            <a:ext cx="771600" cy="819300"/>
          </a:xfrm>
          <a:prstGeom prst="rect">
            <a:avLst/>
          </a:prstGeom>
          <a:noFill/>
          <a:ln>
            <a:noFill/>
          </a:ln>
        </p:spPr>
      </p:pic>
      <p:pic>
        <p:nvPicPr>
          <p:cNvPr id="207" name="Google Shape;207;p18"/>
          <p:cNvPicPr preferRelativeResize="0"/>
          <p:nvPr/>
        </p:nvPicPr>
        <p:blipFill rotWithShape="1">
          <a:blip r:embed="rId24">
            <a:alphaModFix/>
          </a:blip>
          <a:srcRect b="0" l="0" r="0" t="0"/>
          <a:stretch/>
        </p:blipFill>
        <p:spPr>
          <a:xfrm>
            <a:off x="5995988" y="2995613"/>
            <a:ext cx="771600" cy="1228800"/>
          </a:xfrm>
          <a:prstGeom prst="rect">
            <a:avLst/>
          </a:prstGeom>
          <a:noFill/>
          <a:ln>
            <a:noFill/>
          </a:ln>
        </p:spPr>
      </p:pic>
      <p:pic>
        <p:nvPicPr>
          <p:cNvPr id="208" name="Google Shape;208;p18"/>
          <p:cNvPicPr preferRelativeResize="0"/>
          <p:nvPr/>
        </p:nvPicPr>
        <p:blipFill rotWithShape="1">
          <a:blip r:embed="rId25">
            <a:alphaModFix/>
          </a:blip>
          <a:srcRect b="0" l="0" r="0" t="0"/>
          <a:stretch/>
        </p:blipFill>
        <p:spPr>
          <a:xfrm>
            <a:off x="5995988" y="1757363"/>
            <a:ext cx="771600" cy="1866900"/>
          </a:xfrm>
          <a:prstGeom prst="rect">
            <a:avLst/>
          </a:prstGeom>
          <a:noFill/>
          <a:ln>
            <a:noFill/>
          </a:ln>
        </p:spPr>
      </p:pic>
      <p:pic>
        <p:nvPicPr>
          <p:cNvPr id="209" name="Google Shape;209;p18"/>
          <p:cNvPicPr preferRelativeResize="0"/>
          <p:nvPr/>
        </p:nvPicPr>
        <p:blipFill rotWithShape="1">
          <a:blip r:embed="rId26">
            <a:alphaModFix/>
          </a:blip>
          <a:srcRect b="0" l="0" r="0" t="0"/>
          <a:stretch/>
        </p:blipFill>
        <p:spPr>
          <a:xfrm>
            <a:off x="5995988" y="2166938"/>
            <a:ext cx="771600" cy="1457400"/>
          </a:xfrm>
          <a:prstGeom prst="rect">
            <a:avLst/>
          </a:prstGeom>
          <a:noFill/>
          <a:ln>
            <a:noFill/>
          </a:ln>
        </p:spPr>
      </p:pic>
      <p:pic>
        <p:nvPicPr>
          <p:cNvPr id="210" name="Google Shape;210;p18"/>
          <p:cNvPicPr preferRelativeResize="0"/>
          <p:nvPr/>
        </p:nvPicPr>
        <p:blipFill rotWithShape="1">
          <a:blip r:embed="rId27">
            <a:alphaModFix/>
          </a:blip>
          <a:srcRect b="0" l="0" r="0" t="0"/>
          <a:stretch/>
        </p:blipFill>
        <p:spPr>
          <a:xfrm>
            <a:off x="5995988" y="2576513"/>
            <a:ext cx="771600" cy="1047900"/>
          </a:xfrm>
          <a:prstGeom prst="rect">
            <a:avLst/>
          </a:prstGeom>
          <a:noFill/>
          <a:ln>
            <a:noFill/>
          </a:ln>
        </p:spPr>
      </p:pic>
      <p:pic>
        <p:nvPicPr>
          <p:cNvPr id="211" name="Google Shape;211;p18"/>
          <p:cNvPicPr preferRelativeResize="0"/>
          <p:nvPr/>
        </p:nvPicPr>
        <p:blipFill rotWithShape="1">
          <a:blip r:embed="rId28">
            <a:alphaModFix/>
          </a:blip>
          <a:srcRect b="0" l="0" r="0" t="0"/>
          <a:stretch/>
        </p:blipFill>
        <p:spPr>
          <a:xfrm>
            <a:off x="5995988" y="2986088"/>
            <a:ext cx="771600" cy="638100"/>
          </a:xfrm>
          <a:prstGeom prst="rect">
            <a:avLst/>
          </a:prstGeom>
          <a:noFill/>
          <a:ln>
            <a:noFill/>
          </a:ln>
        </p:spPr>
      </p:pic>
      <p:pic>
        <p:nvPicPr>
          <p:cNvPr id="212" name="Google Shape;212;p18"/>
          <p:cNvPicPr preferRelativeResize="0"/>
          <p:nvPr/>
        </p:nvPicPr>
        <p:blipFill rotWithShape="1">
          <a:blip r:embed="rId29">
            <a:alphaModFix/>
          </a:blip>
          <a:srcRect b="0" l="0" r="0" t="0"/>
          <a:stretch/>
        </p:blipFill>
        <p:spPr>
          <a:xfrm>
            <a:off x="5995988" y="3395663"/>
            <a:ext cx="771600" cy="228600"/>
          </a:xfrm>
          <a:prstGeom prst="rect">
            <a:avLst/>
          </a:prstGeom>
          <a:noFill/>
          <a:ln>
            <a:noFill/>
          </a:ln>
        </p:spPr>
      </p:pic>
      <p:pic>
        <p:nvPicPr>
          <p:cNvPr id="213" name="Google Shape;213;p18"/>
          <p:cNvPicPr preferRelativeResize="0"/>
          <p:nvPr/>
        </p:nvPicPr>
        <p:blipFill rotWithShape="1">
          <a:blip r:embed="rId30">
            <a:alphaModFix/>
          </a:blip>
          <a:srcRect b="0" l="0" r="0" t="0"/>
          <a:stretch/>
        </p:blipFill>
        <p:spPr>
          <a:xfrm>
            <a:off x="5995988" y="3614738"/>
            <a:ext cx="771600" cy="200100"/>
          </a:xfrm>
          <a:prstGeom prst="rect">
            <a:avLst/>
          </a:prstGeom>
          <a:noFill/>
          <a:ln>
            <a:noFill/>
          </a:ln>
        </p:spPr>
      </p:pic>
      <p:pic>
        <p:nvPicPr>
          <p:cNvPr id="214" name="Google Shape;214;p18"/>
          <p:cNvPicPr preferRelativeResize="0"/>
          <p:nvPr/>
        </p:nvPicPr>
        <p:blipFill rotWithShape="1">
          <a:blip r:embed="rId31">
            <a:alphaModFix/>
          </a:blip>
          <a:srcRect b="0" l="0" r="0" t="0"/>
          <a:stretch/>
        </p:blipFill>
        <p:spPr>
          <a:xfrm>
            <a:off x="5995988" y="3614738"/>
            <a:ext cx="771600" cy="609600"/>
          </a:xfrm>
          <a:prstGeom prst="rect">
            <a:avLst/>
          </a:prstGeom>
          <a:noFill/>
          <a:ln>
            <a:noFill/>
          </a:ln>
        </p:spPr>
      </p:pic>
      <p:pic>
        <p:nvPicPr>
          <p:cNvPr id="215" name="Google Shape;215;p18"/>
          <p:cNvPicPr preferRelativeResize="0"/>
          <p:nvPr/>
        </p:nvPicPr>
        <p:blipFill rotWithShape="1">
          <a:blip r:embed="rId32">
            <a:alphaModFix/>
          </a:blip>
          <a:srcRect b="0" l="0" r="0" t="0"/>
          <a:stretch/>
        </p:blipFill>
        <p:spPr>
          <a:xfrm>
            <a:off x="5995988" y="1757363"/>
            <a:ext cx="771600" cy="2486100"/>
          </a:xfrm>
          <a:prstGeom prst="rect">
            <a:avLst/>
          </a:prstGeom>
          <a:noFill/>
          <a:ln>
            <a:noFill/>
          </a:ln>
        </p:spPr>
      </p:pic>
      <p:pic>
        <p:nvPicPr>
          <p:cNvPr id="216" name="Google Shape;216;p18"/>
          <p:cNvPicPr preferRelativeResize="0"/>
          <p:nvPr/>
        </p:nvPicPr>
        <p:blipFill rotWithShape="1">
          <a:blip r:embed="rId33">
            <a:alphaModFix/>
          </a:blip>
          <a:srcRect b="0" l="0" r="0" t="0"/>
          <a:stretch/>
        </p:blipFill>
        <p:spPr>
          <a:xfrm>
            <a:off x="5995988" y="2166938"/>
            <a:ext cx="771600" cy="2076600"/>
          </a:xfrm>
          <a:prstGeom prst="rect">
            <a:avLst/>
          </a:prstGeom>
          <a:noFill/>
          <a:ln>
            <a:noFill/>
          </a:ln>
        </p:spPr>
      </p:pic>
      <p:pic>
        <p:nvPicPr>
          <p:cNvPr id="217" name="Google Shape;217;p18"/>
          <p:cNvPicPr preferRelativeResize="0"/>
          <p:nvPr/>
        </p:nvPicPr>
        <p:blipFill rotWithShape="1">
          <a:blip r:embed="rId34">
            <a:alphaModFix/>
          </a:blip>
          <a:srcRect b="0" l="0" r="0" t="0"/>
          <a:stretch/>
        </p:blipFill>
        <p:spPr>
          <a:xfrm>
            <a:off x="5995988" y="2576513"/>
            <a:ext cx="771600" cy="1666800"/>
          </a:xfrm>
          <a:prstGeom prst="rect">
            <a:avLst/>
          </a:prstGeom>
          <a:noFill/>
          <a:ln>
            <a:noFill/>
          </a:ln>
        </p:spPr>
      </p:pic>
      <p:pic>
        <p:nvPicPr>
          <p:cNvPr id="218" name="Google Shape;218;p18"/>
          <p:cNvPicPr preferRelativeResize="0"/>
          <p:nvPr/>
        </p:nvPicPr>
        <p:blipFill rotWithShape="1">
          <a:blip r:embed="rId35">
            <a:alphaModFix/>
          </a:blip>
          <a:srcRect b="0" l="0" r="0" t="0"/>
          <a:stretch/>
        </p:blipFill>
        <p:spPr>
          <a:xfrm>
            <a:off x="5995988" y="2986088"/>
            <a:ext cx="771600" cy="1257300"/>
          </a:xfrm>
          <a:prstGeom prst="rect">
            <a:avLst/>
          </a:prstGeom>
          <a:noFill/>
          <a:ln>
            <a:noFill/>
          </a:ln>
        </p:spPr>
      </p:pic>
      <p:pic>
        <p:nvPicPr>
          <p:cNvPr id="219" name="Google Shape;219;p18"/>
          <p:cNvPicPr preferRelativeResize="0"/>
          <p:nvPr/>
        </p:nvPicPr>
        <p:blipFill rotWithShape="1">
          <a:blip r:embed="rId36">
            <a:alphaModFix/>
          </a:blip>
          <a:srcRect b="0" l="0" r="0" t="0"/>
          <a:stretch/>
        </p:blipFill>
        <p:spPr>
          <a:xfrm>
            <a:off x="5995988" y="3395663"/>
            <a:ext cx="771600" cy="847800"/>
          </a:xfrm>
          <a:prstGeom prst="rect">
            <a:avLst/>
          </a:prstGeom>
          <a:noFill/>
          <a:ln>
            <a:noFill/>
          </a:ln>
        </p:spPr>
      </p:pic>
      <p:pic>
        <p:nvPicPr>
          <p:cNvPr id="220" name="Google Shape;220;p18"/>
          <p:cNvPicPr preferRelativeResize="0"/>
          <p:nvPr/>
        </p:nvPicPr>
        <p:blipFill rotWithShape="1">
          <a:blip r:embed="rId37">
            <a:alphaModFix/>
          </a:blip>
          <a:srcRect b="0" l="0" r="0" t="0"/>
          <a:stretch/>
        </p:blipFill>
        <p:spPr>
          <a:xfrm>
            <a:off x="5995988" y="3805238"/>
            <a:ext cx="771600" cy="438300"/>
          </a:xfrm>
          <a:prstGeom prst="rect">
            <a:avLst/>
          </a:prstGeom>
          <a:noFill/>
          <a:ln>
            <a:noFill/>
          </a:ln>
        </p:spPr>
      </p:pic>
      <p:pic>
        <p:nvPicPr>
          <p:cNvPr id="221" name="Google Shape;221;p18"/>
          <p:cNvPicPr preferRelativeResize="0"/>
          <p:nvPr/>
        </p:nvPicPr>
        <p:blipFill rotWithShape="1">
          <a:blip r:embed="rId38">
            <a:alphaModFix/>
          </a:blip>
          <a:srcRect b="0" l="0" r="0" t="0"/>
          <a:stretch/>
        </p:blipFill>
        <p:spPr>
          <a:xfrm>
            <a:off x="6000750" y="4214813"/>
            <a:ext cx="762000" cy="28500"/>
          </a:xfrm>
          <a:prstGeom prst="rect">
            <a:avLst/>
          </a:prstGeom>
          <a:noFill/>
          <a:ln>
            <a:noFill/>
          </a:ln>
        </p:spPr>
      </p:pic>
      <p:pic>
        <p:nvPicPr>
          <p:cNvPr id="222" name="Google Shape;222;p18"/>
          <p:cNvPicPr preferRelativeResize="0"/>
          <p:nvPr/>
        </p:nvPicPr>
        <p:blipFill rotWithShape="1">
          <a:blip r:embed="rId4">
            <a:alphaModFix/>
          </a:blip>
          <a:srcRect b="0" l="0" r="0" t="0"/>
          <a:stretch/>
        </p:blipFill>
        <p:spPr>
          <a:xfrm>
            <a:off x="6762750" y="1757363"/>
            <a:ext cx="762000" cy="9600"/>
          </a:xfrm>
          <a:prstGeom prst="rect">
            <a:avLst/>
          </a:prstGeom>
          <a:noFill/>
          <a:ln>
            <a:noFill/>
          </a:ln>
        </p:spPr>
      </p:pic>
      <p:pic>
        <p:nvPicPr>
          <p:cNvPr id="223" name="Google Shape;223;p18"/>
          <p:cNvPicPr preferRelativeResize="0"/>
          <p:nvPr/>
        </p:nvPicPr>
        <p:blipFill rotWithShape="1">
          <a:blip r:embed="rId39">
            <a:alphaModFix/>
          </a:blip>
          <a:srcRect b="0" l="0" r="0" t="0"/>
          <a:stretch/>
        </p:blipFill>
        <p:spPr>
          <a:xfrm>
            <a:off x="6757988" y="1757363"/>
            <a:ext cx="771600" cy="504900"/>
          </a:xfrm>
          <a:prstGeom prst="rect">
            <a:avLst/>
          </a:prstGeom>
          <a:noFill/>
          <a:ln>
            <a:noFill/>
          </a:ln>
        </p:spPr>
      </p:pic>
      <p:pic>
        <p:nvPicPr>
          <p:cNvPr id="224" name="Google Shape;224;p18"/>
          <p:cNvPicPr preferRelativeResize="0"/>
          <p:nvPr/>
        </p:nvPicPr>
        <p:blipFill rotWithShape="1">
          <a:blip r:embed="rId40">
            <a:alphaModFix/>
          </a:blip>
          <a:srcRect b="0" l="0" r="0" t="0"/>
          <a:stretch/>
        </p:blipFill>
        <p:spPr>
          <a:xfrm>
            <a:off x="6757988" y="1757363"/>
            <a:ext cx="771600" cy="1000200"/>
          </a:xfrm>
          <a:prstGeom prst="rect">
            <a:avLst/>
          </a:prstGeom>
          <a:noFill/>
          <a:ln>
            <a:noFill/>
          </a:ln>
        </p:spPr>
      </p:pic>
      <p:pic>
        <p:nvPicPr>
          <p:cNvPr id="225" name="Google Shape;225;p18"/>
          <p:cNvPicPr preferRelativeResize="0"/>
          <p:nvPr/>
        </p:nvPicPr>
        <p:blipFill rotWithShape="1">
          <a:blip r:embed="rId41">
            <a:alphaModFix/>
          </a:blip>
          <a:srcRect b="0" l="0" r="0" t="0"/>
          <a:stretch/>
        </p:blipFill>
        <p:spPr>
          <a:xfrm>
            <a:off x="6757988" y="1757363"/>
            <a:ext cx="771600" cy="1495500"/>
          </a:xfrm>
          <a:prstGeom prst="rect">
            <a:avLst/>
          </a:prstGeom>
          <a:noFill/>
          <a:ln>
            <a:noFill/>
          </a:ln>
        </p:spPr>
      </p:pic>
      <p:pic>
        <p:nvPicPr>
          <p:cNvPr id="226" name="Google Shape;226;p18"/>
          <p:cNvPicPr preferRelativeResize="0"/>
          <p:nvPr/>
        </p:nvPicPr>
        <p:blipFill rotWithShape="1">
          <a:blip r:embed="rId42">
            <a:alphaModFix/>
          </a:blip>
          <a:srcRect b="0" l="0" r="0" t="0"/>
          <a:stretch/>
        </p:blipFill>
        <p:spPr>
          <a:xfrm>
            <a:off x="6757988" y="1757363"/>
            <a:ext cx="771600" cy="1990800"/>
          </a:xfrm>
          <a:prstGeom prst="rect">
            <a:avLst/>
          </a:prstGeom>
          <a:noFill/>
          <a:ln>
            <a:noFill/>
          </a:ln>
        </p:spPr>
      </p:pic>
      <p:pic>
        <p:nvPicPr>
          <p:cNvPr id="227" name="Google Shape;227;p18"/>
          <p:cNvPicPr preferRelativeResize="0"/>
          <p:nvPr/>
        </p:nvPicPr>
        <p:blipFill rotWithShape="1">
          <a:blip r:embed="rId43">
            <a:alphaModFix/>
          </a:blip>
          <a:srcRect b="0" l="0" r="0" t="0"/>
          <a:stretch/>
        </p:blipFill>
        <p:spPr>
          <a:xfrm>
            <a:off x="6757988" y="1757363"/>
            <a:ext cx="771600" cy="2486100"/>
          </a:xfrm>
          <a:prstGeom prst="rect">
            <a:avLst/>
          </a:prstGeom>
          <a:noFill/>
          <a:ln>
            <a:noFill/>
          </a:ln>
        </p:spPr>
      </p:pic>
      <p:pic>
        <p:nvPicPr>
          <p:cNvPr id="228" name="Google Shape;228;p18"/>
          <p:cNvPicPr preferRelativeResize="0"/>
          <p:nvPr/>
        </p:nvPicPr>
        <p:blipFill rotWithShape="1">
          <a:blip r:embed="rId44">
            <a:alphaModFix/>
          </a:blip>
          <a:srcRect b="0" l="0" r="0" t="0"/>
          <a:stretch/>
        </p:blipFill>
        <p:spPr>
          <a:xfrm>
            <a:off x="6757988" y="1757363"/>
            <a:ext cx="771600" cy="419100"/>
          </a:xfrm>
          <a:prstGeom prst="rect">
            <a:avLst/>
          </a:prstGeom>
          <a:noFill/>
          <a:ln>
            <a:noFill/>
          </a:ln>
        </p:spPr>
      </p:pic>
      <p:pic>
        <p:nvPicPr>
          <p:cNvPr id="229" name="Google Shape;229;p18"/>
          <p:cNvPicPr preferRelativeResize="0"/>
          <p:nvPr/>
        </p:nvPicPr>
        <p:blipFill rotWithShape="1">
          <a:blip r:embed="rId45">
            <a:alphaModFix/>
          </a:blip>
          <a:srcRect b="0" l="0" r="0" t="0"/>
          <a:stretch/>
        </p:blipFill>
        <p:spPr>
          <a:xfrm>
            <a:off x="6762750" y="2166938"/>
            <a:ext cx="762000" cy="95400"/>
          </a:xfrm>
          <a:prstGeom prst="rect">
            <a:avLst/>
          </a:prstGeom>
          <a:noFill/>
          <a:ln>
            <a:noFill/>
          </a:ln>
        </p:spPr>
      </p:pic>
      <p:pic>
        <p:nvPicPr>
          <p:cNvPr id="230" name="Google Shape;230;p18"/>
          <p:cNvPicPr preferRelativeResize="0"/>
          <p:nvPr/>
        </p:nvPicPr>
        <p:blipFill rotWithShape="1">
          <a:blip r:embed="rId46">
            <a:alphaModFix/>
          </a:blip>
          <a:srcRect b="0" l="0" r="0" t="0"/>
          <a:stretch/>
        </p:blipFill>
        <p:spPr>
          <a:xfrm>
            <a:off x="6757988" y="2166938"/>
            <a:ext cx="771600" cy="590700"/>
          </a:xfrm>
          <a:prstGeom prst="rect">
            <a:avLst/>
          </a:prstGeom>
          <a:noFill/>
          <a:ln>
            <a:noFill/>
          </a:ln>
        </p:spPr>
      </p:pic>
      <p:pic>
        <p:nvPicPr>
          <p:cNvPr id="231" name="Google Shape;231;p18"/>
          <p:cNvPicPr preferRelativeResize="0"/>
          <p:nvPr/>
        </p:nvPicPr>
        <p:blipFill rotWithShape="1">
          <a:blip r:embed="rId47">
            <a:alphaModFix/>
          </a:blip>
          <a:srcRect b="0" l="0" r="0" t="0"/>
          <a:stretch/>
        </p:blipFill>
        <p:spPr>
          <a:xfrm>
            <a:off x="6757988" y="2166938"/>
            <a:ext cx="771600" cy="1086000"/>
          </a:xfrm>
          <a:prstGeom prst="rect">
            <a:avLst/>
          </a:prstGeom>
          <a:noFill/>
          <a:ln>
            <a:noFill/>
          </a:ln>
        </p:spPr>
      </p:pic>
      <p:pic>
        <p:nvPicPr>
          <p:cNvPr id="232" name="Google Shape;232;p18"/>
          <p:cNvPicPr preferRelativeResize="0"/>
          <p:nvPr/>
        </p:nvPicPr>
        <p:blipFill rotWithShape="1">
          <a:blip r:embed="rId48">
            <a:alphaModFix/>
          </a:blip>
          <a:srcRect b="0" l="0" r="0" t="0"/>
          <a:stretch/>
        </p:blipFill>
        <p:spPr>
          <a:xfrm>
            <a:off x="6757988" y="2166938"/>
            <a:ext cx="771600" cy="1581300"/>
          </a:xfrm>
          <a:prstGeom prst="rect">
            <a:avLst/>
          </a:prstGeom>
          <a:noFill/>
          <a:ln>
            <a:noFill/>
          </a:ln>
        </p:spPr>
      </p:pic>
      <p:pic>
        <p:nvPicPr>
          <p:cNvPr id="233" name="Google Shape;233;p18"/>
          <p:cNvPicPr preferRelativeResize="0"/>
          <p:nvPr/>
        </p:nvPicPr>
        <p:blipFill rotWithShape="1">
          <a:blip r:embed="rId49">
            <a:alphaModFix/>
          </a:blip>
          <a:srcRect b="0" l="0" r="0" t="0"/>
          <a:stretch/>
        </p:blipFill>
        <p:spPr>
          <a:xfrm>
            <a:off x="6757988" y="2166938"/>
            <a:ext cx="771600" cy="2076600"/>
          </a:xfrm>
          <a:prstGeom prst="rect">
            <a:avLst/>
          </a:prstGeom>
          <a:noFill/>
          <a:ln>
            <a:noFill/>
          </a:ln>
        </p:spPr>
      </p:pic>
      <p:pic>
        <p:nvPicPr>
          <p:cNvPr id="234" name="Google Shape;234;p18"/>
          <p:cNvPicPr preferRelativeResize="0"/>
          <p:nvPr/>
        </p:nvPicPr>
        <p:blipFill rotWithShape="1">
          <a:blip r:embed="rId50">
            <a:alphaModFix/>
          </a:blip>
          <a:srcRect b="0" l="0" r="0" t="0"/>
          <a:stretch/>
        </p:blipFill>
        <p:spPr>
          <a:xfrm>
            <a:off x="6757988" y="1757363"/>
            <a:ext cx="771600" cy="828600"/>
          </a:xfrm>
          <a:prstGeom prst="rect">
            <a:avLst/>
          </a:prstGeom>
          <a:noFill/>
          <a:ln>
            <a:noFill/>
          </a:ln>
        </p:spPr>
      </p:pic>
      <p:pic>
        <p:nvPicPr>
          <p:cNvPr id="235" name="Google Shape;235;p18"/>
          <p:cNvPicPr preferRelativeResize="0"/>
          <p:nvPr/>
        </p:nvPicPr>
        <p:blipFill rotWithShape="1">
          <a:blip r:embed="rId51">
            <a:alphaModFix/>
          </a:blip>
          <a:srcRect b="0" l="0" r="0" t="0"/>
          <a:stretch/>
        </p:blipFill>
        <p:spPr>
          <a:xfrm>
            <a:off x="6757988" y="2252663"/>
            <a:ext cx="771600" cy="333300"/>
          </a:xfrm>
          <a:prstGeom prst="rect">
            <a:avLst/>
          </a:prstGeom>
          <a:noFill/>
          <a:ln>
            <a:noFill/>
          </a:ln>
        </p:spPr>
      </p:pic>
      <p:pic>
        <p:nvPicPr>
          <p:cNvPr id="236" name="Google Shape;236;p18"/>
          <p:cNvPicPr preferRelativeResize="0"/>
          <p:nvPr/>
        </p:nvPicPr>
        <p:blipFill rotWithShape="1">
          <a:blip r:embed="rId52">
            <a:alphaModFix/>
          </a:blip>
          <a:srcRect b="0" l="0" r="0" t="0"/>
          <a:stretch/>
        </p:blipFill>
        <p:spPr>
          <a:xfrm>
            <a:off x="6757988" y="2576513"/>
            <a:ext cx="771600" cy="180900"/>
          </a:xfrm>
          <a:prstGeom prst="rect">
            <a:avLst/>
          </a:prstGeom>
          <a:noFill/>
          <a:ln>
            <a:noFill/>
          </a:ln>
        </p:spPr>
      </p:pic>
      <p:pic>
        <p:nvPicPr>
          <p:cNvPr id="237" name="Google Shape;237;p18"/>
          <p:cNvPicPr preferRelativeResize="0"/>
          <p:nvPr/>
        </p:nvPicPr>
        <p:blipFill rotWithShape="1">
          <a:blip r:embed="rId53">
            <a:alphaModFix/>
          </a:blip>
          <a:srcRect b="0" l="0" r="0" t="0"/>
          <a:stretch/>
        </p:blipFill>
        <p:spPr>
          <a:xfrm>
            <a:off x="6757988" y="2576513"/>
            <a:ext cx="771600" cy="676200"/>
          </a:xfrm>
          <a:prstGeom prst="rect">
            <a:avLst/>
          </a:prstGeom>
          <a:noFill/>
          <a:ln>
            <a:noFill/>
          </a:ln>
        </p:spPr>
      </p:pic>
      <p:pic>
        <p:nvPicPr>
          <p:cNvPr id="238" name="Google Shape;238;p18"/>
          <p:cNvPicPr preferRelativeResize="0"/>
          <p:nvPr/>
        </p:nvPicPr>
        <p:blipFill rotWithShape="1">
          <a:blip r:embed="rId54">
            <a:alphaModFix/>
          </a:blip>
          <a:srcRect b="0" l="0" r="0" t="0"/>
          <a:stretch/>
        </p:blipFill>
        <p:spPr>
          <a:xfrm>
            <a:off x="6757988" y="2576513"/>
            <a:ext cx="771600" cy="1171500"/>
          </a:xfrm>
          <a:prstGeom prst="rect">
            <a:avLst/>
          </a:prstGeom>
          <a:noFill/>
          <a:ln>
            <a:noFill/>
          </a:ln>
        </p:spPr>
      </p:pic>
      <p:pic>
        <p:nvPicPr>
          <p:cNvPr id="239" name="Google Shape;239;p18"/>
          <p:cNvPicPr preferRelativeResize="0"/>
          <p:nvPr/>
        </p:nvPicPr>
        <p:blipFill rotWithShape="1">
          <a:blip r:embed="rId55">
            <a:alphaModFix/>
          </a:blip>
          <a:srcRect b="0" l="0" r="0" t="0"/>
          <a:stretch/>
        </p:blipFill>
        <p:spPr>
          <a:xfrm>
            <a:off x="6757988" y="2576513"/>
            <a:ext cx="771600" cy="1666800"/>
          </a:xfrm>
          <a:prstGeom prst="rect">
            <a:avLst/>
          </a:prstGeom>
          <a:noFill/>
          <a:ln>
            <a:noFill/>
          </a:ln>
        </p:spPr>
      </p:pic>
      <p:pic>
        <p:nvPicPr>
          <p:cNvPr id="240" name="Google Shape;240;p18"/>
          <p:cNvPicPr preferRelativeResize="0"/>
          <p:nvPr/>
        </p:nvPicPr>
        <p:blipFill rotWithShape="1">
          <a:blip r:embed="rId56">
            <a:alphaModFix/>
          </a:blip>
          <a:srcRect b="0" l="0" r="0" t="0"/>
          <a:stretch/>
        </p:blipFill>
        <p:spPr>
          <a:xfrm>
            <a:off x="6757988" y="1757363"/>
            <a:ext cx="771600" cy="1238400"/>
          </a:xfrm>
          <a:prstGeom prst="rect">
            <a:avLst/>
          </a:prstGeom>
          <a:noFill/>
          <a:ln>
            <a:noFill/>
          </a:ln>
        </p:spPr>
      </p:pic>
      <p:pic>
        <p:nvPicPr>
          <p:cNvPr id="241" name="Google Shape;241;p18"/>
          <p:cNvPicPr preferRelativeResize="0"/>
          <p:nvPr/>
        </p:nvPicPr>
        <p:blipFill rotWithShape="1">
          <a:blip r:embed="rId57">
            <a:alphaModFix/>
          </a:blip>
          <a:srcRect b="0" l="0" r="0" t="0"/>
          <a:stretch/>
        </p:blipFill>
        <p:spPr>
          <a:xfrm>
            <a:off x="6757988" y="2252663"/>
            <a:ext cx="771600" cy="743100"/>
          </a:xfrm>
          <a:prstGeom prst="rect">
            <a:avLst/>
          </a:prstGeom>
          <a:noFill/>
          <a:ln>
            <a:noFill/>
          </a:ln>
        </p:spPr>
      </p:pic>
      <p:pic>
        <p:nvPicPr>
          <p:cNvPr id="242" name="Google Shape;242;p18"/>
          <p:cNvPicPr preferRelativeResize="0"/>
          <p:nvPr/>
        </p:nvPicPr>
        <p:blipFill rotWithShape="1">
          <a:blip r:embed="rId58">
            <a:alphaModFix/>
          </a:blip>
          <a:srcRect b="0" l="0" r="0" t="0"/>
          <a:stretch/>
        </p:blipFill>
        <p:spPr>
          <a:xfrm>
            <a:off x="6757988" y="2747963"/>
            <a:ext cx="771600" cy="247800"/>
          </a:xfrm>
          <a:prstGeom prst="rect">
            <a:avLst/>
          </a:prstGeom>
          <a:noFill/>
          <a:ln>
            <a:noFill/>
          </a:ln>
        </p:spPr>
      </p:pic>
      <p:pic>
        <p:nvPicPr>
          <p:cNvPr id="243" name="Google Shape;243;p18"/>
          <p:cNvPicPr preferRelativeResize="0"/>
          <p:nvPr/>
        </p:nvPicPr>
        <p:blipFill rotWithShape="1">
          <a:blip r:embed="rId59">
            <a:alphaModFix/>
          </a:blip>
          <a:srcRect b="0" l="0" r="0" t="0"/>
          <a:stretch/>
        </p:blipFill>
        <p:spPr>
          <a:xfrm>
            <a:off x="6757988" y="2986088"/>
            <a:ext cx="771600" cy="266700"/>
          </a:xfrm>
          <a:prstGeom prst="rect">
            <a:avLst/>
          </a:prstGeom>
          <a:noFill/>
          <a:ln>
            <a:noFill/>
          </a:ln>
        </p:spPr>
      </p:pic>
      <p:pic>
        <p:nvPicPr>
          <p:cNvPr id="244" name="Google Shape;244;p18"/>
          <p:cNvPicPr preferRelativeResize="0"/>
          <p:nvPr/>
        </p:nvPicPr>
        <p:blipFill rotWithShape="1">
          <a:blip r:embed="rId60">
            <a:alphaModFix/>
          </a:blip>
          <a:srcRect b="0" l="0" r="0" t="0"/>
          <a:stretch/>
        </p:blipFill>
        <p:spPr>
          <a:xfrm>
            <a:off x="6757988" y="2986088"/>
            <a:ext cx="771600" cy="762000"/>
          </a:xfrm>
          <a:prstGeom prst="rect">
            <a:avLst/>
          </a:prstGeom>
          <a:noFill/>
          <a:ln>
            <a:noFill/>
          </a:ln>
        </p:spPr>
      </p:pic>
      <p:pic>
        <p:nvPicPr>
          <p:cNvPr id="245" name="Google Shape;245;p18"/>
          <p:cNvPicPr preferRelativeResize="0"/>
          <p:nvPr/>
        </p:nvPicPr>
        <p:blipFill rotWithShape="1">
          <a:blip r:embed="rId61">
            <a:alphaModFix/>
          </a:blip>
          <a:srcRect b="0" l="0" r="0" t="0"/>
          <a:stretch/>
        </p:blipFill>
        <p:spPr>
          <a:xfrm>
            <a:off x="6757988" y="2986088"/>
            <a:ext cx="771600" cy="1257300"/>
          </a:xfrm>
          <a:prstGeom prst="rect">
            <a:avLst/>
          </a:prstGeom>
          <a:noFill/>
          <a:ln>
            <a:noFill/>
          </a:ln>
        </p:spPr>
      </p:pic>
      <p:pic>
        <p:nvPicPr>
          <p:cNvPr id="246" name="Google Shape;246;p18"/>
          <p:cNvPicPr preferRelativeResize="0"/>
          <p:nvPr/>
        </p:nvPicPr>
        <p:blipFill rotWithShape="1">
          <a:blip r:embed="rId62">
            <a:alphaModFix/>
          </a:blip>
          <a:srcRect b="0" l="0" r="0" t="0"/>
          <a:stretch/>
        </p:blipFill>
        <p:spPr>
          <a:xfrm>
            <a:off x="6757988" y="1757363"/>
            <a:ext cx="771600" cy="1647900"/>
          </a:xfrm>
          <a:prstGeom prst="rect">
            <a:avLst/>
          </a:prstGeom>
          <a:noFill/>
          <a:ln>
            <a:noFill/>
          </a:ln>
        </p:spPr>
      </p:pic>
      <p:pic>
        <p:nvPicPr>
          <p:cNvPr id="247" name="Google Shape;247;p18"/>
          <p:cNvPicPr preferRelativeResize="0"/>
          <p:nvPr/>
        </p:nvPicPr>
        <p:blipFill rotWithShape="1">
          <a:blip r:embed="rId63">
            <a:alphaModFix/>
          </a:blip>
          <a:srcRect b="0" l="0" r="0" t="0"/>
          <a:stretch/>
        </p:blipFill>
        <p:spPr>
          <a:xfrm>
            <a:off x="6757988" y="2252663"/>
            <a:ext cx="771600" cy="1152600"/>
          </a:xfrm>
          <a:prstGeom prst="rect">
            <a:avLst/>
          </a:prstGeom>
          <a:noFill/>
          <a:ln>
            <a:noFill/>
          </a:ln>
        </p:spPr>
      </p:pic>
      <p:pic>
        <p:nvPicPr>
          <p:cNvPr id="248" name="Google Shape;248;p18"/>
          <p:cNvPicPr preferRelativeResize="0"/>
          <p:nvPr/>
        </p:nvPicPr>
        <p:blipFill rotWithShape="1">
          <a:blip r:embed="rId64">
            <a:alphaModFix/>
          </a:blip>
          <a:srcRect b="0" l="0" r="0" t="0"/>
          <a:stretch/>
        </p:blipFill>
        <p:spPr>
          <a:xfrm>
            <a:off x="6757988" y="2747963"/>
            <a:ext cx="771600" cy="657300"/>
          </a:xfrm>
          <a:prstGeom prst="rect">
            <a:avLst/>
          </a:prstGeom>
          <a:noFill/>
          <a:ln>
            <a:noFill/>
          </a:ln>
        </p:spPr>
      </p:pic>
      <p:pic>
        <p:nvPicPr>
          <p:cNvPr id="249" name="Google Shape;249;p18"/>
          <p:cNvPicPr preferRelativeResize="0"/>
          <p:nvPr/>
        </p:nvPicPr>
        <p:blipFill rotWithShape="1">
          <a:blip r:embed="rId65">
            <a:alphaModFix/>
          </a:blip>
          <a:srcRect b="0" l="0" r="0" t="0"/>
          <a:stretch/>
        </p:blipFill>
        <p:spPr>
          <a:xfrm>
            <a:off x="6757988" y="3243263"/>
            <a:ext cx="771600" cy="162000"/>
          </a:xfrm>
          <a:prstGeom prst="rect">
            <a:avLst/>
          </a:prstGeom>
          <a:noFill/>
          <a:ln>
            <a:noFill/>
          </a:ln>
        </p:spPr>
      </p:pic>
      <p:pic>
        <p:nvPicPr>
          <p:cNvPr id="250" name="Google Shape;250;p18"/>
          <p:cNvPicPr preferRelativeResize="0"/>
          <p:nvPr/>
        </p:nvPicPr>
        <p:blipFill rotWithShape="1">
          <a:blip r:embed="rId66">
            <a:alphaModFix/>
          </a:blip>
          <a:srcRect b="0" l="0" r="0" t="0"/>
          <a:stretch/>
        </p:blipFill>
        <p:spPr>
          <a:xfrm>
            <a:off x="6757988" y="3395663"/>
            <a:ext cx="771600" cy="352500"/>
          </a:xfrm>
          <a:prstGeom prst="rect">
            <a:avLst/>
          </a:prstGeom>
          <a:noFill/>
          <a:ln>
            <a:noFill/>
          </a:ln>
        </p:spPr>
      </p:pic>
      <p:pic>
        <p:nvPicPr>
          <p:cNvPr id="251" name="Google Shape;251;p18"/>
          <p:cNvPicPr preferRelativeResize="0"/>
          <p:nvPr/>
        </p:nvPicPr>
        <p:blipFill rotWithShape="1">
          <a:blip r:embed="rId67">
            <a:alphaModFix/>
          </a:blip>
          <a:srcRect b="0" l="0" r="0" t="0"/>
          <a:stretch/>
        </p:blipFill>
        <p:spPr>
          <a:xfrm>
            <a:off x="6757988" y="3395663"/>
            <a:ext cx="771600" cy="847800"/>
          </a:xfrm>
          <a:prstGeom prst="rect">
            <a:avLst/>
          </a:prstGeom>
          <a:noFill/>
          <a:ln>
            <a:noFill/>
          </a:ln>
        </p:spPr>
      </p:pic>
      <p:pic>
        <p:nvPicPr>
          <p:cNvPr id="252" name="Google Shape;252;p18"/>
          <p:cNvPicPr preferRelativeResize="0"/>
          <p:nvPr/>
        </p:nvPicPr>
        <p:blipFill rotWithShape="1">
          <a:blip r:embed="rId68">
            <a:alphaModFix/>
          </a:blip>
          <a:srcRect b="0" l="0" r="0" t="0"/>
          <a:stretch/>
        </p:blipFill>
        <p:spPr>
          <a:xfrm>
            <a:off x="6757988" y="1757363"/>
            <a:ext cx="771600" cy="2057400"/>
          </a:xfrm>
          <a:prstGeom prst="rect">
            <a:avLst/>
          </a:prstGeom>
          <a:noFill/>
          <a:ln>
            <a:noFill/>
          </a:ln>
        </p:spPr>
      </p:pic>
      <p:pic>
        <p:nvPicPr>
          <p:cNvPr id="253" name="Google Shape;253;p18"/>
          <p:cNvPicPr preferRelativeResize="0"/>
          <p:nvPr/>
        </p:nvPicPr>
        <p:blipFill rotWithShape="1">
          <a:blip r:embed="rId69">
            <a:alphaModFix/>
          </a:blip>
          <a:srcRect b="0" l="0" r="0" t="0"/>
          <a:stretch/>
        </p:blipFill>
        <p:spPr>
          <a:xfrm>
            <a:off x="6757988" y="2252663"/>
            <a:ext cx="771600" cy="1562100"/>
          </a:xfrm>
          <a:prstGeom prst="rect">
            <a:avLst/>
          </a:prstGeom>
          <a:noFill/>
          <a:ln>
            <a:noFill/>
          </a:ln>
        </p:spPr>
      </p:pic>
      <p:pic>
        <p:nvPicPr>
          <p:cNvPr id="254" name="Google Shape;254;p18"/>
          <p:cNvPicPr preferRelativeResize="0"/>
          <p:nvPr/>
        </p:nvPicPr>
        <p:blipFill rotWithShape="1">
          <a:blip r:embed="rId70">
            <a:alphaModFix/>
          </a:blip>
          <a:srcRect b="0" l="0" r="0" t="0"/>
          <a:stretch/>
        </p:blipFill>
        <p:spPr>
          <a:xfrm>
            <a:off x="6757988" y="2747963"/>
            <a:ext cx="771600" cy="1066800"/>
          </a:xfrm>
          <a:prstGeom prst="rect">
            <a:avLst/>
          </a:prstGeom>
          <a:noFill/>
          <a:ln>
            <a:noFill/>
          </a:ln>
        </p:spPr>
      </p:pic>
      <p:pic>
        <p:nvPicPr>
          <p:cNvPr id="255" name="Google Shape;255;p18"/>
          <p:cNvPicPr preferRelativeResize="0"/>
          <p:nvPr/>
        </p:nvPicPr>
        <p:blipFill rotWithShape="1">
          <a:blip r:embed="rId71">
            <a:alphaModFix/>
          </a:blip>
          <a:srcRect b="0" l="0" r="0" t="0"/>
          <a:stretch/>
        </p:blipFill>
        <p:spPr>
          <a:xfrm>
            <a:off x="6757988" y="3243263"/>
            <a:ext cx="771600" cy="571500"/>
          </a:xfrm>
          <a:prstGeom prst="rect">
            <a:avLst/>
          </a:prstGeom>
          <a:noFill/>
          <a:ln>
            <a:noFill/>
          </a:ln>
        </p:spPr>
      </p:pic>
      <p:pic>
        <p:nvPicPr>
          <p:cNvPr id="256" name="Google Shape;256;p18"/>
          <p:cNvPicPr preferRelativeResize="0"/>
          <p:nvPr/>
        </p:nvPicPr>
        <p:blipFill rotWithShape="1">
          <a:blip r:embed="rId72">
            <a:alphaModFix/>
          </a:blip>
          <a:srcRect b="0" l="0" r="0" t="0"/>
          <a:stretch/>
        </p:blipFill>
        <p:spPr>
          <a:xfrm>
            <a:off x="6762750" y="3738563"/>
            <a:ext cx="762000" cy="76200"/>
          </a:xfrm>
          <a:prstGeom prst="rect">
            <a:avLst/>
          </a:prstGeom>
          <a:noFill/>
          <a:ln>
            <a:noFill/>
          </a:ln>
        </p:spPr>
      </p:pic>
      <p:pic>
        <p:nvPicPr>
          <p:cNvPr id="257" name="Google Shape;257;p18"/>
          <p:cNvPicPr preferRelativeResize="0"/>
          <p:nvPr/>
        </p:nvPicPr>
        <p:blipFill rotWithShape="1">
          <a:blip r:embed="rId73">
            <a:alphaModFix/>
          </a:blip>
          <a:srcRect b="0" l="0" r="0" t="0"/>
          <a:stretch/>
        </p:blipFill>
        <p:spPr>
          <a:xfrm>
            <a:off x="6757988" y="3805238"/>
            <a:ext cx="771600" cy="438300"/>
          </a:xfrm>
          <a:prstGeom prst="rect">
            <a:avLst/>
          </a:prstGeom>
          <a:noFill/>
          <a:ln>
            <a:noFill/>
          </a:ln>
        </p:spPr>
      </p:pic>
      <p:pic>
        <p:nvPicPr>
          <p:cNvPr id="258" name="Google Shape;258;p18"/>
          <p:cNvPicPr preferRelativeResize="0"/>
          <p:nvPr/>
        </p:nvPicPr>
        <p:blipFill rotWithShape="1">
          <a:blip r:embed="rId74">
            <a:alphaModFix/>
          </a:blip>
          <a:srcRect b="0" l="0" r="0" t="0"/>
          <a:stretch/>
        </p:blipFill>
        <p:spPr>
          <a:xfrm>
            <a:off x="6757988" y="1757363"/>
            <a:ext cx="771600" cy="2466900"/>
          </a:xfrm>
          <a:prstGeom prst="rect">
            <a:avLst/>
          </a:prstGeom>
          <a:noFill/>
          <a:ln>
            <a:noFill/>
          </a:ln>
        </p:spPr>
      </p:pic>
      <p:pic>
        <p:nvPicPr>
          <p:cNvPr id="259" name="Google Shape;259;p18"/>
          <p:cNvPicPr preferRelativeResize="0"/>
          <p:nvPr/>
        </p:nvPicPr>
        <p:blipFill rotWithShape="1">
          <a:blip r:embed="rId75">
            <a:alphaModFix/>
          </a:blip>
          <a:srcRect b="0" l="0" r="0" t="0"/>
          <a:stretch/>
        </p:blipFill>
        <p:spPr>
          <a:xfrm>
            <a:off x="6757988" y="2252663"/>
            <a:ext cx="771600" cy="1971600"/>
          </a:xfrm>
          <a:prstGeom prst="rect">
            <a:avLst/>
          </a:prstGeom>
          <a:noFill/>
          <a:ln>
            <a:noFill/>
          </a:ln>
        </p:spPr>
      </p:pic>
      <p:pic>
        <p:nvPicPr>
          <p:cNvPr id="260" name="Google Shape;260;p18"/>
          <p:cNvPicPr preferRelativeResize="0"/>
          <p:nvPr/>
        </p:nvPicPr>
        <p:blipFill rotWithShape="1">
          <a:blip r:embed="rId76">
            <a:alphaModFix/>
          </a:blip>
          <a:srcRect b="0" l="0" r="0" t="0"/>
          <a:stretch/>
        </p:blipFill>
        <p:spPr>
          <a:xfrm>
            <a:off x="6757988" y="2747963"/>
            <a:ext cx="771600" cy="1476300"/>
          </a:xfrm>
          <a:prstGeom prst="rect">
            <a:avLst/>
          </a:prstGeom>
          <a:noFill/>
          <a:ln>
            <a:noFill/>
          </a:ln>
        </p:spPr>
      </p:pic>
      <p:pic>
        <p:nvPicPr>
          <p:cNvPr id="261" name="Google Shape;261;p18"/>
          <p:cNvPicPr preferRelativeResize="0"/>
          <p:nvPr/>
        </p:nvPicPr>
        <p:blipFill rotWithShape="1">
          <a:blip r:embed="rId77">
            <a:alphaModFix/>
          </a:blip>
          <a:srcRect b="0" l="0" r="0" t="0"/>
          <a:stretch/>
        </p:blipFill>
        <p:spPr>
          <a:xfrm>
            <a:off x="6757988" y="3243263"/>
            <a:ext cx="771600" cy="981000"/>
          </a:xfrm>
          <a:prstGeom prst="rect">
            <a:avLst/>
          </a:prstGeom>
          <a:noFill/>
          <a:ln>
            <a:noFill/>
          </a:ln>
        </p:spPr>
      </p:pic>
      <p:pic>
        <p:nvPicPr>
          <p:cNvPr id="262" name="Google Shape;262;p18"/>
          <p:cNvPicPr preferRelativeResize="0"/>
          <p:nvPr/>
        </p:nvPicPr>
        <p:blipFill rotWithShape="1">
          <a:blip r:embed="rId78">
            <a:alphaModFix/>
          </a:blip>
          <a:srcRect b="0" l="0" r="0" t="0"/>
          <a:stretch/>
        </p:blipFill>
        <p:spPr>
          <a:xfrm>
            <a:off x="6757988" y="3738563"/>
            <a:ext cx="771600" cy="485700"/>
          </a:xfrm>
          <a:prstGeom prst="rect">
            <a:avLst/>
          </a:prstGeom>
          <a:noFill/>
          <a:ln>
            <a:noFill/>
          </a:ln>
        </p:spPr>
      </p:pic>
      <p:pic>
        <p:nvPicPr>
          <p:cNvPr id="263" name="Google Shape;263;p18"/>
          <p:cNvPicPr preferRelativeResize="0"/>
          <p:nvPr/>
        </p:nvPicPr>
        <p:blipFill rotWithShape="1">
          <a:blip r:embed="rId79">
            <a:alphaModFix/>
          </a:blip>
          <a:srcRect b="0" l="0" r="0" t="0"/>
          <a:stretch/>
        </p:blipFill>
        <p:spPr>
          <a:xfrm>
            <a:off x="6762750" y="4214813"/>
            <a:ext cx="762000" cy="28500"/>
          </a:xfrm>
          <a:prstGeom prst="rect">
            <a:avLst/>
          </a:prstGeom>
          <a:noFill/>
          <a:ln>
            <a:noFill/>
          </a:ln>
        </p:spPr>
      </p:pic>
      <p:pic>
        <p:nvPicPr>
          <p:cNvPr id="264" name="Google Shape;264;p18"/>
          <p:cNvPicPr preferRelativeResize="0"/>
          <p:nvPr/>
        </p:nvPicPr>
        <p:blipFill rotWithShape="1">
          <a:blip r:embed="rId4">
            <a:alphaModFix/>
          </a:blip>
          <a:srcRect b="0" l="0" r="0" t="0"/>
          <a:stretch/>
        </p:blipFill>
        <p:spPr>
          <a:xfrm>
            <a:off x="7524750" y="1757363"/>
            <a:ext cx="762000" cy="9600"/>
          </a:xfrm>
          <a:prstGeom prst="rect">
            <a:avLst/>
          </a:prstGeom>
          <a:noFill/>
          <a:ln>
            <a:noFill/>
          </a:ln>
        </p:spPr>
      </p:pic>
      <p:pic>
        <p:nvPicPr>
          <p:cNvPr id="265" name="Google Shape;265;p18"/>
          <p:cNvPicPr preferRelativeResize="0"/>
          <p:nvPr/>
        </p:nvPicPr>
        <p:blipFill rotWithShape="1">
          <a:blip r:embed="rId80">
            <a:alphaModFix/>
          </a:blip>
          <a:srcRect b="0" l="0" r="0" t="0"/>
          <a:stretch/>
        </p:blipFill>
        <p:spPr>
          <a:xfrm>
            <a:off x="7519988" y="1757363"/>
            <a:ext cx="771600" cy="628800"/>
          </a:xfrm>
          <a:prstGeom prst="rect">
            <a:avLst/>
          </a:prstGeom>
          <a:noFill/>
          <a:ln>
            <a:noFill/>
          </a:ln>
        </p:spPr>
      </p:pic>
      <p:pic>
        <p:nvPicPr>
          <p:cNvPr id="266" name="Google Shape;266;p18"/>
          <p:cNvPicPr preferRelativeResize="0"/>
          <p:nvPr/>
        </p:nvPicPr>
        <p:blipFill rotWithShape="1">
          <a:blip r:embed="rId81">
            <a:alphaModFix/>
          </a:blip>
          <a:srcRect b="0" l="0" r="0" t="0"/>
          <a:stretch/>
        </p:blipFill>
        <p:spPr>
          <a:xfrm>
            <a:off x="7519988" y="1757363"/>
            <a:ext cx="771600" cy="1247700"/>
          </a:xfrm>
          <a:prstGeom prst="rect">
            <a:avLst/>
          </a:prstGeom>
          <a:noFill/>
          <a:ln>
            <a:noFill/>
          </a:ln>
        </p:spPr>
      </p:pic>
      <p:pic>
        <p:nvPicPr>
          <p:cNvPr id="267" name="Google Shape;267;p18"/>
          <p:cNvPicPr preferRelativeResize="0"/>
          <p:nvPr/>
        </p:nvPicPr>
        <p:blipFill rotWithShape="1">
          <a:blip r:embed="rId82">
            <a:alphaModFix/>
          </a:blip>
          <a:srcRect b="0" l="0" r="0" t="0"/>
          <a:stretch/>
        </p:blipFill>
        <p:spPr>
          <a:xfrm>
            <a:off x="7519988" y="1757363"/>
            <a:ext cx="771600" cy="1866900"/>
          </a:xfrm>
          <a:prstGeom prst="rect">
            <a:avLst/>
          </a:prstGeom>
          <a:noFill/>
          <a:ln>
            <a:noFill/>
          </a:ln>
        </p:spPr>
      </p:pic>
      <p:pic>
        <p:nvPicPr>
          <p:cNvPr id="268" name="Google Shape;268;p18"/>
          <p:cNvPicPr preferRelativeResize="0"/>
          <p:nvPr/>
        </p:nvPicPr>
        <p:blipFill rotWithShape="1">
          <a:blip r:embed="rId43">
            <a:alphaModFix/>
          </a:blip>
          <a:srcRect b="0" l="0" r="0" t="0"/>
          <a:stretch/>
        </p:blipFill>
        <p:spPr>
          <a:xfrm>
            <a:off x="7519988" y="1757363"/>
            <a:ext cx="771600" cy="2486100"/>
          </a:xfrm>
          <a:prstGeom prst="rect">
            <a:avLst/>
          </a:prstGeom>
          <a:noFill/>
          <a:ln>
            <a:noFill/>
          </a:ln>
        </p:spPr>
      </p:pic>
      <p:pic>
        <p:nvPicPr>
          <p:cNvPr id="269" name="Google Shape;269;p18"/>
          <p:cNvPicPr preferRelativeResize="0"/>
          <p:nvPr/>
        </p:nvPicPr>
        <p:blipFill rotWithShape="1">
          <a:blip r:embed="rId83">
            <a:alphaModFix/>
          </a:blip>
          <a:srcRect b="0" l="0" r="0" t="0"/>
          <a:stretch/>
        </p:blipFill>
        <p:spPr>
          <a:xfrm>
            <a:off x="7519988" y="1757363"/>
            <a:ext cx="771600" cy="504900"/>
          </a:xfrm>
          <a:prstGeom prst="rect">
            <a:avLst/>
          </a:prstGeom>
          <a:noFill/>
          <a:ln>
            <a:noFill/>
          </a:ln>
        </p:spPr>
      </p:pic>
      <p:pic>
        <p:nvPicPr>
          <p:cNvPr id="270" name="Google Shape;270;p18"/>
          <p:cNvPicPr preferRelativeResize="0"/>
          <p:nvPr/>
        </p:nvPicPr>
        <p:blipFill rotWithShape="1">
          <a:blip r:embed="rId84">
            <a:alphaModFix/>
          </a:blip>
          <a:srcRect b="0" l="0" r="0" t="0"/>
          <a:stretch/>
        </p:blipFill>
        <p:spPr>
          <a:xfrm>
            <a:off x="7519988" y="2252663"/>
            <a:ext cx="771600" cy="133500"/>
          </a:xfrm>
          <a:prstGeom prst="rect">
            <a:avLst/>
          </a:prstGeom>
          <a:noFill/>
          <a:ln>
            <a:noFill/>
          </a:ln>
        </p:spPr>
      </p:pic>
      <p:pic>
        <p:nvPicPr>
          <p:cNvPr id="271" name="Google Shape;271;p18"/>
          <p:cNvPicPr preferRelativeResize="0"/>
          <p:nvPr/>
        </p:nvPicPr>
        <p:blipFill rotWithShape="1">
          <a:blip r:embed="rId85">
            <a:alphaModFix/>
          </a:blip>
          <a:srcRect b="0" l="0" r="0" t="0"/>
          <a:stretch/>
        </p:blipFill>
        <p:spPr>
          <a:xfrm>
            <a:off x="7519988" y="2252663"/>
            <a:ext cx="771600" cy="752400"/>
          </a:xfrm>
          <a:prstGeom prst="rect">
            <a:avLst/>
          </a:prstGeom>
          <a:noFill/>
          <a:ln>
            <a:noFill/>
          </a:ln>
        </p:spPr>
      </p:pic>
      <p:pic>
        <p:nvPicPr>
          <p:cNvPr id="272" name="Google Shape;272;p18"/>
          <p:cNvPicPr preferRelativeResize="0"/>
          <p:nvPr/>
        </p:nvPicPr>
        <p:blipFill rotWithShape="1">
          <a:blip r:embed="rId86">
            <a:alphaModFix/>
          </a:blip>
          <a:srcRect b="0" l="0" r="0" t="0"/>
          <a:stretch/>
        </p:blipFill>
        <p:spPr>
          <a:xfrm>
            <a:off x="7519988" y="2252663"/>
            <a:ext cx="771600" cy="1371600"/>
          </a:xfrm>
          <a:prstGeom prst="rect">
            <a:avLst/>
          </a:prstGeom>
          <a:noFill/>
          <a:ln>
            <a:noFill/>
          </a:ln>
        </p:spPr>
      </p:pic>
      <p:pic>
        <p:nvPicPr>
          <p:cNvPr id="273" name="Google Shape;273;p18"/>
          <p:cNvPicPr preferRelativeResize="0"/>
          <p:nvPr/>
        </p:nvPicPr>
        <p:blipFill rotWithShape="1">
          <a:blip r:embed="rId42">
            <a:alphaModFix/>
          </a:blip>
          <a:srcRect b="0" l="0" r="0" t="0"/>
          <a:stretch/>
        </p:blipFill>
        <p:spPr>
          <a:xfrm>
            <a:off x="7519988" y="2252663"/>
            <a:ext cx="771600" cy="1990800"/>
          </a:xfrm>
          <a:prstGeom prst="rect">
            <a:avLst/>
          </a:prstGeom>
          <a:noFill/>
          <a:ln>
            <a:noFill/>
          </a:ln>
        </p:spPr>
      </p:pic>
      <p:pic>
        <p:nvPicPr>
          <p:cNvPr id="274" name="Google Shape;274;p18"/>
          <p:cNvPicPr preferRelativeResize="0"/>
          <p:nvPr/>
        </p:nvPicPr>
        <p:blipFill rotWithShape="1">
          <a:blip r:embed="rId87">
            <a:alphaModFix/>
          </a:blip>
          <a:srcRect b="0" l="0" r="0" t="0"/>
          <a:stretch/>
        </p:blipFill>
        <p:spPr>
          <a:xfrm>
            <a:off x="7519988" y="1757363"/>
            <a:ext cx="771600" cy="1000200"/>
          </a:xfrm>
          <a:prstGeom prst="rect">
            <a:avLst/>
          </a:prstGeom>
          <a:noFill/>
          <a:ln>
            <a:noFill/>
          </a:ln>
        </p:spPr>
      </p:pic>
      <p:pic>
        <p:nvPicPr>
          <p:cNvPr id="275" name="Google Shape;275;p18"/>
          <p:cNvPicPr preferRelativeResize="0"/>
          <p:nvPr/>
        </p:nvPicPr>
        <p:blipFill rotWithShape="1">
          <a:blip r:embed="rId88">
            <a:alphaModFix/>
          </a:blip>
          <a:srcRect b="0" l="0" r="0" t="0"/>
          <a:stretch/>
        </p:blipFill>
        <p:spPr>
          <a:xfrm>
            <a:off x="7519988" y="2376488"/>
            <a:ext cx="771600" cy="381000"/>
          </a:xfrm>
          <a:prstGeom prst="rect">
            <a:avLst/>
          </a:prstGeom>
          <a:noFill/>
          <a:ln>
            <a:noFill/>
          </a:ln>
        </p:spPr>
      </p:pic>
      <p:pic>
        <p:nvPicPr>
          <p:cNvPr id="276" name="Google Shape;276;p18"/>
          <p:cNvPicPr preferRelativeResize="0"/>
          <p:nvPr/>
        </p:nvPicPr>
        <p:blipFill rotWithShape="1">
          <a:blip r:embed="rId89">
            <a:alphaModFix/>
          </a:blip>
          <a:srcRect b="0" l="0" r="0" t="0"/>
          <a:stretch/>
        </p:blipFill>
        <p:spPr>
          <a:xfrm>
            <a:off x="7519988" y="2747963"/>
            <a:ext cx="771600" cy="257100"/>
          </a:xfrm>
          <a:prstGeom prst="rect">
            <a:avLst/>
          </a:prstGeom>
          <a:noFill/>
          <a:ln>
            <a:noFill/>
          </a:ln>
        </p:spPr>
      </p:pic>
      <p:pic>
        <p:nvPicPr>
          <p:cNvPr id="277" name="Google Shape;277;p18"/>
          <p:cNvPicPr preferRelativeResize="0"/>
          <p:nvPr/>
        </p:nvPicPr>
        <p:blipFill rotWithShape="1">
          <a:blip r:embed="rId90">
            <a:alphaModFix/>
          </a:blip>
          <a:srcRect b="0" l="0" r="0" t="0"/>
          <a:stretch/>
        </p:blipFill>
        <p:spPr>
          <a:xfrm>
            <a:off x="7519988" y="2747963"/>
            <a:ext cx="771600" cy="876300"/>
          </a:xfrm>
          <a:prstGeom prst="rect">
            <a:avLst/>
          </a:prstGeom>
          <a:noFill/>
          <a:ln>
            <a:noFill/>
          </a:ln>
        </p:spPr>
      </p:pic>
      <p:pic>
        <p:nvPicPr>
          <p:cNvPr id="278" name="Google Shape;278;p18"/>
          <p:cNvPicPr preferRelativeResize="0"/>
          <p:nvPr/>
        </p:nvPicPr>
        <p:blipFill rotWithShape="1">
          <a:blip r:embed="rId41">
            <a:alphaModFix/>
          </a:blip>
          <a:srcRect b="0" l="0" r="0" t="0"/>
          <a:stretch/>
        </p:blipFill>
        <p:spPr>
          <a:xfrm>
            <a:off x="7519988" y="2747963"/>
            <a:ext cx="771600" cy="1495500"/>
          </a:xfrm>
          <a:prstGeom prst="rect">
            <a:avLst/>
          </a:prstGeom>
          <a:noFill/>
          <a:ln>
            <a:noFill/>
          </a:ln>
        </p:spPr>
      </p:pic>
      <p:pic>
        <p:nvPicPr>
          <p:cNvPr id="279" name="Google Shape;279;p18"/>
          <p:cNvPicPr preferRelativeResize="0"/>
          <p:nvPr/>
        </p:nvPicPr>
        <p:blipFill rotWithShape="1">
          <a:blip r:embed="rId91">
            <a:alphaModFix/>
          </a:blip>
          <a:srcRect b="0" l="0" r="0" t="0"/>
          <a:stretch/>
        </p:blipFill>
        <p:spPr>
          <a:xfrm>
            <a:off x="7519988" y="1757363"/>
            <a:ext cx="771600" cy="1495500"/>
          </a:xfrm>
          <a:prstGeom prst="rect">
            <a:avLst/>
          </a:prstGeom>
          <a:noFill/>
          <a:ln>
            <a:noFill/>
          </a:ln>
        </p:spPr>
      </p:pic>
      <p:pic>
        <p:nvPicPr>
          <p:cNvPr id="280" name="Google Shape;280;p18"/>
          <p:cNvPicPr preferRelativeResize="0"/>
          <p:nvPr/>
        </p:nvPicPr>
        <p:blipFill rotWithShape="1">
          <a:blip r:embed="rId92">
            <a:alphaModFix/>
          </a:blip>
          <a:srcRect b="0" l="0" r="0" t="0"/>
          <a:stretch/>
        </p:blipFill>
        <p:spPr>
          <a:xfrm>
            <a:off x="7519988" y="2376488"/>
            <a:ext cx="771600" cy="876300"/>
          </a:xfrm>
          <a:prstGeom prst="rect">
            <a:avLst/>
          </a:prstGeom>
          <a:noFill/>
          <a:ln>
            <a:noFill/>
          </a:ln>
        </p:spPr>
      </p:pic>
      <p:pic>
        <p:nvPicPr>
          <p:cNvPr id="281" name="Google Shape;281;p18"/>
          <p:cNvPicPr preferRelativeResize="0"/>
          <p:nvPr/>
        </p:nvPicPr>
        <p:blipFill rotWithShape="1">
          <a:blip r:embed="rId93">
            <a:alphaModFix/>
          </a:blip>
          <a:srcRect b="0" l="0" r="0" t="0"/>
          <a:stretch/>
        </p:blipFill>
        <p:spPr>
          <a:xfrm>
            <a:off x="7519988" y="2995613"/>
            <a:ext cx="771600" cy="257100"/>
          </a:xfrm>
          <a:prstGeom prst="rect">
            <a:avLst/>
          </a:prstGeom>
          <a:noFill/>
          <a:ln>
            <a:noFill/>
          </a:ln>
        </p:spPr>
      </p:pic>
      <p:pic>
        <p:nvPicPr>
          <p:cNvPr id="282" name="Google Shape;282;p18"/>
          <p:cNvPicPr preferRelativeResize="0"/>
          <p:nvPr/>
        </p:nvPicPr>
        <p:blipFill rotWithShape="1">
          <a:blip r:embed="rId94">
            <a:alphaModFix/>
          </a:blip>
          <a:srcRect b="0" l="0" r="0" t="0"/>
          <a:stretch/>
        </p:blipFill>
        <p:spPr>
          <a:xfrm>
            <a:off x="7519988" y="3243263"/>
            <a:ext cx="771600" cy="381000"/>
          </a:xfrm>
          <a:prstGeom prst="rect">
            <a:avLst/>
          </a:prstGeom>
          <a:noFill/>
          <a:ln>
            <a:noFill/>
          </a:ln>
        </p:spPr>
      </p:pic>
      <p:pic>
        <p:nvPicPr>
          <p:cNvPr id="283" name="Google Shape;283;p18"/>
          <p:cNvPicPr preferRelativeResize="0"/>
          <p:nvPr/>
        </p:nvPicPr>
        <p:blipFill rotWithShape="1">
          <a:blip r:embed="rId40">
            <a:alphaModFix/>
          </a:blip>
          <a:srcRect b="0" l="0" r="0" t="0"/>
          <a:stretch/>
        </p:blipFill>
        <p:spPr>
          <a:xfrm>
            <a:off x="7519988" y="3243263"/>
            <a:ext cx="771600" cy="1000200"/>
          </a:xfrm>
          <a:prstGeom prst="rect">
            <a:avLst/>
          </a:prstGeom>
          <a:noFill/>
          <a:ln>
            <a:noFill/>
          </a:ln>
        </p:spPr>
      </p:pic>
      <p:pic>
        <p:nvPicPr>
          <p:cNvPr id="284" name="Google Shape;284;p18"/>
          <p:cNvPicPr preferRelativeResize="0"/>
          <p:nvPr/>
        </p:nvPicPr>
        <p:blipFill rotWithShape="1">
          <a:blip r:embed="rId95">
            <a:alphaModFix/>
          </a:blip>
          <a:srcRect b="0" l="0" r="0" t="0"/>
          <a:stretch/>
        </p:blipFill>
        <p:spPr>
          <a:xfrm>
            <a:off x="7519988" y="1757363"/>
            <a:ext cx="771600" cy="1990800"/>
          </a:xfrm>
          <a:prstGeom prst="rect">
            <a:avLst/>
          </a:prstGeom>
          <a:noFill/>
          <a:ln>
            <a:noFill/>
          </a:ln>
        </p:spPr>
      </p:pic>
      <p:pic>
        <p:nvPicPr>
          <p:cNvPr id="285" name="Google Shape;285;p18"/>
          <p:cNvPicPr preferRelativeResize="0"/>
          <p:nvPr/>
        </p:nvPicPr>
        <p:blipFill rotWithShape="1">
          <a:blip r:embed="rId96">
            <a:alphaModFix/>
          </a:blip>
          <a:srcRect b="0" l="0" r="0" t="0"/>
          <a:stretch/>
        </p:blipFill>
        <p:spPr>
          <a:xfrm>
            <a:off x="7519988" y="2376488"/>
            <a:ext cx="771600" cy="1371600"/>
          </a:xfrm>
          <a:prstGeom prst="rect">
            <a:avLst/>
          </a:prstGeom>
          <a:noFill/>
          <a:ln>
            <a:noFill/>
          </a:ln>
        </p:spPr>
      </p:pic>
      <p:pic>
        <p:nvPicPr>
          <p:cNvPr id="286" name="Google Shape;286;p18"/>
          <p:cNvPicPr preferRelativeResize="0"/>
          <p:nvPr/>
        </p:nvPicPr>
        <p:blipFill rotWithShape="1">
          <a:blip r:embed="rId97">
            <a:alphaModFix/>
          </a:blip>
          <a:srcRect b="0" l="0" r="0" t="0"/>
          <a:stretch/>
        </p:blipFill>
        <p:spPr>
          <a:xfrm>
            <a:off x="7519988" y="2995613"/>
            <a:ext cx="771600" cy="752400"/>
          </a:xfrm>
          <a:prstGeom prst="rect">
            <a:avLst/>
          </a:prstGeom>
          <a:noFill/>
          <a:ln>
            <a:noFill/>
          </a:ln>
        </p:spPr>
      </p:pic>
      <p:pic>
        <p:nvPicPr>
          <p:cNvPr id="287" name="Google Shape;287;p18"/>
          <p:cNvPicPr preferRelativeResize="0"/>
          <p:nvPr/>
        </p:nvPicPr>
        <p:blipFill rotWithShape="1">
          <a:blip r:embed="rId98">
            <a:alphaModFix/>
          </a:blip>
          <a:srcRect b="0" l="0" r="0" t="0"/>
          <a:stretch/>
        </p:blipFill>
        <p:spPr>
          <a:xfrm>
            <a:off x="7519988" y="3614738"/>
            <a:ext cx="771600" cy="133500"/>
          </a:xfrm>
          <a:prstGeom prst="rect">
            <a:avLst/>
          </a:prstGeom>
          <a:noFill/>
          <a:ln>
            <a:noFill/>
          </a:ln>
        </p:spPr>
      </p:pic>
      <p:pic>
        <p:nvPicPr>
          <p:cNvPr id="288" name="Google Shape;288;p18"/>
          <p:cNvPicPr preferRelativeResize="0"/>
          <p:nvPr/>
        </p:nvPicPr>
        <p:blipFill rotWithShape="1">
          <a:blip r:embed="rId39">
            <a:alphaModFix/>
          </a:blip>
          <a:srcRect b="0" l="0" r="0" t="0"/>
          <a:stretch/>
        </p:blipFill>
        <p:spPr>
          <a:xfrm>
            <a:off x="7519988" y="3738563"/>
            <a:ext cx="771600" cy="504900"/>
          </a:xfrm>
          <a:prstGeom prst="rect">
            <a:avLst/>
          </a:prstGeom>
          <a:noFill/>
          <a:ln>
            <a:noFill/>
          </a:ln>
        </p:spPr>
      </p:pic>
      <p:pic>
        <p:nvPicPr>
          <p:cNvPr id="289" name="Google Shape;289;p18"/>
          <p:cNvPicPr preferRelativeResize="0"/>
          <p:nvPr/>
        </p:nvPicPr>
        <p:blipFill rotWithShape="1">
          <a:blip r:embed="rId32">
            <a:alphaModFix/>
          </a:blip>
          <a:srcRect b="0" l="0" r="0" t="0"/>
          <a:stretch/>
        </p:blipFill>
        <p:spPr>
          <a:xfrm>
            <a:off x="7519988" y="1757363"/>
            <a:ext cx="771600" cy="2486100"/>
          </a:xfrm>
          <a:prstGeom prst="rect">
            <a:avLst/>
          </a:prstGeom>
          <a:noFill/>
          <a:ln>
            <a:noFill/>
          </a:ln>
        </p:spPr>
      </p:pic>
      <p:pic>
        <p:nvPicPr>
          <p:cNvPr id="290" name="Google Shape;290;p18"/>
          <p:cNvPicPr preferRelativeResize="0"/>
          <p:nvPr/>
        </p:nvPicPr>
        <p:blipFill rotWithShape="1">
          <a:blip r:embed="rId25">
            <a:alphaModFix/>
          </a:blip>
          <a:srcRect b="0" l="0" r="0" t="0"/>
          <a:stretch/>
        </p:blipFill>
        <p:spPr>
          <a:xfrm>
            <a:off x="7519988" y="2376488"/>
            <a:ext cx="771600" cy="1866900"/>
          </a:xfrm>
          <a:prstGeom prst="rect">
            <a:avLst/>
          </a:prstGeom>
          <a:noFill/>
          <a:ln>
            <a:noFill/>
          </a:ln>
        </p:spPr>
      </p:pic>
      <p:pic>
        <p:nvPicPr>
          <p:cNvPr id="291" name="Google Shape;291;p18"/>
          <p:cNvPicPr preferRelativeResize="0"/>
          <p:nvPr/>
        </p:nvPicPr>
        <p:blipFill rotWithShape="1">
          <a:blip r:embed="rId18">
            <a:alphaModFix/>
          </a:blip>
          <a:srcRect b="0" l="0" r="0" t="0"/>
          <a:stretch/>
        </p:blipFill>
        <p:spPr>
          <a:xfrm>
            <a:off x="7519988" y="2995613"/>
            <a:ext cx="771600" cy="1247700"/>
          </a:xfrm>
          <a:prstGeom prst="rect">
            <a:avLst/>
          </a:prstGeom>
          <a:noFill/>
          <a:ln>
            <a:noFill/>
          </a:ln>
        </p:spPr>
      </p:pic>
      <p:pic>
        <p:nvPicPr>
          <p:cNvPr id="292" name="Google Shape;292;p18"/>
          <p:cNvPicPr preferRelativeResize="0"/>
          <p:nvPr/>
        </p:nvPicPr>
        <p:blipFill rotWithShape="1">
          <a:blip r:embed="rId11">
            <a:alphaModFix/>
          </a:blip>
          <a:srcRect b="0" l="0" r="0" t="0"/>
          <a:stretch/>
        </p:blipFill>
        <p:spPr>
          <a:xfrm>
            <a:off x="7519988" y="3614738"/>
            <a:ext cx="771600" cy="628800"/>
          </a:xfrm>
          <a:prstGeom prst="rect">
            <a:avLst/>
          </a:prstGeom>
          <a:noFill/>
          <a:ln>
            <a:noFill/>
          </a:ln>
        </p:spPr>
      </p:pic>
      <p:pic>
        <p:nvPicPr>
          <p:cNvPr id="293" name="Google Shape;293;p18"/>
          <p:cNvPicPr preferRelativeResize="0"/>
          <p:nvPr/>
        </p:nvPicPr>
        <p:blipFill rotWithShape="1">
          <a:blip r:embed="rId4">
            <a:alphaModFix/>
          </a:blip>
          <a:srcRect b="0" l="0" r="0" t="0"/>
          <a:stretch/>
        </p:blipFill>
        <p:spPr>
          <a:xfrm>
            <a:off x="7524750" y="4233863"/>
            <a:ext cx="762000" cy="9600"/>
          </a:xfrm>
          <a:prstGeom prst="rect">
            <a:avLst/>
          </a:prstGeom>
          <a:noFill/>
          <a:ln>
            <a:noFill/>
          </a:ln>
        </p:spPr>
      </p:pic>
      <p:sp>
        <p:nvSpPr>
          <p:cNvPr id="294" name="Google Shape;294;p18"/>
          <p:cNvSpPr/>
          <p:nvPr/>
        </p:nvSpPr>
        <p:spPr>
          <a:xfrm>
            <a:off x="5953125" y="1714500"/>
            <a:ext cx="95400" cy="95400"/>
          </a:xfrm>
          <a:prstGeom prst="ellipse">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18"/>
          <p:cNvSpPr/>
          <p:nvPr/>
        </p:nvSpPr>
        <p:spPr>
          <a:xfrm>
            <a:off x="5953125" y="2333625"/>
            <a:ext cx="95400" cy="95400"/>
          </a:xfrm>
          <a:prstGeom prst="ellipse">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18"/>
          <p:cNvSpPr/>
          <p:nvPr/>
        </p:nvSpPr>
        <p:spPr>
          <a:xfrm>
            <a:off x="5953125" y="2952750"/>
            <a:ext cx="95400" cy="95400"/>
          </a:xfrm>
          <a:prstGeom prst="ellipse">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18"/>
          <p:cNvSpPr/>
          <p:nvPr/>
        </p:nvSpPr>
        <p:spPr>
          <a:xfrm>
            <a:off x="5953125" y="3571875"/>
            <a:ext cx="95400" cy="95400"/>
          </a:xfrm>
          <a:prstGeom prst="ellipse">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8"/>
          <p:cNvSpPr/>
          <p:nvPr/>
        </p:nvSpPr>
        <p:spPr>
          <a:xfrm>
            <a:off x="5953125" y="4191000"/>
            <a:ext cx="95400" cy="95400"/>
          </a:xfrm>
          <a:prstGeom prst="ellipse">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18"/>
          <p:cNvSpPr/>
          <p:nvPr/>
        </p:nvSpPr>
        <p:spPr>
          <a:xfrm>
            <a:off x="6724650" y="172402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18"/>
          <p:cNvSpPr/>
          <p:nvPr/>
        </p:nvSpPr>
        <p:spPr>
          <a:xfrm>
            <a:off x="6724650" y="2133600"/>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18"/>
          <p:cNvSpPr/>
          <p:nvPr/>
        </p:nvSpPr>
        <p:spPr>
          <a:xfrm>
            <a:off x="6724650" y="254317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8"/>
          <p:cNvSpPr/>
          <p:nvPr/>
        </p:nvSpPr>
        <p:spPr>
          <a:xfrm>
            <a:off x="6724650" y="2952750"/>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18"/>
          <p:cNvSpPr/>
          <p:nvPr/>
        </p:nvSpPr>
        <p:spPr>
          <a:xfrm>
            <a:off x="6724650" y="336232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18"/>
          <p:cNvSpPr/>
          <p:nvPr/>
        </p:nvSpPr>
        <p:spPr>
          <a:xfrm>
            <a:off x="6724650" y="3771900"/>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18"/>
          <p:cNvSpPr/>
          <p:nvPr/>
        </p:nvSpPr>
        <p:spPr>
          <a:xfrm>
            <a:off x="6724650" y="418147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18"/>
          <p:cNvSpPr/>
          <p:nvPr/>
        </p:nvSpPr>
        <p:spPr>
          <a:xfrm>
            <a:off x="7486650" y="172402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18"/>
          <p:cNvSpPr/>
          <p:nvPr/>
        </p:nvSpPr>
        <p:spPr>
          <a:xfrm>
            <a:off x="7486650" y="221932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8"/>
          <p:cNvSpPr/>
          <p:nvPr/>
        </p:nvSpPr>
        <p:spPr>
          <a:xfrm>
            <a:off x="7486650" y="271462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18"/>
          <p:cNvSpPr/>
          <p:nvPr/>
        </p:nvSpPr>
        <p:spPr>
          <a:xfrm>
            <a:off x="7486650" y="320992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18"/>
          <p:cNvSpPr/>
          <p:nvPr/>
        </p:nvSpPr>
        <p:spPr>
          <a:xfrm>
            <a:off x="7486650" y="370522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18"/>
          <p:cNvSpPr/>
          <p:nvPr/>
        </p:nvSpPr>
        <p:spPr>
          <a:xfrm>
            <a:off x="7486650" y="4200525"/>
            <a:ext cx="76200" cy="76200"/>
          </a:xfrm>
          <a:prstGeom prst="ellipse">
            <a:avLst/>
          </a:pr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18"/>
          <p:cNvSpPr/>
          <p:nvPr/>
        </p:nvSpPr>
        <p:spPr>
          <a:xfrm>
            <a:off x="8239125" y="1714500"/>
            <a:ext cx="95400" cy="95400"/>
          </a:xfrm>
          <a:prstGeom prst="ellipse">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8"/>
          <p:cNvSpPr/>
          <p:nvPr/>
        </p:nvSpPr>
        <p:spPr>
          <a:xfrm>
            <a:off x="8239125" y="2333625"/>
            <a:ext cx="95400" cy="95400"/>
          </a:xfrm>
          <a:prstGeom prst="ellipse">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8"/>
          <p:cNvSpPr/>
          <p:nvPr/>
        </p:nvSpPr>
        <p:spPr>
          <a:xfrm>
            <a:off x="8239125" y="2952750"/>
            <a:ext cx="95400" cy="95400"/>
          </a:xfrm>
          <a:prstGeom prst="ellipse">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18"/>
          <p:cNvSpPr/>
          <p:nvPr/>
        </p:nvSpPr>
        <p:spPr>
          <a:xfrm>
            <a:off x="8239125" y="3571875"/>
            <a:ext cx="95400" cy="95400"/>
          </a:xfrm>
          <a:prstGeom prst="ellipse">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18"/>
          <p:cNvSpPr/>
          <p:nvPr/>
        </p:nvSpPr>
        <p:spPr>
          <a:xfrm>
            <a:off x="8239125" y="4191000"/>
            <a:ext cx="95400" cy="95400"/>
          </a:xfrm>
          <a:prstGeom prst="ellipse">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grpSp>
        <p:nvGrpSpPr>
          <p:cNvPr id="321" name="Google Shape;321;p19"/>
          <p:cNvGrpSpPr/>
          <p:nvPr/>
        </p:nvGrpSpPr>
        <p:grpSpPr>
          <a:xfrm>
            <a:off x="0" y="0"/>
            <a:ext cx="9144000" cy="5143500"/>
            <a:chOff x="0" y="0"/>
            <a:chExt cx="9144000" cy="5143500"/>
          </a:xfrm>
        </p:grpSpPr>
        <p:sp>
          <p:nvSpPr>
            <p:cNvPr id="322" name="Google Shape;322;p19"/>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3" name="Google Shape;323;p19"/>
            <p:cNvGrpSpPr/>
            <p:nvPr/>
          </p:nvGrpSpPr>
          <p:grpSpPr>
            <a:xfrm>
              <a:off x="0" y="0"/>
              <a:ext cx="9144000" cy="76350"/>
              <a:chOff x="0" y="0"/>
              <a:chExt cx="9144000" cy="76350"/>
            </a:xfrm>
          </p:grpSpPr>
          <p:sp>
            <p:nvSpPr>
              <p:cNvPr id="324" name="Google Shape;324;p19"/>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19"/>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326" name="Google Shape;326;p19"/>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grpSp>
      <p:sp>
        <p:nvSpPr>
          <p:cNvPr id="327" name="Google Shape;327;p19"/>
          <p:cNvSpPr txBox="1"/>
          <p:nvPr/>
        </p:nvSpPr>
        <p:spPr>
          <a:xfrm>
            <a:off x="381000" y="3810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Model Training &amp; Hyperparameters</a:t>
            </a:r>
            <a:endParaRPr b="1" sz="2400">
              <a:solidFill>
                <a:srgbClr val="0F172A"/>
              </a:solidFill>
              <a:latin typeface="Inter"/>
              <a:ea typeface="Inter"/>
              <a:cs typeface="Inter"/>
              <a:sym typeface="Inter"/>
            </a:endParaRPr>
          </a:p>
        </p:txBody>
      </p:sp>
      <p:grpSp>
        <p:nvGrpSpPr>
          <p:cNvPr id="328" name="Google Shape;328;p19"/>
          <p:cNvGrpSpPr/>
          <p:nvPr/>
        </p:nvGrpSpPr>
        <p:grpSpPr>
          <a:xfrm>
            <a:off x="381000" y="1143000"/>
            <a:ext cx="8382000" cy="3048150"/>
            <a:chOff x="381000" y="1143000"/>
            <a:chExt cx="8382000" cy="3048150"/>
          </a:xfrm>
        </p:grpSpPr>
        <p:grpSp>
          <p:nvGrpSpPr>
            <p:cNvPr id="329" name="Google Shape;329;p19"/>
            <p:cNvGrpSpPr/>
            <p:nvPr/>
          </p:nvGrpSpPr>
          <p:grpSpPr>
            <a:xfrm>
              <a:off x="381000" y="1143000"/>
              <a:ext cx="4000500" cy="1428900"/>
              <a:chOff x="381000" y="1143000"/>
              <a:chExt cx="4000500" cy="1428900"/>
            </a:xfrm>
          </p:grpSpPr>
          <p:sp>
            <p:nvSpPr>
              <p:cNvPr id="330" name="Google Shape;330;p19"/>
              <p:cNvSpPr/>
              <p:nvPr/>
            </p:nvSpPr>
            <p:spPr>
              <a:xfrm>
                <a:off x="381000" y="1143000"/>
                <a:ext cx="4000500" cy="14289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19"/>
              <p:cNvSpPr/>
              <p:nvPr/>
            </p:nvSpPr>
            <p:spPr>
              <a:xfrm>
                <a:off x="381000" y="1143000"/>
                <a:ext cx="38100" cy="14289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19"/>
              <p:cNvSpPr txBox="1"/>
              <p:nvPr/>
            </p:nvSpPr>
            <p:spPr>
              <a:xfrm>
                <a:off x="609600" y="1295400"/>
                <a:ext cx="35814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0F172A"/>
                    </a:solidFill>
                    <a:latin typeface="Inter SemiBold"/>
                    <a:ea typeface="Inter SemiBold"/>
                    <a:cs typeface="Inter SemiBold"/>
                    <a:sym typeface="Inter SemiBold"/>
                  </a:rPr>
                  <a:t>Dataset Scale &amp; Scope</a:t>
                </a:r>
                <a:endParaRPr b="0" sz="1200">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1050">
                    <a:solidFill>
                      <a:srgbClr val="475569"/>
                    </a:solidFill>
                    <a:latin typeface="Inter"/>
                    <a:ea typeface="Inter"/>
                    <a:cs typeface="Inter"/>
                    <a:sym typeface="Inter"/>
                  </a:rPr>
                  <a:t>Encompasses </a:t>
                </a:r>
                <a:r>
                  <a:rPr b="0" lang="en" sz="1050">
                    <a:solidFill>
                      <a:srgbClr val="0F172A"/>
                    </a:solidFill>
                    <a:latin typeface="Inter SemiBold"/>
                    <a:ea typeface="Inter SemiBold"/>
                    <a:cs typeface="Inter SemiBold"/>
                    <a:sym typeface="Inter SemiBold"/>
                  </a:rPr>
                  <a:t>500,000</a:t>
                </a:r>
                <a:r>
                  <a:rPr b="0" lang="en" sz="1050">
                    <a:solidFill>
                      <a:srgbClr val="475569"/>
                    </a:solidFill>
                    <a:latin typeface="Inter"/>
                    <a:ea typeface="Inter"/>
                    <a:cs typeface="Inter"/>
                    <a:sym typeface="Inter"/>
                  </a:rPr>
                  <a:t> training samples across </a:t>
                </a:r>
                <a:r>
                  <a:rPr b="0" lang="en" sz="1050">
                    <a:solidFill>
                      <a:srgbClr val="0F172A"/>
                    </a:solidFill>
                    <a:latin typeface="Inter SemiBold"/>
                    <a:ea typeface="Inter SemiBold"/>
                    <a:cs typeface="Inter SemiBold"/>
                    <a:sym typeface="Inter SemiBold"/>
                  </a:rPr>
                  <a:t>500</a:t>
                </a:r>
                <a:r>
                  <a:rPr b="0" lang="en" sz="1050">
                    <a:solidFill>
                      <a:srgbClr val="475569"/>
                    </a:solidFill>
                    <a:latin typeface="Inter"/>
                    <a:ea typeface="Inter"/>
                    <a:cs typeface="Inter"/>
                    <a:sym typeface="Inter"/>
                  </a:rPr>
                  <a:t> episodes, with </a:t>
                </a:r>
                <a:r>
                  <a:rPr b="0" lang="en" sz="1050">
                    <a:solidFill>
                      <a:srgbClr val="0F172A"/>
                    </a:solidFill>
                    <a:latin typeface="Inter SemiBold"/>
                    <a:ea typeface="Inter SemiBold"/>
                    <a:cs typeface="Inter SemiBold"/>
                    <a:sym typeface="Inter SemiBold"/>
                  </a:rPr>
                  <a:t>1,000</a:t>
                </a:r>
                <a:r>
                  <a:rPr b="0" lang="en" sz="1050">
                    <a:solidFill>
                      <a:srgbClr val="475569"/>
                    </a:solidFill>
                    <a:latin typeface="Inter"/>
                    <a:ea typeface="Inter"/>
                    <a:cs typeface="Inter"/>
                    <a:sym typeface="Inter"/>
                  </a:rPr>
                  <a:t> steps per episode in an environment configured for a </a:t>
                </a:r>
                <a:r>
                  <a:rPr b="0" lang="en" sz="1050">
                    <a:solidFill>
                      <a:srgbClr val="0F172A"/>
                    </a:solidFill>
                    <a:latin typeface="Inter SemiBold"/>
                    <a:ea typeface="Inter SemiBold"/>
                    <a:cs typeface="Inter SemiBold"/>
                    <a:sym typeface="Inter SemiBold"/>
                  </a:rPr>
                  <a:t>20%</a:t>
                </a:r>
                <a:r>
                  <a:rPr b="0" lang="en" sz="1050">
                    <a:solidFill>
                      <a:srgbClr val="475569"/>
                    </a:solidFill>
                    <a:latin typeface="Inter"/>
                    <a:ea typeface="Inter"/>
                    <a:cs typeface="Inter"/>
                    <a:sym typeface="Inter"/>
                  </a:rPr>
                  <a:t> fault probability.</a:t>
                </a:r>
                <a:endParaRPr b="0" sz="1050">
                  <a:solidFill>
                    <a:srgbClr val="475569"/>
                  </a:solidFill>
                  <a:latin typeface="Inter"/>
                  <a:ea typeface="Inter"/>
                  <a:cs typeface="Inter"/>
                  <a:sym typeface="Inter"/>
                </a:endParaRPr>
              </a:p>
            </p:txBody>
          </p:sp>
        </p:grpSp>
        <p:grpSp>
          <p:nvGrpSpPr>
            <p:cNvPr id="333" name="Google Shape;333;p19"/>
            <p:cNvGrpSpPr/>
            <p:nvPr/>
          </p:nvGrpSpPr>
          <p:grpSpPr>
            <a:xfrm>
              <a:off x="4762500" y="1143000"/>
              <a:ext cx="4000500" cy="1428900"/>
              <a:chOff x="4762500" y="1143000"/>
              <a:chExt cx="4000500" cy="1428900"/>
            </a:xfrm>
          </p:grpSpPr>
          <p:sp>
            <p:nvSpPr>
              <p:cNvPr id="334" name="Google Shape;334;p19"/>
              <p:cNvSpPr/>
              <p:nvPr/>
            </p:nvSpPr>
            <p:spPr>
              <a:xfrm>
                <a:off x="4762500" y="1143000"/>
                <a:ext cx="4000500" cy="14289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9"/>
              <p:cNvSpPr/>
              <p:nvPr/>
            </p:nvSpPr>
            <p:spPr>
              <a:xfrm>
                <a:off x="4762500" y="1143000"/>
                <a:ext cx="38100" cy="14289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19"/>
              <p:cNvSpPr txBox="1"/>
              <p:nvPr/>
            </p:nvSpPr>
            <p:spPr>
              <a:xfrm>
                <a:off x="4991100" y="1295400"/>
                <a:ext cx="35814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0F172A"/>
                    </a:solidFill>
                    <a:latin typeface="Inter SemiBold"/>
                    <a:ea typeface="Inter SemiBold"/>
                    <a:cs typeface="Inter SemiBold"/>
                    <a:sym typeface="Inter SemiBold"/>
                  </a:rPr>
                  <a:t>Exploration Strategy</a:t>
                </a:r>
                <a:endParaRPr b="0" sz="1200">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1050">
                    <a:solidFill>
                      <a:srgbClr val="475569"/>
                    </a:solidFill>
                    <a:latin typeface="Inter"/>
                    <a:ea typeface="Inter"/>
                    <a:cs typeface="Inter"/>
                    <a:sym typeface="Inter"/>
                  </a:rPr>
                  <a:t>Employs an </a:t>
                </a:r>
                <a:r>
                  <a:rPr b="0" lang="en" sz="1050">
                    <a:solidFill>
                      <a:srgbClr val="0F172A"/>
                    </a:solidFill>
                    <a:latin typeface="Inter SemiBold"/>
                    <a:ea typeface="Inter SemiBold"/>
                    <a:cs typeface="Inter SemiBold"/>
                    <a:sym typeface="Inter SemiBold"/>
                  </a:rPr>
                  <a:t>epsilon-greedy</a:t>
                </a:r>
                <a:r>
                  <a:rPr b="0" lang="en" sz="1050">
                    <a:solidFill>
                      <a:srgbClr val="475569"/>
                    </a:solidFill>
                    <a:latin typeface="Inter"/>
                    <a:ea typeface="Inter"/>
                    <a:cs typeface="Inter"/>
                    <a:sym typeface="Inter"/>
                  </a:rPr>
                  <a:t> exploration strategy, dynamically decaying the exploration rate from an initial </a:t>
                </a:r>
                <a:r>
                  <a:rPr b="0" lang="en" sz="1050">
                    <a:solidFill>
                      <a:srgbClr val="0F172A"/>
                    </a:solidFill>
                    <a:latin typeface="Inter SemiBold"/>
                    <a:ea typeface="Inter SemiBold"/>
                    <a:cs typeface="Inter SemiBold"/>
                    <a:sym typeface="Inter SemiBold"/>
                  </a:rPr>
                  <a:t>1.0</a:t>
                </a:r>
                <a:r>
                  <a:rPr b="0" lang="en" sz="1050">
                    <a:solidFill>
                      <a:srgbClr val="475569"/>
                    </a:solidFill>
                    <a:latin typeface="Inter"/>
                    <a:ea typeface="Inter"/>
                    <a:cs typeface="Inter"/>
                    <a:sym typeface="Inter"/>
                  </a:rPr>
                  <a:t> down to a baseline of </a:t>
                </a:r>
                <a:r>
                  <a:rPr b="0" lang="en" sz="1050">
                    <a:solidFill>
                      <a:srgbClr val="0F172A"/>
                    </a:solidFill>
                    <a:latin typeface="Inter SemiBold"/>
                    <a:ea typeface="Inter SemiBold"/>
                    <a:cs typeface="Inter SemiBold"/>
                    <a:sym typeface="Inter SemiBold"/>
                  </a:rPr>
                  <a:t>0.01</a:t>
                </a:r>
                <a:r>
                  <a:rPr b="0" lang="en" sz="1050">
                    <a:solidFill>
                      <a:srgbClr val="475569"/>
                    </a:solidFill>
                    <a:latin typeface="Inter"/>
                    <a:ea typeface="Inter"/>
                    <a:cs typeface="Inter"/>
                    <a:sym typeface="Inter"/>
                  </a:rPr>
                  <a:t>.</a:t>
                </a:r>
                <a:endParaRPr b="0" sz="1050">
                  <a:solidFill>
                    <a:srgbClr val="475569"/>
                  </a:solidFill>
                  <a:latin typeface="Inter"/>
                  <a:ea typeface="Inter"/>
                  <a:cs typeface="Inter"/>
                  <a:sym typeface="Inter"/>
                </a:endParaRPr>
              </a:p>
            </p:txBody>
          </p:sp>
        </p:grpSp>
        <p:grpSp>
          <p:nvGrpSpPr>
            <p:cNvPr id="337" name="Google Shape;337;p19"/>
            <p:cNvGrpSpPr/>
            <p:nvPr/>
          </p:nvGrpSpPr>
          <p:grpSpPr>
            <a:xfrm>
              <a:off x="381000" y="2762250"/>
              <a:ext cx="4000500" cy="1428900"/>
              <a:chOff x="381000" y="2762250"/>
              <a:chExt cx="4000500" cy="1428900"/>
            </a:xfrm>
          </p:grpSpPr>
          <p:sp>
            <p:nvSpPr>
              <p:cNvPr id="338" name="Google Shape;338;p19"/>
              <p:cNvSpPr/>
              <p:nvPr/>
            </p:nvSpPr>
            <p:spPr>
              <a:xfrm>
                <a:off x="381000" y="2762250"/>
                <a:ext cx="4000500" cy="14289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19"/>
              <p:cNvSpPr/>
              <p:nvPr/>
            </p:nvSpPr>
            <p:spPr>
              <a:xfrm>
                <a:off x="381000" y="2762250"/>
                <a:ext cx="38100" cy="14289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19"/>
              <p:cNvSpPr txBox="1"/>
              <p:nvPr/>
            </p:nvSpPr>
            <p:spPr>
              <a:xfrm>
                <a:off x="609600" y="2914650"/>
                <a:ext cx="35814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0F172A"/>
                    </a:solidFill>
                    <a:latin typeface="Inter SemiBold"/>
                    <a:ea typeface="Inter SemiBold"/>
                    <a:cs typeface="Inter SemiBold"/>
                    <a:sym typeface="Inter SemiBold"/>
                  </a:rPr>
                  <a:t>Key Hyperparameters</a:t>
                </a:r>
                <a:endParaRPr b="0" sz="1200">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1050">
                    <a:solidFill>
                      <a:srgbClr val="475569"/>
                    </a:solidFill>
                    <a:latin typeface="Inter"/>
                    <a:ea typeface="Inter"/>
                    <a:cs typeface="Inter"/>
                    <a:sym typeface="Inter"/>
                  </a:rPr>
                  <a:t>Configured with a replay buffer of </a:t>
                </a:r>
                <a:r>
                  <a:rPr b="0" lang="en" sz="1050">
                    <a:solidFill>
                      <a:srgbClr val="0F172A"/>
                    </a:solidFill>
                    <a:latin typeface="Inter SemiBold"/>
                    <a:ea typeface="Inter SemiBold"/>
                    <a:cs typeface="Inter SemiBold"/>
                    <a:sym typeface="Inter SemiBold"/>
                  </a:rPr>
                  <a:t>50,000</a:t>
                </a:r>
                <a:r>
                  <a:rPr b="0" lang="en" sz="1050">
                    <a:solidFill>
                      <a:srgbClr val="475569"/>
                    </a:solidFill>
                    <a:latin typeface="Inter"/>
                    <a:ea typeface="Inter"/>
                    <a:cs typeface="Inter"/>
                    <a:sym typeface="Inter"/>
                  </a:rPr>
                  <a:t> transitions, a batch size of </a:t>
                </a:r>
                <a:r>
                  <a:rPr b="0" lang="en" sz="1050">
                    <a:solidFill>
                      <a:srgbClr val="0F172A"/>
                    </a:solidFill>
                    <a:latin typeface="Inter SemiBold"/>
                    <a:ea typeface="Inter SemiBold"/>
                    <a:cs typeface="Inter SemiBold"/>
                    <a:sym typeface="Inter SemiBold"/>
                  </a:rPr>
                  <a:t>64</a:t>
                </a:r>
                <a:r>
                  <a:rPr b="0" lang="en" sz="1050">
                    <a:solidFill>
                      <a:srgbClr val="475569"/>
                    </a:solidFill>
                    <a:latin typeface="Inter"/>
                    <a:ea typeface="Inter"/>
                    <a:cs typeface="Inter"/>
                    <a:sym typeface="Inter"/>
                  </a:rPr>
                  <a:t>, a discount factor (Gamma) of </a:t>
                </a:r>
                <a:r>
                  <a:rPr b="0" lang="en" sz="1050">
                    <a:solidFill>
                      <a:srgbClr val="0F172A"/>
                    </a:solidFill>
                    <a:latin typeface="Inter SemiBold"/>
                    <a:ea typeface="Inter SemiBold"/>
                    <a:cs typeface="Inter SemiBold"/>
                    <a:sym typeface="Inter SemiBold"/>
                  </a:rPr>
                  <a:t>0.99</a:t>
                </a:r>
                <a:r>
                  <a:rPr b="0" lang="en" sz="1050">
                    <a:solidFill>
                      <a:srgbClr val="475569"/>
                    </a:solidFill>
                    <a:latin typeface="Inter"/>
                    <a:ea typeface="Inter"/>
                    <a:cs typeface="Inter"/>
                    <a:sym typeface="Inter"/>
                  </a:rPr>
                  <a:t>, and a learning rate of </a:t>
                </a:r>
                <a:r>
                  <a:rPr b="0" lang="en" sz="1050">
                    <a:solidFill>
                      <a:srgbClr val="0F172A"/>
                    </a:solidFill>
                    <a:latin typeface="Inter SemiBold"/>
                    <a:ea typeface="Inter SemiBold"/>
                    <a:cs typeface="Inter SemiBold"/>
                    <a:sym typeface="Inter SemiBold"/>
                  </a:rPr>
                  <a:t>0.001</a:t>
                </a:r>
                <a:r>
                  <a:rPr b="0" lang="en" sz="1050">
                    <a:solidFill>
                      <a:srgbClr val="475569"/>
                    </a:solidFill>
                    <a:latin typeface="Inter"/>
                    <a:ea typeface="Inter"/>
                    <a:cs typeface="Inter"/>
                    <a:sym typeface="Inter"/>
                  </a:rPr>
                  <a:t>.</a:t>
                </a:r>
                <a:endParaRPr b="0" sz="1050">
                  <a:solidFill>
                    <a:srgbClr val="475569"/>
                  </a:solidFill>
                  <a:latin typeface="Inter"/>
                  <a:ea typeface="Inter"/>
                  <a:cs typeface="Inter"/>
                  <a:sym typeface="Inter"/>
                </a:endParaRPr>
              </a:p>
            </p:txBody>
          </p:sp>
        </p:grpSp>
        <p:grpSp>
          <p:nvGrpSpPr>
            <p:cNvPr id="341" name="Google Shape;341;p19"/>
            <p:cNvGrpSpPr/>
            <p:nvPr/>
          </p:nvGrpSpPr>
          <p:grpSpPr>
            <a:xfrm>
              <a:off x="4762500" y="2762250"/>
              <a:ext cx="4000500" cy="1428900"/>
              <a:chOff x="4762500" y="2762250"/>
              <a:chExt cx="4000500" cy="1428900"/>
            </a:xfrm>
          </p:grpSpPr>
          <p:sp>
            <p:nvSpPr>
              <p:cNvPr id="342" name="Google Shape;342;p19"/>
              <p:cNvSpPr/>
              <p:nvPr/>
            </p:nvSpPr>
            <p:spPr>
              <a:xfrm>
                <a:off x="4762500" y="2762250"/>
                <a:ext cx="4000500" cy="14289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19"/>
              <p:cNvSpPr/>
              <p:nvPr/>
            </p:nvSpPr>
            <p:spPr>
              <a:xfrm>
                <a:off x="4762500" y="2762250"/>
                <a:ext cx="38100" cy="14289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19"/>
              <p:cNvSpPr txBox="1"/>
              <p:nvPr/>
            </p:nvSpPr>
            <p:spPr>
              <a:xfrm>
                <a:off x="4991100" y="2914650"/>
                <a:ext cx="35814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0F172A"/>
                    </a:solidFill>
                    <a:latin typeface="Inter SemiBold"/>
                    <a:ea typeface="Inter SemiBold"/>
                    <a:cs typeface="Inter SemiBold"/>
                    <a:sym typeface="Inter SemiBold"/>
                  </a:rPr>
                  <a:t>Core Baseline &amp; Import</a:t>
                </a:r>
                <a:endParaRPr b="0" sz="1200">
                  <a:solidFill>
                    <a:srgbClr val="0F172A"/>
                  </a:solidFill>
                  <a:latin typeface="Inter SemiBold"/>
                  <a:ea typeface="Inter SemiBold"/>
                  <a:cs typeface="Inter SemiBold"/>
                  <a:sym typeface="Inter SemiBold"/>
                </a:endParaRPr>
              </a:p>
              <a:p>
                <a:pPr indent="0" lvl="0" marL="0" rtl="0" algn="l">
                  <a:spcBef>
                    <a:spcPts val="600"/>
                  </a:spcBef>
                  <a:spcAft>
                    <a:spcPts val="0"/>
                  </a:spcAft>
                  <a:buNone/>
                </a:pPr>
                <a:r>
                  <a:rPr b="0" lang="en" sz="1050">
                    <a:solidFill>
                      <a:srgbClr val="475569"/>
                    </a:solidFill>
                    <a:latin typeface="Inter"/>
                    <a:ea typeface="Inter"/>
                    <a:cs typeface="Inter"/>
                    <a:sym typeface="Inter"/>
                  </a:rPr>
                  <a:t>Directly imports the </a:t>
                </a:r>
                <a:r>
                  <a:rPr b="0" lang="en" sz="1050">
                    <a:solidFill>
                      <a:srgbClr val="0F172A"/>
                    </a:solidFill>
                    <a:latin typeface="Inter SemiBold"/>
                    <a:ea typeface="Inter SemiBold"/>
                    <a:cs typeface="Inter SemiBold"/>
                    <a:sym typeface="Inter SemiBold"/>
                  </a:rPr>
                  <a:t>DQN class</a:t>
                </a:r>
                <a:r>
                  <a:rPr b="0" lang="en" sz="1050">
                    <a:solidFill>
                      <a:srgbClr val="475569"/>
                    </a:solidFill>
                    <a:latin typeface="Inter"/>
                    <a:ea typeface="Inter"/>
                    <a:cs typeface="Inter"/>
                    <a:sym typeface="Inter"/>
                  </a:rPr>
                  <a:t> and training loops from the base </a:t>
                </a:r>
                <a:r>
                  <a:rPr b="0" lang="en" sz="1050">
                    <a:solidFill>
                      <a:srgbClr val="0F172A"/>
                    </a:solidFill>
                    <a:latin typeface="Inter SemiBold"/>
                    <a:ea typeface="Inter SemiBold"/>
                    <a:cs typeface="Inter SemiBold"/>
                    <a:sym typeface="Inter SemiBold"/>
                  </a:rPr>
                  <a:t>IEEE PES semantic IoT paper</a:t>
                </a:r>
                <a:r>
                  <a:rPr b="0" lang="en" sz="1050">
                    <a:solidFill>
                      <a:srgbClr val="475569"/>
                    </a:solidFill>
                    <a:latin typeface="Inter"/>
                    <a:ea typeface="Inter"/>
                    <a:cs typeface="Inter"/>
                    <a:sym typeface="Inter"/>
                  </a:rPr>
                  <a:t>, updating the target network every </a:t>
                </a:r>
                <a:r>
                  <a:rPr b="0" lang="en" sz="1050">
                    <a:solidFill>
                      <a:srgbClr val="0F172A"/>
                    </a:solidFill>
                    <a:latin typeface="Inter SemiBold"/>
                    <a:ea typeface="Inter SemiBold"/>
                    <a:cs typeface="Inter SemiBold"/>
                    <a:sym typeface="Inter SemiBold"/>
                  </a:rPr>
                  <a:t>10</a:t>
                </a:r>
                <a:r>
                  <a:rPr b="0" lang="en" sz="1050">
                    <a:solidFill>
                      <a:srgbClr val="475569"/>
                    </a:solidFill>
                    <a:latin typeface="Inter"/>
                    <a:ea typeface="Inter"/>
                    <a:cs typeface="Inter"/>
                    <a:sym typeface="Inter"/>
                  </a:rPr>
                  <a:t> episodes.</a:t>
                </a:r>
                <a:endParaRPr b="0" sz="1050">
                  <a:solidFill>
                    <a:srgbClr val="475569"/>
                  </a:solidFill>
                  <a:latin typeface="Inter"/>
                  <a:ea typeface="Inter"/>
                  <a:cs typeface="Inter"/>
                  <a:sym typeface="Inte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grpSp>
        <p:nvGrpSpPr>
          <p:cNvPr id="349" name="Google Shape;349;p20"/>
          <p:cNvGrpSpPr/>
          <p:nvPr/>
        </p:nvGrpSpPr>
        <p:grpSpPr>
          <a:xfrm>
            <a:off x="0" y="0"/>
            <a:ext cx="9144000" cy="5143500"/>
            <a:chOff x="0" y="0"/>
            <a:chExt cx="9144000" cy="5143500"/>
          </a:xfrm>
        </p:grpSpPr>
        <p:sp>
          <p:nvSpPr>
            <p:cNvPr id="350" name="Google Shape;350;p20"/>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1" name="Google Shape;351;p20"/>
            <p:cNvGrpSpPr/>
            <p:nvPr/>
          </p:nvGrpSpPr>
          <p:grpSpPr>
            <a:xfrm>
              <a:off x="0" y="0"/>
              <a:ext cx="9144000" cy="76350"/>
              <a:chOff x="0" y="0"/>
              <a:chExt cx="9144000" cy="76350"/>
            </a:xfrm>
          </p:grpSpPr>
          <p:sp>
            <p:nvSpPr>
              <p:cNvPr id="352" name="Google Shape;352;p20"/>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0"/>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354" name="Google Shape;354;p20"/>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grpSp>
      <p:sp>
        <p:nvSpPr>
          <p:cNvPr id="355" name="Google Shape;355;p20"/>
          <p:cNvSpPr txBox="1"/>
          <p:nvPr/>
        </p:nvSpPr>
        <p:spPr>
          <a:xfrm>
            <a:off x="381000" y="3810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Symmetric Reward Function</a:t>
            </a:r>
            <a:endParaRPr b="1" sz="2400">
              <a:solidFill>
                <a:srgbClr val="0F172A"/>
              </a:solidFill>
              <a:latin typeface="Inter"/>
              <a:ea typeface="Inter"/>
              <a:cs typeface="Inter"/>
              <a:sym typeface="Inter"/>
            </a:endParaRPr>
          </a:p>
        </p:txBody>
      </p:sp>
      <p:grpSp>
        <p:nvGrpSpPr>
          <p:cNvPr id="356" name="Google Shape;356;p20"/>
          <p:cNvGrpSpPr/>
          <p:nvPr/>
        </p:nvGrpSpPr>
        <p:grpSpPr>
          <a:xfrm>
            <a:off x="381000" y="1095375"/>
            <a:ext cx="8382000" cy="2762400"/>
            <a:chOff x="381000" y="1095375"/>
            <a:chExt cx="8382000" cy="2762400"/>
          </a:xfrm>
        </p:grpSpPr>
        <p:sp>
          <p:nvSpPr>
            <p:cNvPr id="357" name="Google Shape;357;p20"/>
            <p:cNvSpPr/>
            <p:nvPr/>
          </p:nvSpPr>
          <p:spPr>
            <a:xfrm>
              <a:off x="381000" y="1095375"/>
              <a:ext cx="4000500" cy="2762400"/>
            </a:xfrm>
            <a:prstGeom prst="rect">
              <a:avLst/>
            </a:prstGeom>
            <a:solidFill>
              <a:srgbClr val="FFFFFF"/>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0"/>
            <p:cNvSpPr/>
            <p:nvPr/>
          </p:nvSpPr>
          <p:spPr>
            <a:xfrm>
              <a:off x="381000" y="1095375"/>
              <a:ext cx="4000500" cy="3810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20"/>
            <p:cNvSpPr txBox="1"/>
            <p:nvPr/>
          </p:nvSpPr>
          <p:spPr>
            <a:xfrm>
              <a:off x="571500" y="1095375"/>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750">
                  <a:solidFill>
                    <a:srgbClr val="FFFFFF"/>
                  </a:solidFill>
                  <a:latin typeface="Inter SemiBold"/>
                  <a:ea typeface="Inter SemiBold"/>
                  <a:cs typeface="Inter SemiBold"/>
                  <a:sym typeface="Inter SemiBold"/>
                </a:rPr>
                <a:t>POSITIVE REWARDS &amp; STATE MAINTENANCE</a:t>
              </a:r>
              <a:endParaRPr b="0" sz="750">
                <a:solidFill>
                  <a:srgbClr val="FFFFFF"/>
                </a:solidFill>
                <a:latin typeface="Inter SemiBold"/>
                <a:ea typeface="Inter SemiBold"/>
                <a:cs typeface="Inter SemiBold"/>
                <a:sym typeface="Inter SemiBold"/>
              </a:endParaRPr>
            </a:p>
          </p:txBody>
        </p:sp>
        <p:sp>
          <p:nvSpPr>
            <p:cNvPr id="360" name="Google Shape;360;p20"/>
            <p:cNvSpPr txBox="1"/>
            <p:nvPr/>
          </p:nvSpPr>
          <p:spPr>
            <a:xfrm>
              <a:off x="571500" y="1666875"/>
              <a:ext cx="36195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10B981"/>
                  </a:solidFill>
                  <a:latin typeface="Inter"/>
                  <a:ea typeface="Inter"/>
                  <a:cs typeface="Inter"/>
                  <a:sym typeface="Inter"/>
                </a:rPr>
                <a:t>•</a:t>
              </a:r>
              <a:r>
                <a:rPr b="0" lang="en" sz="1050">
                  <a:solidFill>
                    <a:srgbClr val="475569"/>
                  </a:solidFill>
                  <a:latin typeface="Inter"/>
                  <a:ea typeface="Inter"/>
                  <a:cs typeface="Inter"/>
                  <a:sym typeface="Inter"/>
                </a:rPr>
                <a:t> </a:t>
              </a:r>
              <a:r>
                <a:rPr b="0" lang="en" sz="1050">
                  <a:solidFill>
                    <a:srgbClr val="0F172A"/>
                  </a:solidFill>
                  <a:latin typeface="Inter SemiBold"/>
                  <a:ea typeface="Inter SemiBold"/>
                  <a:cs typeface="Inter SemiBold"/>
                  <a:sym typeface="Inter SemiBold"/>
                </a:rPr>
                <a:t>Nominal State Support:</a:t>
              </a:r>
              <a:r>
                <a:rPr b="0" lang="en" sz="1050">
                  <a:solidFill>
                    <a:srgbClr val="475569"/>
                  </a:solidFill>
                  <a:latin typeface="Inter"/>
                  <a:ea typeface="Inter"/>
                  <a:cs typeface="Inter"/>
                  <a:sym typeface="Inter"/>
                </a:rPr>
                <a:t> Rewards Nominal Voltage </a:t>
              </a:r>
              <a:r>
                <a:rPr b="1" lang="en" sz="1050">
                  <a:solidFill>
                    <a:srgbClr val="10B981"/>
                  </a:solidFill>
                  <a:latin typeface="Inter"/>
                  <a:ea typeface="Inter"/>
                  <a:cs typeface="Inter"/>
                  <a:sym typeface="Inter"/>
                </a:rPr>
                <a:t>(+1.0)</a:t>
              </a:r>
              <a:r>
                <a:rPr b="0" lang="en" sz="1050">
                  <a:solidFill>
                    <a:srgbClr val="475569"/>
                  </a:solidFill>
                  <a:latin typeface="Inter"/>
                  <a:ea typeface="Inter"/>
                  <a:cs typeface="Inter"/>
                  <a:sym typeface="Inter"/>
                </a:rPr>
                <a:t> and Nominal Frequency </a:t>
              </a:r>
              <a:r>
                <a:rPr b="1" lang="en" sz="1050">
                  <a:solidFill>
                    <a:srgbClr val="10B981"/>
                  </a:solidFill>
                  <a:latin typeface="Inter"/>
                  <a:ea typeface="Inter"/>
                  <a:cs typeface="Inter"/>
                  <a:sym typeface="Inter"/>
                </a:rPr>
                <a:t>(+0.5)</a:t>
              </a:r>
              <a:r>
                <a:rPr b="0" lang="en" sz="1050">
                  <a:solidFill>
                    <a:srgbClr val="475569"/>
                  </a:solidFill>
                  <a:latin typeface="Inter"/>
                  <a:ea typeface="Inter"/>
                  <a:cs typeface="Inter"/>
                  <a:sym typeface="Inter"/>
                </a:rPr>
                <a:t>.</a:t>
              </a:r>
              <a:endParaRPr b="0" sz="1050">
                <a:solidFill>
                  <a:srgbClr val="475569"/>
                </a:solidFill>
                <a:latin typeface="Inter"/>
                <a:ea typeface="Inter"/>
                <a:cs typeface="Inter"/>
                <a:sym typeface="Inter"/>
              </a:endParaRPr>
            </a:p>
            <a:p>
              <a:pPr indent="0" lvl="0" marL="0" rtl="0" algn="l">
                <a:spcBef>
                  <a:spcPts val="1200"/>
                </a:spcBef>
                <a:spcAft>
                  <a:spcPts val="0"/>
                </a:spcAft>
                <a:buNone/>
              </a:pPr>
              <a:r>
                <a:rPr b="1" lang="en" sz="1050">
                  <a:solidFill>
                    <a:srgbClr val="10B981"/>
                  </a:solidFill>
                  <a:latin typeface="Inter"/>
                  <a:ea typeface="Inter"/>
                  <a:cs typeface="Inter"/>
                  <a:sym typeface="Inter"/>
                </a:rPr>
                <a:t>•</a:t>
              </a:r>
              <a:r>
                <a:rPr b="0" lang="en" sz="1050">
                  <a:solidFill>
                    <a:srgbClr val="475569"/>
                  </a:solidFill>
                  <a:latin typeface="Inter"/>
                  <a:ea typeface="Inter"/>
                  <a:cs typeface="Inter"/>
                  <a:sym typeface="Inter"/>
                </a:rPr>
                <a:t> </a:t>
              </a:r>
              <a:r>
                <a:rPr b="0" lang="en" sz="1050">
                  <a:solidFill>
                    <a:srgbClr val="0F172A"/>
                  </a:solidFill>
                  <a:latin typeface="Inter SemiBold"/>
                  <a:ea typeface="Inter SemiBold"/>
                  <a:cs typeface="Inter SemiBold"/>
                  <a:sym typeface="Inter SemiBold"/>
                </a:rPr>
                <a:t>Fault Intervention:</a:t>
              </a:r>
              <a:r>
                <a:rPr b="0" lang="en" sz="1050">
                  <a:solidFill>
                    <a:srgbClr val="475569"/>
                  </a:solidFill>
                  <a:latin typeface="Inter"/>
                  <a:ea typeface="Inter"/>
                  <a:cs typeface="Inter"/>
                  <a:sym typeface="Inter"/>
                </a:rPr>
                <a:t> Heavily rewards active, correct interventions </a:t>
              </a:r>
              <a:r>
                <a:rPr b="1" lang="en" sz="1050">
                  <a:solidFill>
                    <a:srgbClr val="10B981"/>
                  </a:solidFill>
                  <a:latin typeface="Inter"/>
                  <a:ea typeface="Inter"/>
                  <a:cs typeface="Inter"/>
                  <a:sym typeface="Inter"/>
                </a:rPr>
                <a:t>(+3.0)</a:t>
              </a:r>
              <a:r>
                <a:rPr b="0" lang="en" sz="1050">
                  <a:solidFill>
                    <a:srgbClr val="475569"/>
                  </a:solidFill>
                  <a:latin typeface="Inter"/>
                  <a:ea typeface="Inter"/>
                  <a:cs typeface="Inter"/>
                  <a:sym typeface="Inter"/>
                </a:rPr>
                <a:t> during grid faults.</a:t>
              </a:r>
              <a:endParaRPr b="0" sz="1050">
                <a:solidFill>
                  <a:srgbClr val="475569"/>
                </a:solidFill>
                <a:latin typeface="Inter"/>
                <a:ea typeface="Inter"/>
                <a:cs typeface="Inter"/>
                <a:sym typeface="Inter"/>
              </a:endParaRPr>
            </a:p>
            <a:p>
              <a:pPr indent="0" lvl="0" marL="0" rtl="0" algn="l">
                <a:spcBef>
                  <a:spcPts val="1200"/>
                </a:spcBef>
                <a:spcAft>
                  <a:spcPts val="0"/>
                </a:spcAft>
                <a:buNone/>
              </a:pPr>
              <a:r>
                <a:rPr b="1" lang="en" sz="1050">
                  <a:solidFill>
                    <a:srgbClr val="10B981"/>
                  </a:solidFill>
                  <a:latin typeface="Inter"/>
                  <a:ea typeface="Inter"/>
                  <a:cs typeface="Inter"/>
                  <a:sym typeface="Inter"/>
                </a:rPr>
                <a:t>•</a:t>
              </a:r>
              <a:r>
                <a:rPr b="0" lang="en" sz="1050">
                  <a:solidFill>
                    <a:srgbClr val="475569"/>
                  </a:solidFill>
                  <a:latin typeface="Inter"/>
                  <a:ea typeface="Inter"/>
                  <a:cs typeface="Inter"/>
                  <a:sym typeface="Inter"/>
                </a:rPr>
                <a:t> </a:t>
              </a:r>
              <a:r>
                <a:rPr b="0" lang="en" sz="1050">
                  <a:solidFill>
                    <a:srgbClr val="0F172A"/>
                  </a:solidFill>
                  <a:latin typeface="Inter SemiBold"/>
                  <a:ea typeface="Inter SemiBold"/>
                  <a:cs typeface="Inter SemiBold"/>
                  <a:sym typeface="Inter SemiBold"/>
                </a:rPr>
                <a:t>Correct Inaction:</a:t>
              </a:r>
              <a:r>
                <a:rPr b="0" lang="en" sz="1050">
                  <a:solidFill>
                    <a:srgbClr val="475569"/>
                  </a:solidFill>
                  <a:latin typeface="Inter"/>
                  <a:ea typeface="Inter"/>
                  <a:cs typeface="Inter"/>
                  <a:sym typeface="Inter"/>
                </a:rPr>
                <a:t> Rewards correct inaction </a:t>
              </a:r>
              <a:r>
                <a:rPr b="1" lang="en" sz="1050">
                  <a:solidFill>
                    <a:srgbClr val="10B981"/>
                  </a:solidFill>
                  <a:latin typeface="Inter"/>
                  <a:ea typeface="Inter"/>
                  <a:cs typeface="Inter"/>
                  <a:sym typeface="Inter"/>
                </a:rPr>
                <a:t>(+2.0)</a:t>
              </a:r>
              <a:r>
                <a:rPr b="0" lang="en" sz="1050">
                  <a:solidFill>
                    <a:srgbClr val="475569"/>
                  </a:solidFill>
                  <a:latin typeface="Inter"/>
                  <a:ea typeface="Inter"/>
                  <a:cs typeface="Inter"/>
                  <a:sym typeface="Inter"/>
                </a:rPr>
                <a:t> during normal operational states.</a:t>
              </a:r>
              <a:endParaRPr b="0" sz="1050">
                <a:solidFill>
                  <a:srgbClr val="475569"/>
                </a:solidFill>
                <a:latin typeface="Inter"/>
                <a:ea typeface="Inter"/>
                <a:cs typeface="Inter"/>
                <a:sym typeface="Inter"/>
              </a:endParaRPr>
            </a:p>
          </p:txBody>
        </p:sp>
        <p:sp>
          <p:nvSpPr>
            <p:cNvPr id="361" name="Google Shape;361;p20"/>
            <p:cNvSpPr/>
            <p:nvPr/>
          </p:nvSpPr>
          <p:spPr>
            <a:xfrm>
              <a:off x="4762500" y="1095375"/>
              <a:ext cx="4000500" cy="2762400"/>
            </a:xfrm>
            <a:prstGeom prst="rect">
              <a:avLst/>
            </a:prstGeom>
            <a:solidFill>
              <a:srgbClr val="FFFFFF"/>
            </a:solidFill>
            <a:ln cap="flat"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0"/>
            <p:cNvSpPr/>
            <p:nvPr/>
          </p:nvSpPr>
          <p:spPr>
            <a:xfrm>
              <a:off x="4762500" y="1095375"/>
              <a:ext cx="4000500" cy="3810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0"/>
            <p:cNvSpPr txBox="1"/>
            <p:nvPr/>
          </p:nvSpPr>
          <p:spPr>
            <a:xfrm>
              <a:off x="4953000" y="1095375"/>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750">
                  <a:solidFill>
                    <a:srgbClr val="FFFFFF"/>
                  </a:solidFill>
                  <a:latin typeface="Inter SemiBold"/>
                  <a:ea typeface="Inter SemiBold"/>
                  <a:cs typeface="Inter SemiBold"/>
                  <a:sym typeface="Inter SemiBold"/>
                </a:rPr>
                <a:t>STRICT SYMMETRIC PENALTIES</a:t>
              </a:r>
              <a:endParaRPr b="0" sz="750">
                <a:solidFill>
                  <a:srgbClr val="FFFFFF"/>
                </a:solidFill>
                <a:latin typeface="Inter SemiBold"/>
                <a:ea typeface="Inter SemiBold"/>
                <a:cs typeface="Inter SemiBold"/>
                <a:sym typeface="Inter SemiBold"/>
              </a:endParaRPr>
            </a:p>
          </p:txBody>
        </p:sp>
        <p:sp>
          <p:nvSpPr>
            <p:cNvPr id="364" name="Google Shape;364;p20"/>
            <p:cNvSpPr txBox="1"/>
            <p:nvPr/>
          </p:nvSpPr>
          <p:spPr>
            <a:xfrm>
              <a:off x="4953000" y="1666875"/>
              <a:ext cx="36195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EF4444"/>
                  </a:solidFill>
                  <a:latin typeface="Inter"/>
                  <a:ea typeface="Inter"/>
                  <a:cs typeface="Inter"/>
                  <a:sym typeface="Inter"/>
                </a:rPr>
                <a:t>•</a:t>
              </a:r>
              <a:r>
                <a:rPr b="0" lang="en" sz="1050">
                  <a:solidFill>
                    <a:srgbClr val="475569"/>
                  </a:solidFill>
                  <a:latin typeface="Inter"/>
                  <a:ea typeface="Inter"/>
                  <a:cs typeface="Inter"/>
                  <a:sym typeface="Inter"/>
                </a:rPr>
                <a:t> </a:t>
              </a:r>
              <a:r>
                <a:rPr b="0" lang="en" sz="1050">
                  <a:solidFill>
                    <a:srgbClr val="0F172A"/>
                  </a:solidFill>
                  <a:latin typeface="Inter SemiBold"/>
                  <a:ea typeface="Inter SemiBold"/>
                  <a:cs typeface="Inter SemiBold"/>
                  <a:sym typeface="Inter SemiBold"/>
                </a:rPr>
                <a:t>Thermal Deviations:</a:t>
              </a:r>
              <a:r>
                <a:rPr b="0" lang="en" sz="1050">
                  <a:solidFill>
                    <a:srgbClr val="475569"/>
                  </a:solidFill>
                  <a:latin typeface="Inter"/>
                  <a:ea typeface="Inter"/>
                  <a:cs typeface="Inter"/>
                  <a:sym typeface="Inter"/>
                </a:rPr>
                <a:t> Penalizes extreme temperature states </a:t>
              </a:r>
              <a:r>
                <a:rPr b="1" lang="en" sz="1050">
                  <a:solidFill>
                    <a:srgbClr val="EF4444"/>
                  </a:solidFill>
                  <a:latin typeface="Inter"/>
                  <a:ea typeface="Inter"/>
                  <a:cs typeface="Inter"/>
                  <a:sym typeface="Inter"/>
                </a:rPr>
                <a:t>(-1.0)</a:t>
              </a:r>
              <a:r>
                <a:rPr b="0" lang="en" sz="1050">
                  <a:solidFill>
                    <a:srgbClr val="475569"/>
                  </a:solidFill>
                  <a:latin typeface="Inter"/>
                  <a:ea typeface="Inter"/>
                  <a:cs typeface="Inter"/>
                  <a:sym typeface="Inter"/>
                </a:rPr>
                <a:t>.</a:t>
              </a:r>
              <a:endParaRPr b="0" sz="1050">
                <a:solidFill>
                  <a:srgbClr val="475569"/>
                </a:solidFill>
                <a:latin typeface="Inter"/>
                <a:ea typeface="Inter"/>
                <a:cs typeface="Inter"/>
                <a:sym typeface="Inter"/>
              </a:endParaRPr>
            </a:p>
            <a:p>
              <a:pPr indent="0" lvl="0" marL="0" rtl="0" algn="l">
                <a:spcBef>
                  <a:spcPts val="1200"/>
                </a:spcBef>
                <a:spcAft>
                  <a:spcPts val="0"/>
                </a:spcAft>
                <a:buNone/>
              </a:pPr>
              <a:r>
                <a:rPr b="1" lang="en" sz="1050">
                  <a:solidFill>
                    <a:srgbClr val="EF4444"/>
                  </a:solidFill>
                  <a:latin typeface="Inter"/>
                  <a:ea typeface="Inter"/>
                  <a:cs typeface="Inter"/>
                  <a:sym typeface="Inter"/>
                </a:rPr>
                <a:t>•</a:t>
              </a:r>
              <a:r>
                <a:rPr b="0" lang="en" sz="1050">
                  <a:solidFill>
                    <a:srgbClr val="475569"/>
                  </a:solidFill>
                  <a:latin typeface="Inter"/>
                  <a:ea typeface="Inter"/>
                  <a:cs typeface="Inter"/>
                  <a:sym typeface="Inter"/>
                </a:rPr>
                <a:t> </a:t>
              </a:r>
              <a:r>
                <a:rPr b="0" lang="en" sz="1050">
                  <a:solidFill>
                    <a:srgbClr val="0F172A"/>
                  </a:solidFill>
                  <a:latin typeface="Inter SemiBold"/>
                  <a:ea typeface="Inter SemiBold"/>
                  <a:cs typeface="Inter SemiBold"/>
                  <a:sym typeface="Inter SemiBold"/>
                </a:rPr>
                <a:t>Active Grid Ignoring:</a:t>
              </a:r>
              <a:r>
                <a:rPr b="0" lang="en" sz="1050">
                  <a:solidFill>
                    <a:srgbClr val="475569"/>
                  </a:solidFill>
                  <a:latin typeface="Inter"/>
                  <a:ea typeface="Inter"/>
                  <a:cs typeface="Inter"/>
                  <a:sym typeface="Inter"/>
                </a:rPr>
                <a:t> Ignoring faults or executing wrong actions incurs severe penalties </a:t>
              </a:r>
              <a:r>
                <a:rPr b="1" lang="en" sz="1050">
                  <a:solidFill>
                    <a:srgbClr val="EF4444"/>
                  </a:solidFill>
                  <a:latin typeface="Inter"/>
                  <a:ea typeface="Inter"/>
                  <a:cs typeface="Inter"/>
                  <a:sym typeface="Inter"/>
                </a:rPr>
                <a:t>(-3.0)</a:t>
              </a:r>
              <a:r>
                <a:rPr b="0" lang="en" sz="1050">
                  <a:solidFill>
                    <a:srgbClr val="475569"/>
                  </a:solidFill>
                  <a:latin typeface="Inter"/>
                  <a:ea typeface="Inter"/>
                  <a:cs typeface="Inter"/>
                  <a:sym typeface="Inter"/>
                </a:rPr>
                <a:t>.</a:t>
              </a:r>
              <a:endParaRPr b="0" sz="1050">
                <a:solidFill>
                  <a:srgbClr val="475569"/>
                </a:solidFill>
                <a:latin typeface="Inter"/>
                <a:ea typeface="Inter"/>
                <a:cs typeface="Inter"/>
                <a:sym typeface="Inter"/>
              </a:endParaRPr>
            </a:p>
            <a:p>
              <a:pPr indent="0" lvl="0" marL="0" rtl="0" algn="l">
                <a:spcBef>
                  <a:spcPts val="1200"/>
                </a:spcBef>
                <a:spcAft>
                  <a:spcPts val="0"/>
                </a:spcAft>
                <a:buNone/>
              </a:pPr>
              <a:r>
                <a:rPr b="1" lang="en" sz="1050">
                  <a:solidFill>
                    <a:srgbClr val="EF4444"/>
                  </a:solidFill>
                  <a:latin typeface="Inter"/>
                  <a:ea typeface="Inter"/>
                  <a:cs typeface="Inter"/>
                  <a:sym typeface="Inter"/>
                </a:rPr>
                <a:t>•</a:t>
              </a:r>
              <a:r>
                <a:rPr b="0" lang="en" sz="1050">
                  <a:solidFill>
                    <a:srgbClr val="475569"/>
                  </a:solidFill>
                  <a:latin typeface="Inter"/>
                  <a:ea typeface="Inter"/>
                  <a:cs typeface="Inter"/>
                  <a:sym typeface="Inter"/>
                </a:rPr>
                <a:t> </a:t>
              </a:r>
              <a:r>
                <a:rPr b="0" lang="en" sz="1050">
                  <a:solidFill>
                    <a:srgbClr val="0F172A"/>
                  </a:solidFill>
                  <a:latin typeface="Inter SemiBold"/>
                  <a:ea typeface="Inter SemiBold"/>
                  <a:cs typeface="Inter SemiBold"/>
                  <a:sym typeface="Inter SemiBold"/>
                </a:rPr>
                <a:t>Unnecessary Actions:</a:t>
              </a:r>
              <a:r>
                <a:rPr b="0" lang="en" sz="1050">
                  <a:solidFill>
                    <a:srgbClr val="475569"/>
                  </a:solidFill>
                  <a:latin typeface="Inter"/>
                  <a:ea typeface="Inter"/>
                  <a:cs typeface="Inter"/>
                  <a:sym typeface="Inter"/>
                </a:rPr>
                <a:t> Penalizes unnecessary interventions </a:t>
              </a:r>
              <a:r>
                <a:rPr b="1" lang="en" sz="1050">
                  <a:solidFill>
                    <a:srgbClr val="EF4444"/>
                  </a:solidFill>
                  <a:latin typeface="Inter"/>
                  <a:ea typeface="Inter"/>
                  <a:cs typeface="Inter"/>
                  <a:sym typeface="Inter"/>
                </a:rPr>
                <a:t>(-1.0)</a:t>
              </a:r>
              <a:r>
                <a:rPr b="0" lang="en" sz="1050">
                  <a:solidFill>
                    <a:srgbClr val="475569"/>
                  </a:solidFill>
                  <a:latin typeface="Inter"/>
                  <a:ea typeface="Inter"/>
                  <a:cs typeface="Inter"/>
                  <a:sym typeface="Inter"/>
                </a:rPr>
                <a:t> during normal states.</a:t>
              </a:r>
              <a:endParaRPr b="0" sz="1050">
                <a:solidFill>
                  <a:srgbClr val="475569"/>
                </a:solidFill>
                <a:latin typeface="Inter"/>
                <a:ea typeface="Inter"/>
                <a:cs typeface="Inter"/>
                <a:sym typeface="Inter"/>
              </a:endParaRPr>
            </a:p>
          </p:txBody>
        </p:sp>
      </p:grpSp>
      <p:grpSp>
        <p:nvGrpSpPr>
          <p:cNvPr id="365" name="Google Shape;365;p20"/>
          <p:cNvGrpSpPr/>
          <p:nvPr/>
        </p:nvGrpSpPr>
        <p:grpSpPr>
          <a:xfrm>
            <a:off x="381000" y="4048125"/>
            <a:ext cx="8382000" cy="714300"/>
            <a:chOff x="381000" y="4048125"/>
            <a:chExt cx="8382000" cy="714300"/>
          </a:xfrm>
        </p:grpSpPr>
        <p:sp>
          <p:nvSpPr>
            <p:cNvPr id="366" name="Google Shape;366;p20"/>
            <p:cNvSpPr/>
            <p:nvPr/>
          </p:nvSpPr>
          <p:spPr>
            <a:xfrm>
              <a:off x="381000" y="4048125"/>
              <a:ext cx="8382000" cy="714300"/>
            </a:xfrm>
            <a:prstGeom prst="roundRect">
              <a:avLst>
                <a:gd fmla="val 5333" name="adj"/>
              </a:avLst>
            </a:prstGeom>
            <a:solidFill>
              <a:srgbClr val="E0F2FE"/>
            </a:solidFill>
            <a:ln cap="flat" cmpd="sng" w="952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20"/>
            <p:cNvSpPr/>
            <p:nvPr/>
          </p:nvSpPr>
          <p:spPr>
            <a:xfrm>
              <a:off x="381000" y="4048125"/>
              <a:ext cx="38100" cy="714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0"/>
            <p:cNvSpPr txBox="1"/>
            <p:nvPr/>
          </p:nvSpPr>
          <p:spPr>
            <a:xfrm>
              <a:off x="571500" y="4048125"/>
              <a:ext cx="8001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0F172A"/>
                  </a:solidFill>
                  <a:latin typeface="Inter SemiBold"/>
                  <a:ea typeface="Inter SemiBold"/>
                  <a:cs typeface="Inter SemiBold"/>
                  <a:sym typeface="Inter SemiBold"/>
                </a:rPr>
                <a:t>Crucial Design Rationale:</a:t>
              </a:r>
              <a:r>
                <a:rPr b="0" lang="en" sz="1013">
                  <a:solidFill>
                    <a:srgbClr val="0369A1"/>
                  </a:solidFill>
                  <a:latin typeface="Inter"/>
                  <a:ea typeface="Inter"/>
                  <a:cs typeface="Inter"/>
                  <a:sym typeface="Inter"/>
                </a:rPr>
                <a:t> Without this symmetric penalty design, the reinforcement learning agent defaults to </a:t>
              </a:r>
              <a:r>
                <a:rPr b="0" lang="en" sz="1050">
                  <a:solidFill>
                    <a:srgbClr val="0F172A"/>
                  </a:solidFill>
                  <a:latin typeface="Inter SemiBold"/>
                  <a:ea typeface="Inter SemiBold"/>
                  <a:cs typeface="Inter SemiBold"/>
                  <a:sym typeface="Inter SemiBold"/>
                </a:rPr>
                <a:t>'no_action'</a:t>
              </a:r>
              <a:r>
                <a:rPr b="0" lang="en" sz="1013">
                  <a:solidFill>
                    <a:srgbClr val="0369A1"/>
                  </a:solidFill>
                  <a:latin typeface="Inter"/>
                  <a:ea typeface="Inter"/>
                  <a:cs typeface="Inter"/>
                  <a:sym typeface="Inter"/>
                </a:rPr>
                <a:t> as a universally safe behavior. The symmetric penalty architecture successfully forces active grid intervention when required.</a:t>
              </a:r>
              <a:endParaRPr b="0" sz="1013">
                <a:solidFill>
                  <a:srgbClr val="0369A1"/>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4" name="Google Shape;374;p21"/>
          <p:cNvGrpSpPr/>
          <p:nvPr/>
        </p:nvGrpSpPr>
        <p:grpSpPr>
          <a:xfrm>
            <a:off x="0" y="0"/>
            <a:ext cx="9144000" cy="76350"/>
            <a:chOff x="0" y="0"/>
            <a:chExt cx="9144000" cy="76350"/>
          </a:xfrm>
        </p:grpSpPr>
        <p:sp>
          <p:nvSpPr>
            <p:cNvPr id="375" name="Google Shape;375;p21"/>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1"/>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377" name="Google Shape;377;p21"/>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sp>
        <p:nvSpPr>
          <p:cNvPr id="378" name="Google Shape;378;p21"/>
          <p:cNvSpPr txBox="1"/>
          <p:nvPr/>
        </p:nvSpPr>
        <p:spPr>
          <a:xfrm>
            <a:off x="381000" y="3810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Security Architecture &amp; 5 </a:t>
            </a:r>
            <a:r>
              <a:rPr b="1" lang="en" sz="2400">
                <a:solidFill>
                  <a:srgbClr val="0F172A"/>
                </a:solidFill>
                <a:latin typeface="Inter"/>
                <a:ea typeface="Inter"/>
                <a:cs typeface="Inter"/>
                <a:sym typeface="Inter"/>
              </a:rPr>
              <a:t>Layers</a:t>
            </a:r>
            <a:endParaRPr b="1" sz="2400">
              <a:solidFill>
                <a:srgbClr val="0F172A"/>
              </a:solidFill>
              <a:latin typeface="Inter"/>
              <a:ea typeface="Inter"/>
              <a:cs typeface="Inter"/>
              <a:sym typeface="Inter"/>
            </a:endParaRPr>
          </a:p>
        </p:txBody>
      </p:sp>
      <p:grpSp>
        <p:nvGrpSpPr>
          <p:cNvPr id="379" name="Google Shape;379;p21"/>
          <p:cNvGrpSpPr/>
          <p:nvPr/>
        </p:nvGrpSpPr>
        <p:grpSpPr>
          <a:xfrm>
            <a:off x="381000" y="1047750"/>
            <a:ext cx="8382000" cy="647700"/>
            <a:chOff x="381000" y="1047750"/>
            <a:chExt cx="8382000" cy="647700"/>
          </a:xfrm>
        </p:grpSpPr>
        <p:sp>
          <p:nvSpPr>
            <p:cNvPr id="380" name="Google Shape;380;p21"/>
            <p:cNvSpPr/>
            <p:nvPr/>
          </p:nvSpPr>
          <p:spPr>
            <a:xfrm>
              <a:off x="381000" y="1047750"/>
              <a:ext cx="8382000" cy="647700"/>
            </a:xfrm>
            <a:prstGeom prst="roundRect">
              <a:avLst>
                <a:gd fmla="val 0" name="adj"/>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1"/>
            <p:cNvSpPr/>
            <p:nvPr/>
          </p:nvSpPr>
          <p:spPr>
            <a:xfrm>
              <a:off x="605790" y="1257300"/>
              <a:ext cx="205920" cy="251640"/>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21"/>
            <p:cNvSpPr txBox="1"/>
            <p:nvPr/>
          </p:nvSpPr>
          <p:spPr>
            <a:xfrm>
              <a:off x="1047750" y="1047750"/>
              <a:ext cx="75249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284C7"/>
                  </a:solidFill>
                  <a:latin typeface="Inter"/>
                  <a:ea typeface="Inter"/>
                  <a:cs typeface="Inter"/>
                  <a:sym typeface="Inter"/>
                </a:rPr>
                <a:t>Layers</a:t>
              </a:r>
              <a:r>
                <a:rPr b="1" lang="en" sz="1050">
                  <a:solidFill>
                    <a:srgbClr val="0284C7"/>
                  </a:solidFill>
                  <a:latin typeface="Inter"/>
                  <a:ea typeface="Inter"/>
                  <a:cs typeface="Inter"/>
                  <a:sym typeface="Inter"/>
                </a:rPr>
                <a:t> 1 (mTLS):</a:t>
              </a:r>
              <a:r>
                <a:rPr b="0" lang="en" sz="1050">
                  <a:solidFill>
                    <a:srgbClr val="475569"/>
                  </a:solidFill>
                  <a:latin typeface="Inter"/>
                  <a:ea typeface="Inter"/>
                  <a:cs typeface="Inter"/>
                  <a:sym typeface="Inter"/>
                </a:rPr>
                <a:t> Enforces mTLS authentication using unique X.509 certificates per device.</a:t>
              </a:r>
              <a:endParaRPr b="0" sz="1050">
                <a:solidFill>
                  <a:srgbClr val="475569"/>
                </a:solidFill>
                <a:latin typeface="Inter"/>
                <a:ea typeface="Inter"/>
                <a:cs typeface="Inter"/>
                <a:sym typeface="Inter"/>
              </a:endParaRPr>
            </a:p>
          </p:txBody>
        </p:sp>
      </p:grpSp>
      <p:grpSp>
        <p:nvGrpSpPr>
          <p:cNvPr id="383" name="Google Shape;383;p21"/>
          <p:cNvGrpSpPr/>
          <p:nvPr/>
        </p:nvGrpSpPr>
        <p:grpSpPr>
          <a:xfrm>
            <a:off x="381000" y="1790700"/>
            <a:ext cx="8382000" cy="647700"/>
            <a:chOff x="381000" y="1790700"/>
            <a:chExt cx="8382000" cy="647700"/>
          </a:xfrm>
        </p:grpSpPr>
        <p:sp>
          <p:nvSpPr>
            <p:cNvPr id="384" name="Google Shape;384;p21"/>
            <p:cNvSpPr/>
            <p:nvPr/>
          </p:nvSpPr>
          <p:spPr>
            <a:xfrm>
              <a:off x="381000" y="1790700"/>
              <a:ext cx="8382000" cy="647700"/>
            </a:xfrm>
            <a:prstGeom prst="roundRect">
              <a:avLst>
                <a:gd fmla="val 0" name="adj"/>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1"/>
            <p:cNvSpPr/>
            <p:nvPr/>
          </p:nvSpPr>
          <p:spPr>
            <a:xfrm>
              <a:off x="605790" y="2000250"/>
              <a:ext cx="205920" cy="251640"/>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21"/>
            <p:cNvSpPr txBox="1"/>
            <p:nvPr/>
          </p:nvSpPr>
          <p:spPr>
            <a:xfrm>
              <a:off x="1047750" y="1790700"/>
              <a:ext cx="75249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284C7"/>
                  </a:solidFill>
                  <a:latin typeface="Inter"/>
                  <a:ea typeface="Inter"/>
                  <a:cs typeface="Inter"/>
                  <a:sym typeface="Inter"/>
                </a:rPr>
                <a:t>Layers</a:t>
              </a:r>
              <a:r>
                <a:rPr b="1" lang="en" sz="1050">
                  <a:solidFill>
                    <a:srgbClr val="0284C7"/>
                  </a:solidFill>
                  <a:latin typeface="Inter"/>
                  <a:ea typeface="Inter"/>
                  <a:cs typeface="Inter"/>
                  <a:sym typeface="Inter"/>
                </a:rPr>
                <a:t> 2 (Integrity):</a:t>
              </a:r>
              <a:r>
                <a:rPr b="0" lang="en" sz="1050">
                  <a:solidFill>
                    <a:srgbClr val="475569"/>
                  </a:solidFill>
                  <a:latin typeface="Inter"/>
                  <a:ea typeface="Inter"/>
                  <a:cs typeface="Inter"/>
                  <a:sym typeface="Inter"/>
                </a:rPr>
                <a:t> Ensures payload integrity via HMAC-SHA256 signatures validated against AWS Secrets Manager.</a:t>
              </a:r>
              <a:endParaRPr b="0" sz="1050">
                <a:solidFill>
                  <a:srgbClr val="475569"/>
                </a:solidFill>
                <a:latin typeface="Inter"/>
                <a:ea typeface="Inter"/>
                <a:cs typeface="Inter"/>
                <a:sym typeface="Inter"/>
              </a:endParaRPr>
            </a:p>
          </p:txBody>
        </p:sp>
      </p:grpSp>
      <p:grpSp>
        <p:nvGrpSpPr>
          <p:cNvPr id="387" name="Google Shape;387;p21"/>
          <p:cNvGrpSpPr/>
          <p:nvPr/>
        </p:nvGrpSpPr>
        <p:grpSpPr>
          <a:xfrm>
            <a:off x="381000" y="2533650"/>
            <a:ext cx="8382000" cy="647700"/>
            <a:chOff x="381000" y="2533650"/>
            <a:chExt cx="8382000" cy="647700"/>
          </a:xfrm>
        </p:grpSpPr>
        <p:sp>
          <p:nvSpPr>
            <p:cNvPr id="388" name="Google Shape;388;p21"/>
            <p:cNvSpPr/>
            <p:nvPr/>
          </p:nvSpPr>
          <p:spPr>
            <a:xfrm>
              <a:off x="381000" y="2533650"/>
              <a:ext cx="8382000" cy="647700"/>
            </a:xfrm>
            <a:prstGeom prst="roundRect">
              <a:avLst>
                <a:gd fmla="val 0" name="adj"/>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1"/>
            <p:cNvSpPr/>
            <p:nvPr/>
          </p:nvSpPr>
          <p:spPr>
            <a:xfrm>
              <a:off x="605790" y="2743200"/>
              <a:ext cx="205920" cy="251640"/>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1"/>
            <p:cNvSpPr txBox="1"/>
            <p:nvPr/>
          </p:nvSpPr>
          <p:spPr>
            <a:xfrm>
              <a:off x="1047750" y="2533650"/>
              <a:ext cx="75249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284C7"/>
                  </a:solidFill>
                  <a:latin typeface="Inter"/>
                  <a:ea typeface="Inter"/>
                  <a:cs typeface="Inter"/>
                  <a:sym typeface="Inter"/>
                </a:rPr>
                <a:t>Layers</a:t>
              </a:r>
              <a:r>
                <a:rPr b="1" lang="en" sz="1050">
                  <a:solidFill>
                    <a:srgbClr val="0284C7"/>
                  </a:solidFill>
                  <a:latin typeface="Inter"/>
                  <a:ea typeface="Inter"/>
                  <a:cs typeface="Inter"/>
                  <a:sym typeface="Inter"/>
                </a:rPr>
                <a:t> 3 (Replay Prevention):</a:t>
              </a:r>
              <a:r>
                <a:rPr b="0" lang="en" sz="1050">
                  <a:solidFill>
                    <a:srgbClr val="475569"/>
                  </a:solidFill>
                  <a:latin typeface="Inter"/>
                  <a:ea typeface="Inter"/>
                  <a:cs typeface="Inter"/>
                  <a:sym typeface="Inter"/>
                </a:rPr>
                <a:t> Prevents replay attacks by verifying timestamps (under 60 seconds old), sequence numbers, and nonces.</a:t>
              </a:r>
              <a:endParaRPr b="0" sz="1050">
                <a:solidFill>
                  <a:srgbClr val="475569"/>
                </a:solidFill>
                <a:latin typeface="Inter"/>
                <a:ea typeface="Inter"/>
                <a:cs typeface="Inter"/>
                <a:sym typeface="Inter"/>
              </a:endParaRPr>
            </a:p>
          </p:txBody>
        </p:sp>
      </p:grpSp>
      <p:grpSp>
        <p:nvGrpSpPr>
          <p:cNvPr id="391" name="Google Shape;391;p21"/>
          <p:cNvGrpSpPr/>
          <p:nvPr/>
        </p:nvGrpSpPr>
        <p:grpSpPr>
          <a:xfrm>
            <a:off x="381000" y="3276600"/>
            <a:ext cx="8382000" cy="647700"/>
            <a:chOff x="381000" y="3276600"/>
            <a:chExt cx="8382000" cy="647700"/>
          </a:xfrm>
        </p:grpSpPr>
        <p:sp>
          <p:nvSpPr>
            <p:cNvPr id="392" name="Google Shape;392;p21"/>
            <p:cNvSpPr/>
            <p:nvPr/>
          </p:nvSpPr>
          <p:spPr>
            <a:xfrm>
              <a:off x="381000" y="3276600"/>
              <a:ext cx="8382000" cy="647700"/>
            </a:xfrm>
            <a:prstGeom prst="roundRect">
              <a:avLst>
                <a:gd fmla="val 0" name="adj"/>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1"/>
            <p:cNvSpPr/>
            <p:nvPr/>
          </p:nvSpPr>
          <p:spPr>
            <a:xfrm>
              <a:off x="605790" y="3486150"/>
              <a:ext cx="205920" cy="251640"/>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21"/>
            <p:cNvSpPr txBox="1"/>
            <p:nvPr/>
          </p:nvSpPr>
          <p:spPr>
            <a:xfrm>
              <a:off x="1047750" y="3276600"/>
              <a:ext cx="75249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284C7"/>
                  </a:solidFill>
                  <a:latin typeface="Inter"/>
                  <a:ea typeface="Inter"/>
                  <a:cs typeface="Inter"/>
                  <a:sym typeface="Inter"/>
                </a:rPr>
                <a:t>Layers</a:t>
              </a:r>
              <a:r>
                <a:rPr b="1" lang="en" sz="1050">
                  <a:solidFill>
                    <a:srgbClr val="0284C7"/>
                  </a:solidFill>
                  <a:latin typeface="Inter"/>
                  <a:ea typeface="Inter"/>
                  <a:cs typeface="Inter"/>
                  <a:sym typeface="Inter"/>
                </a:rPr>
                <a:t> 4 (Validation &amp; Anomaly):</a:t>
              </a:r>
              <a:r>
                <a:rPr b="0" lang="en" sz="1050">
                  <a:solidFill>
                    <a:srgbClr val="475569"/>
                  </a:solidFill>
                  <a:latin typeface="Inter"/>
                  <a:ea typeface="Inter"/>
                  <a:cs typeface="Inter"/>
                  <a:sym typeface="Inter"/>
                </a:rPr>
                <a:t> Provides input validation and anomaly detection, capping rates at 120 messages per minute and flagging sudden 50V jumps.</a:t>
              </a:r>
              <a:endParaRPr b="0" sz="1050">
                <a:solidFill>
                  <a:srgbClr val="475569"/>
                </a:solidFill>
                <a:latin typeface="Inter"/>
                <a:ea typeface="Inter"/>
                <a:cs typeface="Inter"/>
                <a:sym typeface="Inter"/>
              </a:endParaRPr>
            </a:p>
          </p:txBody>
        </p:sp>
      </p:grpSp>
      <p:grpSp>
        <p:nvGrpSpPr>
          <p:cNvPr id="395" name="Google Shape;395;p21"/>
          <p:cNvGrpSpPr/>
          <p:nvPr/>
        </p:nvGrpSpPr>
        <p:grpSpPr>
          <a:xfrm>
            <a:off x="381000" y="4019550"/>
            <a:ext cx="8382000" cy="647700"/>
            <a:chOff x="381000" y="4019550"/>
            <a:chExt cx="8382000" cy="647700"/>
          </a:xfrm>
        </p:grpSpPr>
        <p:sp>
          <p:nvSpPr>
            <p:cNvPr id="396" name="Google Shape;396;p21"/>
            <p:cNvSpPr/>
            <p:nvPr/>
          </p:nvSpPr>
          <p:spPr>
            <a:xfrm>
              <a:off x="381000" y="4019550"/>
              <a:ext cx="8382000" cy="647700"/>
            </a:xfrm>
            <a:prstGeom prst="roundRect">
              <a:avLst>
                <a:gd fmla="val 0" name="adj"/>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p21"/>
            <p:cNvSpPr/>
            <p:nvPr/>
          </p:nvSpPr>
          <p:spPr>
            <a:xfrm>
              <a:off x="605790" y="4229100"/>
              <a:ext cx="205920" cy="251640"/>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21"/>
            <p:cNvSpPr txBox="1"/>
            <p:nvPr/>
          </p:nvSpPr>
          <p:spPr>
            <a:xfrm>
              <a:off x="1047750" y="4019550"/>
              <a:ext cx="75249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284C7"/>
                  </a:solidFill>
                  <a:latin typeface="Inter"/>
                  <a:ea typeface="Inter"/>
                  <a:cs typeface="Inter"/>
                  <a:sym typeface="Inter"/>
                </a:rPr>
                <a:t>Layers</a:t>
              </a:r>
              <a:r>
                <a:rPr b="1" lang="en" sz="1050">
                  <a:solidFill>
                    <a:srgbClr val="0284C7"/>
                  </a:solidFill>
                  <a:latin typeface="Inter"/>
                  <a:ea typeface="Inter"/>
                  <a:cs typeface="Inter"/>
                  <a:sym typeface="Inter"/>
                </a:rPr>
                <a:t> 5 (Isolation):</a:t>
              </a:r>
              <a:r>
                <a:rPr b="0" lang="en" sz="1050">
                  <a:solidFill>
                    <a:srgbClr val="475569"/>
                  </a:solidFill>
                  <a:latin typeface="Inter"/>
                  <a:ea typeface="Inter"/>
                  <a:cs typeface="Inter"/>
                  <a:sym typeface="Inter"/>
                </a:rPr>
                <a:t> Ensures VPC isolation, keeping Lambda in private subnets with strict port 443 egress.</a:t>
              </a:r>
              <a:endParaRPr b="0" sz="1050">
                <a:solidFill>
                  <a:srgbClr val="475569"/>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2"/>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2"/>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2"/>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22"/>
          <p:cNvSpPr txBox="1"/>
          <p:nvPr/>
        </p:nvSpPr>
        <p:spPr>
          <a:xfrm>
            <a:off x="381000" y="381000"/>
            <a:ext cx="8382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rgbClr val="0F172A"/>
                </a:solidFill>
                <a:latin typeface="Inter"/>
                <a:ea typeface="Inter"/>
                <a:cs typeface="Inter"/>
                <a:sym typeface="Inter"/>
              </a:rPr>
              <a:t>Grid-RL End-to-End Data Flow &amp; Telemetry Lifecycle</a:t>
            </a:r>
            <a:endParaRPr/>
          </a:p>
        </p:txBody>
      </p:sp>
      <p:grpSp>
        <p:nvGrpSpPr>
          <p:cNvPr id="407" name="Google Shape;407;p22"/>
          <p:cNvGrpSpPr/>
          <p:nvPr/>
        </p:nvGrpSpPr>
        <p:grpSpPr>
          <a:xfrm>
            <a:off x="381000" y="952500"/>
            <a:ext cx="1857300" cy="1762200"/>
            <a:chOff x="0" y="0"/>
            <a:chExt cx="1857300" cy="1762200"/>
          </a:xfrm>
        </p:grpSpPr>
        <p:sp>
          <p:nvSpPr>
            <p:cNvPr id="408" name="Google Shape;408;p22"/>
            <p:cNvSpPr/>
            <p:nvPr/>
          </p:nvSpPr>
          <p:spPr>
            <a:xfrm>
              <a:off x="0" y="0"/>
              <a:ext cx="1857300" cy="1762200"/>
            </a:xfrm>
            <a:prstGeom prst="roundRect">
              <a:avLst>
                <a:gd fmla="val 21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22"/>
            <p:cNvSpPr/>
            <p:nvPr/>
          </p:nvSpPr>
          <p:spPr>
            <a:xfrm>
              <a:off x="0" y="0"/>
              <a:ext cx="1857300" cy="38100"/>
            </a:xfrm>
            <a:prstGeom prst="roundRect">
              <a:avLst>
                <a:gd fmla="val 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22"/>
            <p:cNvSpPr txBox="1"/>
            <p:nvPr/>
          </p:nvSpPr>
          <p:spPr>
            <a:xfrm>
              <a:off x="95250" y="95250"/>
              <a:ext cx="16668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0369A1"/>
                  </a:solidFill>
                  <a:latin typeface="Inter"/>
                  <a:ea typeface="Inter"/>
                  <a:cs typeface="Inter"/>
                  <a:sym typeface="Inter"/>
                </a:rPr>
                <a:t>1. EDGE TELEMETRY</a:t>
              </a:r>
              <a:endParaRPr b="1" sz="800">
                <a:solidFill>
                  <a:srgbClr val="0369A1"/>
                </a:solidFill>
                <a:latin typeface="Inter"/>
                <a:ea typeface="Inter"/>
                <a:cs typeface="Inter"/>
                <a:sym typeface="Inter"/>
              </a:endParaRPr>
            </a:p>
            <a:p>
              <a:pPr indent="0" lvl="0" marL="0" rtl="0" algn="l">
                <a:spcBef>
                  <a:spcPts val="300"/>
                </a:spcBef>
                <a:spcAft>
                  <a:spcPts val="0"/>
                </a:spcAft>
                <a:buNone/>
              </a:pPr>
              <a:r>
                <a:rPr b="1" lang="en" sz="1000">
                  <a:solidFill>
                    <a:srgbClr val="0F172A"/>
                  </a:solidFill>
                  <a:latin typeface="Inter"/>
                  <a:ea typeface="Inter"/>
                  <a:cs typeface="Inter"/>
                  <a:sym typeface="Inter"/>
                </a:rPr>
                <a:t>Raw Physical Reading</a:t>
              </a:r>
              <a:endParaRPr b="1" sz="1000">
                <a:solidFill>
                  <a:srgbClr val="0F172A"/>
                </a:solidFill>
                <a:latin typeface="Inter"/>
                <a:ea typeface="Inter"/>
                <a:cs typeface="Inter"/>
                <a:sym typeface="Inter"/>
              </a:endParaRPr>
            </a:p>
            <a:p>
              <a:pPr indent="0" lvl="0" marL="0" rtl="0" algn="l">
                <a:spcBef>
                  <a:spcPts val="300"/>
                </a:spcBef>
                <a:spcAft>
                  <a:spcPts val="0"/>
                </a:spcAft>
                <a:buNone/>
              </a:pPr>
              <a:r>
                <a:rPr b="0" lang="en" sz="800">
                  <a:solidFill>
                    <a:srgbClr val="475569"/>
                  </a:solidFill>
                  <a:latin typeface="Inter"/>
                  <a:ea typeface="Inter"/>
                  <a:cs typeface="Inter"/>
                  <a:sym typeface="Inter"/>
                </a:rPr>
                <a:t>Sensor generates 7-field telemetry; payload signed (HMAC-SHA256) adding sequence and nonce.</a:t>
              </a:r>
              <a:endParaRPr b="0" sz="800">
                <a:solidFill>
                  <a:srgbClr val="475569"/>
                </a:solidFill>
                <a:latin typeface="Inter"/>
                <a:ea typeface="Inter"/>
                <a:cs typeface="Inter"/>
                <a:sym typeface="Inter"/>
              </a:endParaRPr>
            </a:p>
            <a:p>
              <a:pPr indent="0" lvl="0" marL="0" rtl="0" algn="l">
                <a:spcBef>
                  <a:spcPts val="600"/>
                </a:spcBef>
                <a:spcAft>
                  <a:spcPts val="0"/>
                </a:spcAft>
                <a:buNone/>
              </a:pPr>
              <a:r>
                <a:rPr b="1" lang="en" sz="700">
                  <a:solidFill>
                    <a:srgbClr val="0284C7"/>
                  </a:solidFill>
                  <a:latin typeface="Courier New"/>
                  <a:ea typeface="Courier New"/>
                  <a:cs typeface="Courier New"/>
                  <a:sym typeface="Courier New"/>
                </a:rPr>
                <a:t>// 10 Fields Total</a:t>
              </a:r>
              <a:endParaRPr b="1" sz="700">
                <a:solidFill>
                  <a:srgbClr val="0284C7"/>
                </a:solidFill>
                <a:latin typeface="Courier New"/>
                <a:ea typeface="Courier New"/>
                <a:cs typeface="Courier New"/>
                <a:sym typeface="Courier New"/>
              </a:endParaRPr>
            </a:p>
            <a:p>
              <a:pPr indent="0" lvl="0" marL="0" rtl="0" algn="l">
                <a:spcBef>
                  <a:spcPts val="150"/>
                </a:spcBef>
                <a:spcAft>
                  <a:spcPts val="0"/>
                </a:spcAft>
                <a:buNone/>
              </a:pPr>
              <a:r>
                <a:rPr b="1" lang="en" sz="750">
                  <a:solidFill>
                    <a:srgbClr val="0F172A"/>
                  </a:solidFill>
                  <a:highlight>
                    <a:srgbClr val="F1F5F9"/>
                  </a:highlight>
                  <a:latin typeface="Courier New"/>
                  <a:ea typeface="Courier New"/>
                  <a:cs typeface="Courier New"/>
                  <a:sym typeface="Courier New"/>
                </a:rPr>
                <a:t>{device_id, ts, v_v,</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curr_a, freq_hz, temp,</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p_factor, seq, nonce, sig}</a:t>
              </a:r>
              <a:endParaRPr b="1" sz="750">
                <a:solidFill>
                  <a:srgbClr val="0F172A"/>
                </a:solidFill>
                <a:highlight>
                  <a:srgbClr val="F1F5F9"/>
                </a:highlight>
                <a:latin typeface="Courier New"/>
                <a:ea typeface="Courier New"/>
                <a:cs typeface="Courier New"/>
                <a:sym typeface="Courier New"/>
              </a:endParaRPr>
            </a:p>
          </p:txBody>
        </p:sp>
      </p:grpSp>
      <p:pic>
        <p:nvPicPr>
          <p:cNvPr id="411" name="Google Shape;411;p22"/>
          <p:cNvPicPr preferRelativeResize="0"/>
          <p:nvPr/>
        </p:nvPicPr>
        <p:blipFill rotWithShape="1">
          <a:blip r:embed="rId3">
            <a:alphaModFix/>
          </a:blip>
          <a:srcRect b="0" l="0" r="0" t="0"/>
          <a:stretch/>
        </p:blipFill>
        <p:spPr>
          <a:xfrm>
            <a:off x="2238375" y="1824038"/>
            <a:ext cx="238200" cy="19200"/>
          </a:xfrm>
          <a:prstGeom prst="rect">
            <a:avLst/>
          </a:prstGeom>
          <a:noFill/>
          <a:ln>
            <a:noFill/>
          </a:ln>
        </p:spPr>
      </p:pic>
      <p:sp>
        <p:nvSpPr>
          <p:cNvPr id="412" name="Google Shape;412;p22"/>
          <p:cNvSpPr/>
          <p:nvPr/>
        </p:nvSpPr>
        <p:spPr>
          <a:xfrm>
            <a:off x="2447925" y="1795463"/>
            <a:ext cx="76200" cy="76200"/>
          </a:xfrm>
          <a:custGeom>
            <a:rect b="b" l="l" r="r" t="t"/>
            <a:pathLst>
              <a:path extrusionOk="0" h="120000" w="120000">
                <a:moveTo>
                  <a:pt x="120000" y="60000"/>
                </a:moveTo>
                <a:lnTo>
                  <a:pt x="0" y="0"/>
                </a:lnTo>
                <a:lnTo>
                  <a:pt x="0" y="120000"/>
                </a:lnTo>
                <a:close/>
              </a:path>
            </a:pathLst>
          </a:cu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13" name="Google Shape;413;p22"/>
          <p:cNvGrpSpPr/>
          <p:nvPr/>
        </p:nvGrpSpPr>
        <p:grpSpPr>
          <a:xfrm>
            <a:off x="2524125" y="952500"/>
            <a:ext cx="1857300" cy="1762200"/>
            <a:chOff x="0" y="0"/>
            <a:chExt cx="1857300" cy="1762200"/>
          </a:xfrm>
        </p:grpSpPr>
        <p:sp>
          <p:nvSpPr>
            <p:cNvPr id="414" name="Google Shape;414;p22"/>
            <p:cNvSpPr/>
            <p:nvPr/>
          </p:nvSpPr>
          <p:spPr>
            <a:xfrm>
              <a:off x="0" y="0"/>
              <a:ext cx="1857300" cy="1762200"/>
            </a:xfrm>
            <a:prstGeom prst="roundRect">
              <a:avLst>
                <a:gd fmla="val 21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2"/>
            <p:cNvSpPr/>
            <p:nvPr/>
          </p:nvSpPr>
          <p:spPr>
            <a:xfrm>
              <a:off x="0" y="0"/>
              <a:ext cx="1857300" cy="38100"/>
            </a:xfrm>
            <a:prstGeom prst="roundRect">
              <a:avLst>
                <a:gd fmla="val 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22"/>
            <p:cNvSpPr txBox="1"/>
            <p:nvPr/>
          </p:nvSpPr>
          <p:spPr>
            <a:xfrm>
              <a:off x="95250" y="95250"/>
              <a:ext cx="16668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0369A1"/>
                  </a:solidFill>
                  <a:latin typeface="Inter"/>
                  <a:ea typeface="Inter"/>
                  <a:cs typeface="Inter"/>
                  <a:sym typeface="Inter"/>
                </a:rPr>
                <a:t>2. INGESTION &amp; SECURITY</a:t>
              </a:r>
              <a:endParaRPr b="1" sz="800">
                <a:solidFill>
                  <a:srgbClr val="0369A1"/>
                </a:solidFill>
                <a:latin typeface="Inter"/>
                <a:ea typeface="Inter"/>
                <a:cs typeface="Inter"/>
                <a:sym typeface="Inter"/>
              </a:endParaRPr>
            </a:p>
            <a:p>
              <a:pPr indent="0" lvl="0" marL="0" rtl="0" algn="l">
                <a:spcBef>
                  <a:spcPts val="300"/>
                </a:spcBef>
                <a:spcAft>
                  <a:spcPts val="0"/>
                </a:spcAft>
                <a:buNone/>
              </a:pPr>
              <a:r>
                <a:rPr b="1" lang="en" sz="1000">
                  <a:solidFill>
                    <a:srgbClr val="0F172A"/>
                  </a:solidFill>
                  <a:latin typeface="Inter"/>
                  <a:ea typeface="Inter"/>
                  <a:cs typeface="Inter"/>
                  <a:sym typeface="Inter"/>
                </a:rPr>
                <a:t>AWS IoT Core &amp; Lambda</a:t>
              </a:r>
              <a:endParaRPr b="1" sz="1000">
                <a:solidFill>
                  <a:srgbClr val="0F172A"/>
                </a:solidFill>
                <a:latin typeface="Inter"/>
                <a:ea typeface="Inter"/>
                <a:cs typeface="Inter"/>
                <a:sym typeface="Inter"/>
              </a:endParaRPr>
            </a:p>
            <a:p>
              <a:pPr indent="0" lvl="0" marL="0" rtl="0" algn="l">
                <a:spcBef>
                  <a:spcPts val="300"/>
                </a:spcBef>
                <a:spcAft>
                  <a:spcPts val="0"/>
                </a:spcAft>
                <a:buNone/>
              </a:pPr>
              <a:r>
                <a:rPr b="0" lang="en" sz="800">
                  <a:solidFill>
                    <a:srgbClr val="475569"/>
                  </a:solidFill>
                  <a:latin typeface="Inter"/>
                  <a:ea typeface="Inter"/>
                  <a:cs typeface="Inter"/>
                  <a:sym typeface="Inter"/>
                </a:rPr>
                <a:t>MQTT transit preserves 10 fields verbatim. Lambda executes read-only validation and replay checks.</a:t>
              </a:r>
              <a:endParaRPr b="0" sz="800">
                <a:solidFill>
                  <a:srgbClr val="475569"/>
                </a:solidFill>
                <a:latin typeface="Inter"/>
                <a:ea typeface="Inter"/>
                <a:cs typeface="Inter"/>
                <a:sym typeface="Inter"/>
              </a:endParaRPr>
            </a:p>
            <a:p>
              <a:pPr indent="0" lvl="0" marL="0" rtl="0" algn="l">
                <a:spcBef>
                  <a:spcPts val="600"/>
                </a:spcBef>
                <a:spcAft>
                  <a:spcPts val="0"/>
                </a:spcAft>
                <a:buNone/>
              </a:pPr>
              <a:r>
                <a:rPr b="1" lang="en" sz="700">
                  <a:solidFill>
                    <a:srgbClr val="0284C7"/>
                  </a:solidFill>
                  <a:latin typeface="Courier New"/>
                  <a:ea typeface="Courier New"/>
                  <a:cs typeface="Courier New"/>
                  <a:sym typeface="Courier New"/>
                </a:rPr>
                <a:t>// Security Verification</a:t>
              </a:r>
              <a:endParaRPr b="1" sz="700">
                <a:solidFill>
                  <a:srgbClr val="0284C7"/>
                </a:solidFill>
                <a:latin typeface="Courier New"/>
                <a:ea typeface="Courier New"/>
                <a:cs typeface="Courier New"/>
                <a:sym typeface="Courier New"/>
              </a:endParaRPr>
            </a:p>
            <a:p>
              <a:pPr indent="0" lvl="0" marL="0" rtl="0" algn="l">
                <a:spcBef>
                  <a:spcPts val="150"/>
                </a:spcBef>
                <a:spcAft>
                  <a:spcPts val="0"/>
                </a:spcAft>
                <a:buNone/>
              </a:pPr>
              <a:r>
                <a:rPr b="1" lang="en" sz="750">
                  <a:solidFill>
                    <a:srgbClr val="0F172A"/>
                  </a:solidFill>
                  <a:highlight>
                    <a:srgbClr val="F1F5F9"/>
                  </a:highlight>
                  <a:latin typeface="Courier New"/>
                  <a:ea typeface="Courier New"/>
                  <a:cs typeface="Courier New"/>
                  <a:sym typeface="Courier New"/>
                </a:rPr>
                <a:t>verify_signature() PASS</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check_replay() PASS</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validate_inputs() PASS</a:t>
              </a:r>
              <a:endParaRPr b="1" sz="750">
                <a:solidFill>
                  <a:srgbClr val="0F172A"/>
                </a:solidFill>
                <a:highlight>
                  <a:srgbClr val="F1F5F9"/>
                </a:highlight>
                <a:latin typeface="Courier New"/>
                <a:ea typeface="Courier New"/>
                <a:cs typeface="Courier New"/>
                <a:sym typeface="Courier New"/>
              </a:endParaRPr>
            </a:p>
          </p:txBody>
        </p:sp>
      </p:grpSp>
      <p:pic>
        <p:nvPicPr>
          <p:cNvPr id="417" name="Google Shape;417;p22"/>
          <p:cNvPicPr preferRelativeResize="0"/>
          <p:nvPr/>
        </p:nvPicPr>
        <p:blipFill rotWithShape="1">
          <a:blip r:embed="rId3">
            <a:alphaModFix/>
          </a:blip>
          <a:srcRect b="0" l="0" r="0" t="0"/>
          <a:stretch/>
        </p:blipFill>
        <p:spPr>
          <a:xfrm>
            <a:off x="4381500" y="1824038"/>
            <a:ext cx="238200" cy="19200"/>
          </a:xfrm>
          <a:prstGeom prst="rect">
            <a:avLst/>
          </a:prstGeom>
          <a:noFill/>
          <a:ln>
            <a:noFill/>
          </a:ln>
        </p:spPr>
      </p:pic>
      <p:sp>
        <p:nvSpPr>
          <p:cNvPr id="418" name="Google Shape;418;p22"/>
          <p:cNvSpPr/>
          <p:nvPr/>
        </p:nvSpPr>
        <p:spPr>
          <a:xfrm>
            <a:off x="4591050" y="1795463"/>
            <a:ext cx="76200" cy="76200"/>
          </a:xfrm>
          <a:custGeom>
            <a:rect b="b" l="l" r="r" t="t"/>
            <a:pathLst>
              <a:path extrusionOk="0" h="120000" w="120000">
                <a:moveTo>
                  <a:pt x="120000" y="60000"/>
                </a:moveTo>
                <a:lnTo>
                  <a:pt x="0" y="0"/>
                </a:lnTo>
                <a:lnTo>
                  <a:pt x="0" y="120000"/>
                </a:lnTo>
                <a:close/>
              </a:path>
            </a:pathLst>
          </a:cu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19" name="Google Shape;419;p22"/>
          <p:cNvGrpSpPr/>
          <p:nvPr/>
        </p:nvGrpSpPr>
        <p:grpSpPr>
          <a:xfrm>
            <a:off x="4667250" y="952500"/>
            <a:ext cx="1857300" cy="1762200"/>
            <a:chOff x="0" y="0"/>
            <a:chExt cx="1857300" cy="1762200"/>
          </a:xfrm>
        </p:grpSpPr>
        <p:sp>
          <p:nvSpPr>
            <p:cNvPr id="420" name="Google Shape;420;p22"/>
            <p:cNvSpPr/>
            <p:nvPr/>
          </p:nvSpPr>
          <p:spPr>
            <a:xfrm>
              <a:off x="0" y="0"/>
              <a:ext cx="1857300" cy="1762200"/>
            </a:xfrm>
            <a:prstGeom prst="roundRect">
              <a:avLst>
                <a:gd fmla="val 21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22"/>
            <p:cNvSpPr/>
            <p:nvPr/>
          </p:nvSpPr>
          <p:spPr>
            <a:xfrm>
              <a:off x="0" y="0"/>
              <a:ext cx="1857300" cy="38100"/>
            </a:xfrm>
            <a:prstGeom prst="roundRect">
              <a:avLst>
                <a:gd fmla="val 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22"/>
            <p:cNvSpPr txBox="1"/>
            <p:nvPr/>
          </p:nvSpPr>
          <p:spPr>
            <a:xfrm>
              <a:off x="95250" y="95250"/>
              <a:ext cx="16668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0369A1"/>
                  </a:solidFill>
                  <a:latin typeface="Inter"/>
                  <a:ea typeface="Inter"/>
                  <a:cs typeface="Inter"/>
                  <a:sym typeface="Inter"/>
                </a:rPr>
                <a:t>3. MODEL INFERENCE</a:t>
              </a:r>
              <a:endParaRPr b="1" sz="800">
                <a:solidFill>
                  <a:srgbClr val="0369A1"/>
                </a:solidFill>
                <a:latin typeface="Inter"/>
                <a:ea typeface="Inter"/>
                <a:cs typeface="Inter"/>
                <a:sym typeface="Inter"/>
              </a:endParaRPr>
            </a:p>
            <a:p>
              <a:pPr indent="0" lvl="0" marL="0" rtl="0" algn="l">
                <a:spcBef>
                  <a:spcPts val="300"/>
                </a:spcBef>
                <a:spcAft>
                  <a:spcPts val="0"/>
                </a:spcAft>
                <a:buNone/>
              </a:pPr>
              <a:r>
                <a:rPr b="1" lang="en" sz="1000">
                  <a:solidFill>
                    <a:srgbClr val="0F172A"/>
                  </a:solidFill>
                  <a:latin typeface="Inter"/>
                  <a:ea typeface="Inter"/>
                  <a:cs typeface="Inter"/>
                  <a:sym typeface="Inter"/>
                </a:rPr>
                <a:t>SageMaker DQN Execution</a:t>
              </a:r>
              <a:endParaRPr b="1" sz="1000">
                <a:solidFill>
                  <a:srgbClr val="0F172A"/>
                </a:solidFill>
                <a:latin typeface="Inter"/>
                <a:ea typeface="Inter"/>
                <a:cs typeface="Inter"/>
                <a:sym typeface="Inter"/>
              </a:endParaRPr>
            </a:p>
            <a:p>
              <a:pPr indent="0" lvl="0" marL="0" rtl="0" algn="l">
                <a:spcBef>
                  <a:spcPts val="300"/>
                </a:spcBef>
                <a:spcAft>
                  <a:spcPts val="0"/>
                </a:spcAft>
                <a:buNone/>
              </a:pPr>
              <a:r>
                <a:rPr b="0" lang="en" sz="800">
                  <a:solidFill>
                    <a:srgbClr val="475569"/>
                  </a:solidFill>
                  <a:latin typeface="Inter"/>
                  <a:ea typeface="Inter"/>
                  <a:cs typeface="Inter"/>
                  <a:sym typeface="Inter"/>
                </a:rPr>
                <a:t>Payload narrowed (10 to 5 floats), scaled via MinMaxScaler. Neural net maps state to control decision.</a:t>
              </a:r>
              <a:endParaRPr b="0" sz="800">
                <a:solidFill>
                  <a:srgbClr val="475569"/>
                </a:solidFill>
                <a:latin typeface="Inter"/>
                <a:ea typeface="Inter"/>
                <a:cs typeface="Inter"/>
                <a:sym typeface="Inter"/>
              </a:endParaRPr>
            </a:p>
            <a:p>
              <a:pPr indent="0" lvl="0" marL="0" rtl="0" algn="l">
                <a:spcBef>
                  <a:spcPts val="600"/>
                </a:spcBef>
                <a:spcAft>
                  <a:spcPts val="0"/>
                </a:spcAft>
                <a:buNone/>
              </a:pPr>
              <a:r>
                <a:rPr b="1" lang="en" sz="700">
                  <a:solidFill>
                    <a:srgbClr val="0284C7"/>
                  </a:solidFill>
                  <a:latin typeface="Courier New"/>
                  <a:ea typeface="Courier New"/>
                  <a:cs typeface="Courier New"/>
                  <a:sym typeface="Courier New"/>
                </a:rPr>
                <a:t>// SageMaker Response</a:t>
              </a:r>
              <a:endParaRPr b="1" sz="700">
                <a:solidFill>
                  <a:srgbClr val="0284C7"/>
                </a:solidFill>
                <a:latin typeface="Courier New"/>
                <a:ea typeface="Courier New"/>
                <a:cs typeface="Courier New"/>
                <a:sym typeface="Courier New"/>
              </a:endParaRPr>
            </a:p>
            <a:p>
              <a:pPr indent="0" lvl="0" marL="0" rtl="0" algn="l">
                <a:spcBef>
                  <a:spcPts val="150"/>
                </a:spcBef>
                <a:spcAft>
                  <a:spcPts val="0"/>
                </a:spcAft>
                <a:buNone/>
              </a:pPr>
              <a:r>
                <a:rPr b="1" lang="en" sz="750">
                  <a:solidFill>
                    <a:srgbClr val="0F172A"/>
                  </a:solidFill>
                  <a:highlight>
                    <a:srgbClr val="F1F5F9"/>
                  </a:highlight>
                  <a:latin typeface="Courier New"/>
                  <a:ea typeface="Courier New"/>
                  <a:cs typeface="Courier New"/>
                  <a:sym typeface="Courier New"/>
                </a:rPr>
                <a:t>{action, action_name,</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confidence, q_values}</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300"/>
                </a:spcBef>
                <a:spcAft>
                  <a:spcPts val="0"/>
                </a:spcAft>
                <a:buNone/>
              </a:pPr>
              <a:r>
                <a:rPr b="1" lang="en" sz="700">
                  <a:solidFill>
                    <a:srgbClr val="0284C7"/>
                  </a:solidFill>
                  <a:latin typeface="Courier New"/>
                  <a:ea typeface="Courier New"/>
                  <a:cs typeface="Courier New"/>
                  <a:sym typeface="Courier New"/>
                </a:rPr>
                <a:t>// 4 separate fields</a:t>
              </a:r>
              <a:endParaRPr b="1" sz="700">
                <a:solidFill>
                  <a:srgbClr val="0284C7"/>
                </a:solidFill>
                <a:latin typeface="Courier New"/>
                <a:ea typeface="Courier New"/>
                <a:cs typeface="Courier New"/>
                <a:sym typeface="Courier New"/>
              </a:endParaRPr>
            </a:p>
          </p:txBody>
        </p:sp>
      </p:grpSp>
      <p:pic>
        <p:nvPicPr>
          <p:cNvPr id="423" name="Google Shape;423;p22"/>
          <p:cNvPicPr preferRelativeResize="0"/>
          <p:nvPr/>
        </p:nvPicPr>
        <p:blipFill rotWithShape="1">
          <a:blip r:embed="rId3">
            <a:alphaModFix/>
          </a:blip>
          <a:srcRect b="0" l="0" r="0" t="0"/>
          <a:stretch/>
        </p:blipFill>
        <p:spPr>
          <a:xfrm>
            <a:off x="6524625" y="1824038"/>
            <a:ext cx="238200" cy="19200"/>
          </a:xfrm>
          <a:prstGeom prst="rect">
            <a:avLst/>
          </a:prstGeom>
          <a:noFill/>
          <a:ln>
            <a:noFill/>
          </a:ln>
        </p:spPr>
      </p:pic>
      <p:sp>
        <p:nvSpPr>
          <p:cNvPr id="424" name="Google Shape;424;p22"/>
          <p:cNvSpPr/>
          <p:nvPr/>
        </p:nvSpPr>
        <p:spPr>
          <a:xfrm>
            <a:off x="6734175" y="1795463"/>
            <a:ext cx="76200" cy="76200"/>
          </a:xfrm>
          <a:custGeom>
            <a:rect b="b" l="l" r="r" t="t"/>
            <a:pathLst>
              <a:path extrusionOk="0" h="120000" w="120000">
                <a:moveTo>
                  <a:pt x="120000" y="60000"/>
                </a:moveTo>
                <a:lnTo>
                  <a:pt x="0" y="0"/>
                </a:lnTo>
                <a:lnTo>
                  <a:pt x="0" y="120000"/>
                </a:lnTo>
                <a:close/>
              </a:path>
            </a:pathLst>
          </a:cu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25" name="Google Shape;425;p22"/>
          <p:cNvGrpSpPr/>
          <p:nvPr/>
        </p:nvGrpSpPr>
        <p:grpSpPr>
          <a:xfrm>
            <a:off x="6810375" y="952500"/>
            <a:ext cx="1857300" cy="1762200"/>
            <a:chOff x="0" y="0"/>
            <a:chExt cx="1857300" cy="1762200"/>
          </a:xfrm>
        </p:grpSpPr>
        <p:sp>
          <p:nvSpPr>
            <p:cNvPr id="426" name="Google Shape;426;p22"/>
            <p:cNvSpPr/>
            <p:nvPr/>
          </p:nvSpPr>
          <p:spPr>
            <a:xfrm>
              <a:off x="0" y="0"/>
              <a:ext cx="1857300" cy="1762200"/>
            </a:xfrm>
            <a:prstGeom prst="roundRect">
              <a:avLst>
                <a:gd fmla="val 21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22"/>
            <p:cNvSpPr/>
            <p:nvPr/>
          </p:nvSpPr>
          <p:spPr>
            <a:xfrm>
              <a:off x="0" y="0"/>
              <a:ext cx="1857300" cy="38100"/>
            </a:xfrm>
            <a:prstGeom prst="roundRect">
              <a:avLst>
                <a:gd fmla="val 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2"/>
            <p:cNvSpPr txBox="1"/>
            <p:nvPr/>
          </p:nvSpPr>
          <p:spPr>
            <a:xfrm>
              <a:off x="95250" y="95250"/>
              <a:ext cx="16668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0369A1"/>
                  </a:solidFill>
                  <a:latin typeface="Inter"/>
                  <a:ea typeface="Inter"/>
                  <a:cs typeface="Inter"/>
                  <a:sym typeface="Inter"/>
                </a:rPr>
                <a:t>4. COGNITIVE SYNTHESIS</a:t>
              </a:r>
              <a:endParaRPr b="1" sz="800">
                <a:solidFill>
                  <a:srgbClr val="0369A1"/>
                </a:solidFill>
                <a:latin typeface="Inter"/>
                <a:ea typeface="Inter"/>
                <a:cs typeface="Inter"/>
                <a:sym typeface="Inter"/>
              </a:endParaRPr>
            </a:p>
            <a:p>
              <a:pPr indent="0" lvl="0" marL="0" rtl="0" algn="l">
                <a:spcBef>
                  <a:spcPts val="300"/>
                </a:spcBef>
                <a:spcAft>
                  <a:spcPts val="0"/>
                </a:spcAft>
                <a:buNone/>
              </a:pPr>
              <a:r>
                <a:rPr b="1" lang="en" sz="1000">
                  <a:solidFill>
                    <a:srgbClr val="0F172A"/>
                  </a:solidFill>
                  <a:latin typeface="Inter"/>
                  <a:ea typeface="Inter"/>
                  <a:cs typeface="Inter"/>
                  <a:sym typeface="Inter"/>
                </a:rPr>
                <a:t>Enriched S3 Data State</a:t>
              </a:r>
              <a:endParaRPr b="1" sz="1000">
                <a:solidFill>
                  <a:srgbClr val="0F172A"/>
                </a:solidFill>
                <a:latin typeface="Inter"/>
                <a:ea typeface="Inter"/>
                <a:cs typeface="Inter"/>
                <a:sym typeface="Inter"/>
              </a:endParaRPr>
            </a:p>
            <a:p>
              <a:pPr indent="0" lvl="0" marL="0" rtl="0" algn="l">
                <a:spcBef>
                  <a:spcPts val="300"/>
                </a:spcBef>
                <a:spcAft>
                  <a:spcPts val="0"/>
                </a:spcAft>
                <a:buNone/>
              </a:pPr>
              <a:r>
                <a:rPr b="0" lang="en" sz="800">
                  <a:solidFill>
                    <a:srgbClr val="475569"/>
                  </a:solidFill>
                  <a:latin typeface="Inter"/>
                  <a:ea typeface="Inter"/>
                  <a:cs typeface="Inter"/>
                  <a:sym typeface="Inter"/>
                </a:rPr>
                <a:t>Lambda joins original event metadata with model outputs and derived security audits.</a:t>
              </a:r>
              <a:endParaRPr b="0" sz="800">
                <a:solidFill>
                  <a:srgbClr val="475569"/>
                </a:solidFill>
                <a:latin typeface="Inter"/>
                <a:ea typeface="Inter"/>
                <a:cs typeface="Inter"/>
                <a:sym typeface="Inter"/>
              </a:endParaRPr>
            </a:p>
            <a:p>
              <a:pPr indent="0" lvl="0" marL="0" rtl="0" algn="l">
                <a:spcBef>
                  <a:spcPts val="600"/>
                </a:spcBef>
                <a:spcAft>
                  <a:spcPts val="0"/>
                </a:spcAft>
                <a:buNone/>
              </a:pPr>
              <a:r>
                <a:rPr b="1" lang="en" sz="700">
                  <a:solidFill>
                    <a:srgbClr val="0284C7"/>
                  </a:solidFill>
                  <a:latin typeface="Courier New"/>
                  <a:ea typeface="Courier New"/>
                  <a:cs typeface="Courier New"/>
                  <a:sym typeface="Courier New"/>
                </a:rPr>
                <a:t>// S3 Output Object</a:t>
              </a:r>
              <a:endParaRPr b="1" sz="700">
                <a:solidFill>
                  <a:srgbClr val="0284C7"/>
                </a:solidFill>
                <a:latin typeface="Courier New"/>
                <a:ea typeface="Courier New"/>
                <a:cs typeface="Courier New"/>
                <a:sym typeface="Courier New"/>
              </a:endParaRPr>
            </a:p>
            <a:p>
              <a:pPr indent="0" lvl="0" marL="0" rtl="0" algn="l">
                <a:spcBef>
                  <a:spcPts val="150"/>
                </a:spcBef>
                <a:spcAft>
                  <a:spcPts val="0"/>
                </a:spcAft>
                <a:buNone/>
              </a:pPr>
              <a:r>
                <a:rPr b="1" lang="en" sz="750">
                  <a:solidFill>
                    <a:srgbClr val="0F172A"/>
                  </a:solidFill>
                  <a:highlight>
                    <a:srgbClr val="F1F5F9"/>
                  </a:highlight>
                  <a:latin typeface="Courier New"/>
                  <a:ea typeface="Courier New"/>
                  <a:cs typeface="Courier New"/>
                  <a:sym typeface="Courier New"/>
                </a:rPr>
                <a:t>10 Original + 8 New</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 18 Enriched Fields</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Written verbatim to S3</a:t>
              </a:r>
              <a:endParaRPr b="1" sz="750">
                <a:solidFill>
                  <a:srgbClr val="0F172A"/>
                </a:solidFill>
                <a:highlight>
                  <a:srgbClr val="F1F5F9"/>
                </a:highlight>
                <a:latin typeface="Courier New"/>
                <a:ea typeface="Courier New"/>
                <a:cs typeface="Courier New"/>
                <a:sym typeface="Courier New"/>
              </a:endParaRPr>
            </a:p>
          </p:txBody>
        </p:sp>
      </p:grpSp>
      <p:pic>
        <p:nvPicPr>
          <p:cNvPr id="429" name="Google Shape;429;p22"/>
          <p:cNvPicPr preferRelativeResize="0"/>
          <p:nvPr/>
        </p:nvPicPr>
        <p:blipFill rotWithShape="1">
          <a:blip r:embed="rId4">
            <a:alphaModFix/>
          </a:blip>
          <a:srcRect b="0" l="0" r="0" t="0"/>
          <a:stretch/>
        </p:blipFill>
        <p:spPr>
          <a:xfrm>
            <a:off x="7729538" y="2714625"/>
            <a:ext cx="19200" cy="238200"/>
          </a:xfrm>
          <a:prstGeom prst="rect">
            <a:avLst/>
          </a:prstGeom>
          <a:noFill/>
          <a:ln>
            <a:noFill/>
          </a:ln>
        </p:spPr>
      </p:pic>
      <p:sp>
        <p:nvSpPr>
          <p:cNvPr id="430" name="Google Shape;430;p22"/>
          <p:cNvSpPr/>
          <p:nvPr/>
        </p:nvSpPr>
        <p:spPr>
          <a:xfrm>
            <a:off x="7700963" y="2924175"/>
            <a:ext cx="76200" cy="76200"/>
          </a:xfrm>
          <a:custGeom>
            <a:rect b="b" l="l" r="r" t="t"/>
            <a:pathLst>
              <a:path extrusionOk="0" h="120000" w="120000">
                <a:moveTo>
                  <a:pt x="60000" y="120000"/>
                </a:moveTo>
                <a:lnTo>
                  <a:pt x="0" y="0"/>
                </a:lnTo>
                <a:lnTo>
                  <a:pt x="120000" y="0"/>
                </a:lnTo>
                <a:close/>
              </a:path>
            </a:pathLst>
          </a:cu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31" name="Google Shape;431;p22"/>
          <p:cNvGrpSpPr/>
          <p:nvPr/>
        </p:nvGrpSpPr>
        <p:grpSpPr>
          <a:xfrm>
            <a:off x="6810375" y="3000375"/>
            <a:ext cx="1857300" cy="1762200"/>
            <a:chOff x="0" y="0"/>
            <a:chExt cx="1857300" cy="1762200"/>
          </a:xfrm>
        </p:grpSpPr>
        <p:sp>
          <p:nvSpPr>
            <p:cNvPr id="432" name="Google Shape;432;p22"/>
            <p:cNvSpPr/>
            <p:nvPr/>
          </p:nvSpPr>
          <p:spPr>
            <a:xfrm>
              <a:off x="0" y="0"/>
              <a:ext cx="1857300" cy="1762200"/>
            </a:xfrm>
            <a:prstGeom prst="roundRect">
              <a:avLst>
                <a:gd fmla="val 21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22"/>
            <p:cNvSpPr/>
            <p:nvPr/>
          </p:nvSpPr>
          <p:spPr>
            <a:xfrm>
              <a:off x="0" y="0"/>
              <a:ext cx="1857300" cy="38100"/>
            </a:xfrm>
            <a:prstGeom prst="roundRect">
              <a:avLst>
                <a:gd fmla="val 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2"/>
            <p:cNvSpPr txBox="1"/>
            <p:nvPr/>
          </p:nvSpPr>
          <p:spPr>
            <a:xfrm>
              <a:off x="95250" y="95250"/>
              <a:ext cx="16668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0369A1"/>
                  </a:solidFill>
                  <a:latin typeface="Inter"/>
                  <a:ea typeface="Inter"/>
                  <a:cs typeface="Inter"/>
                  <a:sym typeface="Inter"/>
                </a:rPr>
                <a:t>5. SHADOW PROPAGATION</a:t>
              </a:r>
              <a:endParaRPr b="1" sz="800">
                <a:solidFill>
                  <a:srgbClr val="0369A1"/>
                </a:solidFill>
                <a:latin typeface="Inter"/>
                <a:ea typeface="Inter"/>
                <a:cs typeface="Inter"/>
                <a:sym typeface="Inter"/>
              </a:endParaRPr>
            </a:p>
            <a:p>
              <a:pPr indent="0" lvl="0" marL="0" rtl="0" algn="l">
                <a:spcBef>
                  <a:spcPts val="300"/>
                </a:spcBef>
                <a:spcAft>
                  <a:spcPts val="0"/>
                </a:spcAft>
                <a:buNone/>
              </a:pPr>
              <a:r>
                <a:rPr b="1" lang="en" sz="1000">
                  <a:solidFill>
                    <a:srgbClr val="0F172A"/>
                  </a:solidFill>
                  <a:latin typeface="Inter"/>
                  <a:ea typeface="Inter"/>
                  <a:cs typeface="Inter"/>
                  <a:sym typeface="Inter"/>
                </a:rPr>
                <a:t>Reported State Envelope</a:t>
              </a:r>
              <a:endParaRPr b="1" sz="1000">
                <a:solidFill>
                  <a:srgbClr val="0F172A"/>
                </a:solidFill>
                <a:latin typeface="Inter"/>
                <a:ea typeface="Inter"/>
                <a:cs typeface="Inter"/>
                <a:sym typeface="Inter"/>
              </a:endParaRPr>
            </a:p>
            <a:p>
              <a:pPr indent="0" lvl="0" marL="0" rtl="0" algn="l">
                <a:spcBef>
                  <a:spcPts val="300"/>
                </a:spcBef>
                <a:spcAft>
                  <a:spcPts val="0"/>
                </a:spcAft>
                <a:buNone/>
              </a:pPr>
              <a:r>
                <a:rPr b="0" lang="en" sz="800">
                  <a:solidFill>
                    <a:srgbClr val="475569"/>
                  </a:solidFill>
                  <a:latin typeface="Inter"/>
                  <a:ea typeface="Inter"/>
                  <a:cs typeface="Inter"/>
                  <a:sym typeface="Inter"/>
                </a:rPr>
                <a:t>Filters out signatures/nonces, injects S3 data pointer. Dispatched to $aws/things shadow envelope.</a:t>
              </a:r>
              <a:endParaRPr b="0" sz="800">
                <a:solidFill>
                  <a:srgbClr val="475569"/>
                </a:solidFill>
                <a:latin typeface="Inter"/>
                <a:ea typeface="Inter"/>
                <a:cs typeface="Inter"/>
                <a:sym typeface="Inter"/>
              </a:endParaRPr>
            </a:p>
            <a:p>
              <a:pPr indent="0" lvl="0" marL="0" rtl="0" algn="l">
                <a:spcBef>
                  <a:spcPts val="600"/>
                </a:spcBef>
                <a:spcAft>
                  <a:spcPts val="0"/>
                </a:spcAft>
                <a:buNone/>
              </a:pPr>
              <a:r>
                <a:rPr b="1" lang="en" sz="700">
                  <a:solidFill>
                    <a:srgbClr val="0284C7"/>
                  </a:solidFill>
                  <a:latin typeface="Courier New"/>
                  <a:ea typeface="Courier New"/>
                  <a:cs typeface="Courier New"/>
                  <a:sym typeface="Courier New"/>
                </a:rPr>
                <a:t>// 14 Fields Reported</a:t>
              </a:r>
              <a:endParaRPr b="1" sz="700">
                <a:solidFill>
                  <a:srgbClr val="0284C7"/>
                </a:solidFill>
                <a:latin typeface="Courier New"/>
                <a:ea typeface="Courier New"/>
                <a:cs typeface="Courier New"/>
                <a:sym typeface="Courier New"/>
              </a:endParaRPr>
            </a:p>
            <a:p>
              <a:pPr indent="0" lvl="0" marL="0" rtl="0" algn="l">
                <a:spcBef>
                  <a:spcPts val="150"/>
                </a:spcBef>
                <a:spcAft>
                  <a:spcPts val="0"/>
                </a:spcAft>
                <a:buNone/>
              </a:pPr>
              <a:r>
                <a:rPr b="1" lang="en" sz="750">
                  <a:solidFill>
                    <a:srgbClr val="0F172A"/>
                  </a:solidFill>
                  <a:highlight>
                    <a:srgbClr val="F1F5F9"/>
                  </a:highlight>
                  <a:latin typeface="Courier New"/>
                  <a:ea typeface="Courier New"/>
                  <a:cs typeface="Courier New"/>
                  <a:sym typeface="Courier New"/>
                </a:rPr>
                <a:t>{reported: {...,</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s3_pointer: "...",</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status: "ACTIVE"}}</a:t>
              </a:r>
              <a:endParaRPr b="1" sz="750">
                <a:solidFill>
                  <a:srgbClr val="0F172A"/>
                </a:solidFill>
                <a:highlight>
                  <a:srgbClr val="F1F5F9"/>
                </a:highlight>
                <a:latin typeface="Courier New"/>
                <a:ea typeface="Courier New"/>
                <a:cs typeface="Courier New"/>
                <a:sym typeface="Courier New"/>
              </a:endParaRPr>
            </a:p>
          </p:txBody>
        </p:sp>
      </p:grpSp>
      <p:pic>
        <p:nvPicPr>
          <p:cNvPr id="435" name="Google Shape;435;p22"/>
          <p:cNvPicPr preferRelativeResize="0"/>
          <p:nvPr/>
        </p:nvPicPr>
        <p:blipFill rotWithShape="1">
          <a:blip r:embed="rId5">
            <a:alphaModFix/>
          </a:blip>
          <a:srcRect b="0" l="0" r="0" t="0"/>
          <a:stretch/>
        </p:blipFill>
        <p:spPr>
          <a:xfrm>
            <a:off x="6572250" y="3871913"/>
            <a:ext cx="238200" cy="19200"/>
          </a:xfrm>
          <a:prstGeom prst="rect">
            <a:avLst/>
          </a:prstGeom>
          <a:noFill/>
          <a:ln>
            <a:noFill/>
          </a:ln>
        </p:spPr>
      </p:pic>
      <p:sp>
        <p:nvSpPr>
          <p:cNvPr id="436" name="Google Shape;436;p22"/>
          <p:cNvSpPr/>
          <p:nvPr/>
        </p:nvSpPr>
        <p:spPr>
          <a:xfrm>
            <a:off x="6524625" y="3843338"/>
            <a:ext cx="76200" cy="76200"/>
          </a:xfrm>
          <a:custGeom>
            <a:rect b="b" l="l" r="r" t="t"/>
            <a:pathLst>
              <a:path extrusionOk="0" h="120000" w="120000">
                <a:moveTo>
                  <a:pt x="0" y="60000"/>
                </a:moveTo>
                <a:lnTo>
                  <a:pt x="120000" y="120000"/>
                </a:lnTo>
                <a:lnTo>
                  <a:pt x="120000" y="0"/>
                </a:lnTo>
                <a:close/>
              </a:path>
            </a:pathLst>
          </a:cu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37" name="Google Shape;437;p22"/>
          <p:cNvGrpSpPr/>
          <p:nvPr/>
        </p:nvGrpSpPr>
        <p:grpSpPr>
          <a:xfrm>
            <a:off x="4667250" y="3000375"/>
            <a:ext cx="1857300" cy="1762200"/>
            <a:chOff x="0" y="0"/>
            <a:chExt cx="1857300" cy="1762200"/>
          </a:xfrm>
        </p:grpSpPr>
        <p:sp>
          <p:nvSpPr>
            <p:cNvPr id="438" name="Google Shape;438;p22"/>
            <p:cNvSpPr/>
            <p:nvPr/>
          </p:nvSpPr>
          <p:spPr>
            <a:xfrm>
              <a:off x="0" y="0"/>
              <a:ext cx="1857300" cy="1762200"/>
            </a:xfrm>
            <a:prstGeom prst="roundRect">
              <a:avLst>
                <a:gd fmla="val 21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22"/>
            <p:cNvSpPr/>
            <p:nvPr/>
          </p:nvSpPr>
          <p:spPr>
            <a:xfrm>
              <a:off x="0" y="0"/>
              <a:ext cx="1857300" cy="38100"/>
            </a:xfrm>
            <a:prstGeom prst="roundRect">
              <a:avLst>
                <a:gd fmla="val 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22"/>
            <p:cNvSpPr txBox="1"/>
            <p:nvPr/>
          </p:nvSpPr>
          <p:spPr>
            <a:xfrm>
              <a:off x="95250" y="95250"/>
              <a:ext cx="16668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0369A1"/>
                  </a:solidFill>
                  <a:latin typeface="Inter"/>
                  <a:ea typeface="Inter"/>
                  <a:cs typeface="Inter"/>
                  <a:sym typeface="Inter"/>
                </a:rPr>
                <a:t>6. CLOSED-LOOP FEEDBACK</a:t>
              </a:r>
              <a:endParaRPr b="1" sz="800">
                <a:solidFill>
                  <a:srgbClr val="0369A1"/>
                </a:solidFill>
                <a:latin typeface="Inter"/>
                <a:ea typeface="Inter"/>
                <a:cs typeface="Inter"/>
                <a:sym typeface="Inter"/>
              </a:endParaRPr>
            </a:p>
            <a:p>
              <a:pPr indent="0" lvl="0" marL="0" rtl="0" algn="l">
                <a:spcBef>
                  <a:spcPts val="300"/>
                </a:spcBef>
                <a:spcAft>
                  <a:spcPts val="0"/>
                </a:spcAft>
                <a:buNone/>
              </a:pPr>
              <a:r>
                <a:rPr b="1" lang="en" sz="1000">
                  <a:solidFill>
                    <a:srgbClr val="0F172A"/>
                  </a:solidFill>
                  <a:latin typeface="Inter"/>
                  <a:ea typeface="Inter"/>
                  <a:cs typeface="Inter"/>
                  <a:sym typeface="Inter"/>
                </a:rPr>
                <a:t>Edge Shadow Delta Action</a:t>
              </a:r>
              <a:endParaRPr b="1" sz="1000">
                <a:solidFill>
                  <a:srgbClr val="0F172A"/>
                </a:solidFill>
                <a:latin typeface="Inter"/>
                <a:ea typeface="Inter"/>
                <a:cs typeface="Inter"/>
                <a:sym typeface="Inter"/>
              </a:endParaRPr>
            </a:p>
            <a:p>
              <a:pPr indent="0" lvl="0" marL="0" rtl="0" algn="l">
                <a:spcBef>
                  <a:spcPts val="300"/>
                </a:spcBef>
                <a:spcAft>
                  <a:spcPts val="0"/>
                </a:spcAft>
                <a:buNone/>
              </a:pPr>
              <a:r>
                <a:rPr b="0" lang="en" sz="800">
                  <a:solidFill>
                    <a:srgbClr val="475569"/>
                  </a:solidFill>
                  <a:latin typeface="Inter"/>
                  <a:ea typeface="Inter"/>
                  <a:cs typeface="Inter"/>
                  <a:sym typeface="Inter"/>
                </a:rPr>
                <a:t>Edge handles shadow updates, extracts state.reported payload, and saves the system control action locally.</a:t>
              </a:r>
              <a:endParaRPr b="0" sz="800">
                <a:solidFill>
                  <a:srgbClr val="475569"/>
                </a:solidFill>
                <a:latin typeface="Inter"/>
                <a:ea typeface="Inter"/>
                <a:cs typeface="Inter"/>
                <a:sym typeface="Inter"/>
              </a:endParaRPr>
            </a:p>
            <a:p>
              <a:pPr indent="0" lvl="0" marL="0" rtl="0" algn="l">
                <a:spcBef>
                  <a:spcPts val="600"/>
                </a:spcBef>
                <a:spcAft>
                  <a:spcPts val="0"/>
                </a:spcAft>
                <a:buNone/>
              </a:pPr>
              <a:r>
                <a:rPr b="1" lang="en" sz="700">
                  <a:solidFill>
                    <a:srgbClr val="0284C7"/>
                  </a:solidFill>
                  <a:latin typeface="Courier New"/>
                  <a:ea typeface="Courier New"/>
                  <a:cs typeface="Courier New"/>
                  <a:sym typeface="Courier New"/>
                </a:rPr>
                <a:t>// Local Execution</a:t>
              </a:r>
              <a:endParaRPr b="1" sz="700">
                <a:solidFill>
                  <a:srgbClr val="0284C7"/>
                </a:solidFill>
                <a:latin typeface="Courier New"/>
                <a:ea typeface="Courier New"/>
                <a:cs typeface="Courier New"/>
                <a:sym typeface="Courier New"/>
              </a:endParaRPr>
            </a:p>
            <a:p>
              <a:pPr indent="0" lvl="0" marL="0" rtl="0" algn="l">
                <a:spcBef>
                  <a:spcPts val="150"/>
                </a:spcBef>
                <a:spcAft>
                  <a:spcPts val="0"/>
                </a:spcAft>
                <a:buNone/>
              </a:pPr>
              <a:r>
                <a:rPr b="1" lang="en" sz="750">
                  <a:solidFill>
                    <a:srgbClr val="0F172A"/>
                  </a:solidFill>
                  <a:highlight>
                    <a:srgbClr val="F1F5F9"/>
                  </a:highlight>
                  <a:latin typeface="Courier New"/>
                  <a:ea typeface="Courier New"/>
                  <a:cs typeface="Courier New"/>
                  <a:sym typeface="Courier New"/>
                </a:rPr>
                <a:t>on_shadow_delta()</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Unwrap state.reported</a:t>
              </a:r>
              <a:endParaRPr b="1" sz="750">
                <a:solidFill>
                  <a:srgbClr val="0F172A"/>
                </a:solidFill>
                <a:highlight>
                  <a:srgbClr val="F1F5F9"/>
                </a:highlight>
                <a:latin typeface="Courier New"/>
                <a:ea typeface="Courier New"/>
                <a:cs typeface="Courier New"/>
                <a:sym typeface="Courier New"/>
              </a:endParaRPr>
            </a:p>
            <a:p>
              <a:pPr indent="0" lvl="0" marL="0" rtl="0" algn="l">
                <a:spcBef>
                  <a:spcPts val="0"/>
                </a:spcBef>
                <a:spcAft>
                  <a:spcPts val="0"/>
                </a:spcAft>
                <a:buNone/>
              </a:pPr>
              <a:r>
                <a:rPr b="1" lang="en" sz="750">
                  <a:solidFill>
                    <a:srgbClr val="0F172A"/>
                  </a:solidFill>
                  <a:highlight>
                    <a:srgbClr val="F1F5F9"/>
                  </a:highlight>
                  <a:latin typeface="Courier New"/>
                  <a:ea typeface="Courier New"/>
                  <a:cs typeface="Courier New"/>
                  <a:sym typeface="Courier New"/>
                </a:rPr>
                <a:t>Execute GRID_STABILIZE</a:t>
              </a:r>
              <a:endParaRPr b="1" sz="750">
                <a:solidFill>
                  <a:srgbClr val="0F172A"/>
                </a:solidFill>
                <a:highlight>
                  <a:srgbClr val="F1F5F9"/>
                </a:highlight>
                <a:latin typeface="Courier New"/>
                <a:ea typeface="Courier New"/>
                <a:cs typeface="Courier New"/>
                <a:sym typeface="Courier New"/>
              </a:endParaRPr>
            </a:p>
          </p:txBody>
        </p:sp>
      </p:grpSp>
      <p:sp>
        <p:nvSpPr>
          <p:cNvPr id="441" name="Google Shape;441;p22"/>
          <p:cNvSpPr/>
          <p:nvPr/>
        </p:nvSpPr>
        <p:spPr>
          <a:xfrm>
            <a:off x="381000" y="3000375"/>
            <a:ext cx="4000500" cy="1762200"/>
          </a:xfrm>
          <a:prstGeom prst="roundRect">
            <a:avLst>
              <a:gd fmla="val 21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22"/>
          <p:cNvSpPr/>
          <p:nvPr/>
        </p:nvSpPr>
        <p:spPr>
          <a:xfrm>
            <a:off x="381000" y="3000375"/>
            <a:ext cx="40005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22"/>
          <p:cNvSpPr txBox="1"/>
          <p:nvPr/>
        </p:nvSpPr>
        <p:spPr>
          <a:xfrm>
            <a:off x="571500" y="3143250"/>
            <a:ext cx="3619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0369A1"/>
                </a:solidFill>
                <a:latin typeface="Inter"/>
                <a:ea typeface="Inter"/>
                <a:cs typeface="Inter"/>
                <a:sym typeface="Inter"/>
              </a:rPr>
              <a:t>SYSTEM DESIGN RATIONALE</a:t>
            </a:r>
            <a:endParaRPr b="1" sz="800">
              <a:solidFill>
                <a:srgbClr val="0369A1"/>
              </a:solidFill>
              <a:latin typeface="Inter"/>
              <a:ea typeface="Inter"/>
              <a:cs typeface="Inter"/>
              <a:sym typeface="Inter"/>
            </a:endParaRPr>
          </a:p>
          <a:p>
            <a:pPr indent="0" lvl="0" marL="0" rtl="0" algn="l">
              <a:spcBef>
                <a:spcPts val="300"/>
              </a:spcBef>
              <a:spcAft>
                <a:spcPts val="0"/>
              </a:spcAft>
              <a:buNone/>
            </a:pPr>
            <a:r>
              <a:rPr b="1" lang="en" sz="1000">
                <a:solidFill>
                  <a:srgbClr val="0F172A"/>
                </a:solidFill>
                <a:latin typeface="Inter"/>
                <a:ea typeface="Inter"/>
                <a:cs typeface="Inter"/>
                <a:sym typeface="Inter"/>
              </a:rPr>
              <a:t>Security Gates &amp; Mutation Controls</a:t>
            </a:r>
            <a:endParaRPr b="1" sz="1000">
              <a:solidFill>
                <a:srgbClr val="0F172A"/>
              </a:solidFill>
              <a:latin typeface="Inter"/>
              <a:ea typeface="Inter"/>
              <a:cs typeface="Inter"/>
              <a:sym typeface="Inter"/>
            </a:endParaRPr>
          </a:p>
          <a:p>
            <a:pPr indent="0" lvl="0" marL="0" rtl="0" algn="l">
              <a:spcBef>
                <a:spcPts val="450"/>
              </a:spcBef>
              <a:spcAft>
                <a:spcPts val="0"/>
              </a:spcAft>
              <a:buNone/>
            </a:pPr>
            <a:r>
              <a:rPr b="0" lang="en" sz="800">
                <a:solidFill>
                  <a:srgbClr val="475569"/>
                </a:solidFill>
                <a:latin typeface="Inter"/>
                <a:ea typeface="Inter"/>
                <a:cs typeface="Inter"/>
                <a:sym typeface="Inter"/>
              </a:rPr>
              <a:t>• </a:t>
            </a:r>
            <a:r>
              <a:rPr b="0" lang="en" sz="800">
                <a:solidFill>
                  <a:srgbClr val="0F172A"/>
                </a:solidFill>
                <a:latin typeface="Inter SemiBold"/>
                <a:ea typeface="Inter SemiBold"/>
                <a:cs typeface="Inter SemiBold"/>
                <a:sym typeface="Inter SemiBold"/>
              </a:rPr>
              <a:t>Data Mutation:</a:t>
            </a:r>
            <a:r>
              <a:rPr b="0" lang="en" sz="800">
                <a:solidFill>
                  <a:srgbClr val="475569"/>
                </a:solidFill>
                <a:latin typeface="Inter"/>
                <a:ea typeface="Inter"/>
                <a:cs typeface="Inter"/>
                <a:sym typeface="Inter"/>
              </a:rPr>
              <a:t> Telemetry morphs from raw physical readings (7 fields) to transmission payload (10 fields), and finally aggregates into rich cloud logs (18 fields) to scale the network footprint only where needed.</a:t>
            </a:r>
            <a:endParaRPr b="0" sz="800">
              <a:solidFill>
                <a:srgbClr val="475569"/>
              </a:solidFill>
              <a:latin typeface="Inter"/>
              <a:ea typeface="Inter"/>
              <a:cs typeface="Inter"/>
              <a:sym typeface="Inter"/>
            </a:endParaRPr>
          </a:p>
          <a:p>
            <a:pPr indent="0" lvl="0" marL="0" rtl="0" algn="l">
              <a:spcBef>
                <a:spcPts val="600"/>
              </a:spcBef>
              <a:spcAft>
                <a:spcPts val="600"/>
              </a:spcAft>
              <a:buNone/>
            </a:pPr>
            <a:r>
              <a:rPr b="0" lang="en" sz="800">
                <a:solidFill>
                  <a:srgbClr val="475569"/>
                </a:solidFill>
                <a:latin typeface="Inter"/>
                <a:ea typeface="Inter"/>
                <a:cs typeface="Inter"/>
                <a:sym typeface="Inter"/>
              </a:rPr>
              <a:t>• </a:t>
            </a:r>
            <a:r>
              <a:rPr b="0" lang="en" sz="800">
                <a:solidFill>
                  <a:srgbClr val="0F172A"/>
                </a:solidFill>
                <a:latin typeface="Inter SemiBold"/>
                <a:ea typeface="Inter SemiBold"/>
                <a:cs typeface="Inter SemiBold"/>
                <a:sym typeface="Inter SemiBold"/>
              </a:rPr>
              <a:t>Network Minimization:</a:t>
            </a:r>
            <a:r>
              <a:rPr b="0" lang="en" sz="800">
                <a:solidFill>
                  <a:srgbClr val="475569"/>
                </a:solidFill>
                <a:latin typeface="Inter"/>
                <a:ea typeface="Inter"/>
                <a:cs typeface="Inter"/>
                <a:sym typeface="Inter"/>
              </a:rPr>
              <a:t> Device shadow envelopes bypass heavy telemetry signatures (seq, nonce, sig) to save cellular billing costs while retaining complete traceability via S3 storage pointers.</a:t>
            </a:r>
            <a:endParaRPr b="0" sz="800">
              <a:solidFill>
                <a:srgbClr val="475569"/>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3"/>
          <p:cNvSpPr txBox="1"/>
          <p:nvPr/>
        </p:nvSpPr>
        <p:spPr>
          <a:xfrm>
            <a:off x="381000" y="381000"/>
            <a:ext cx="7620000" cy="762000"/>
          </a:xfrm>
          <a:prstGeom prst="rect">
            <a:avLst/>
          </a:prstGeom>
          <a:noFill/>
          <a:ln>
            <a:noFill/>
          </a:ln>
        </p:spPr>
        <p:txBody>
          <a:bodyPr anchorCtr="0" anchor="t" bIns="0" lIns="0" spcFirstLastPara="1" rIns="0" wrap="square" tIns="0">
            <a:noAutofit/>
          </a:bodyPr>
          <a:lstStyle/>
          <a:p>
            <a:pPr indent="-368300" lvl="0" marL="457200" rtl="0" algn="l">
              <a:spcBef>
                <a:spcPts val="0"/>
              </a:spcBef>
              <a:spcAft>
                <a:spcPts val="0"/>
              </a:spcAft>
              <a:buClr>
                <a:srgbClr val="0F172A"/>
              </a:buClr>
              <a:buSzPts val="2200"/>
              <a:buFont typeface="Inter"/>
              <a:buAutoNum type="arabicPeriod"/>
            </a:pPr>
            <a:r>
              <a:rPr b="1" lang="en" sz="2200">
                <a:solidFill>
                  <a:srgbClr val="0F172A"/>
                </a:solidFill>
                <a:latin typeface="Inter"/>
                <a:ea typeface="Inter"/>
                <a:cs typeface="Inter"/>
                <a:sym typeface="Inter"/>
              </a:rPr>
              <a:t>Raw Reading (data_generator.py)</a:t>
            </a:r>
            <a:endParaRPr b="1" sz="2200">
              <a:solidFill>
                <a:srgbClr val="0F172A"/>
              </a:solidFill>
              <a:latin typeface="Inter"/>
              <a:ea typeface="Inter"/>
              <a:cs typeface="Inter"/>
              <a:sym typeface="Inter"/>
            </a:endParaRPr>
          </a:p>
          <a:p>
            <a:pPr indent="0" lvl="0" marL="0" rtl="0" algn="l">
              <a:spcBef>
                <a:spcPts val="450"/>
              </a:spcBef>
              <a:spcAft>
                <a:spcPts val="0"/>
              </a:spcAft>
              <a:buNone/>
            </a:pPr>
            <a:r>
              <a:rPr b="0" lang="en" sz="1150">
                <a:solidFill>
                  <a:srgbClr val="475569"/>
                </a:solidFill>
                <a:latin typeface="Inter"/>
                <a:ea typeface="Inter"/>
                <a:cs typeface="Inter"/>
                <a:sym typeface="Inter"/>
              </a:rPr>
              <a:t>Voltage is already outside the 400–430V normal band — this is what a real sag looks like before anything downstream has decided that yet.</a:t>
            </a:r>
            <a:endParaRPr b="0" sz="1150">
              <a:solidFill>
                <a:srgbClr val="475569"/>
              </a:solidFill>
              <a:latin typeface="Inter"/>
              <a:ea typeface="Inter"/>
              <a:cs typeface="Inter"/>
              <a:sym typeface="Inter"/>
            </a:endParaRPr>
          </a:p>
        </p:txBody>
      </p:sp>
      <p:grpSp>
        <p:nvGrpSpPr>
          <p:cNvPr id="449" name="Google Shape;449;p23"/>
          <p:cNvGrpSpPr/>
          <p:nvPr/>
        </p:nvGrpSpPr>
        <p:grpSpPr>
          <a:xfrm>
            <a:off x="381000" y="1333500"/>
            <a:ext cx="3905400" cy="3238500"/>
            <a:chOff x="0" y="0"/>
            <a:chExt cx="3905400" cy="3238500"/>
          </a:xfrm>
        </p:grpSpPr>
        <p:sp>
          <p:nvSpPr>
            <p:cNvPr id="450" name="Google Shape;450;p23"/>
            <p:cNvSpPr/>
            <p:nvPr/>
          </p:nvSpPr>
          <p:spPr>
            <a:xfrm>
              <a:off x="0" y="0"/>
              <a:ext cx="39054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23"/>
            <p:cNvSpPr txBox="1"/>
            <p:nvPr/>
          </p:nvSpPr>
          <p:spPr>
            <a:xfrm>
              <a:off x="190500" y="190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284C7"/>
                  </a:solidFill>
                  <a:latin typeface="Inter"/>
                  <a:ea typeface="Inter"/>
                  <a:cs typeface="Inter"/>
                  <a:sym typeface="Inter"/>
                </a:rPr>
                <a:t>Edge Anomaly Profile</a:t>
              </a:r>
              <a:endParaRPr b="1" sz="850">
                <a:solidFill>
                  <a:srgbClr val="0284C7"/>
                </a:solidFill>
                <a:latin typeface="Inter"/>
                <a:ea typeface="Inter"/>
                <a:cs typeface="Inter"/>
                <a:sym typeface="Inter"/>
              </a:endParaRPr>
            </a:p>
            <a:p>
              <a:pPr indent="0" lvl="0" marL="0" rtl="0" algn="l">
                <a:spcBef>
                  <a:spcPts val="600"/>
                </a:spcBef>
                <a:spcAft>
                  <a:spcPts val="0"/>
                </a:spcAft>
                <a:buNone/>
              </a:pPr>
              <a:r>
                <a:rPr b="1" lang="en" sz="1600">
                  <a:solidFill>
                    <a:srgbClr val="0F172A"/>
                  </a:solidFill>
                  <a:latin typeface="Inter"/>
                  <a:ea typeface="Inter"/>
                  <a:cs typeface="Inter"/>
                  <a:sym typeface="Inter"/>
                </a:rPr>
                <a:t>Anatomy of a Grid Sag</a:t>
              </a:r>
              <a:endParaRPr b="1" sz="1600">
                <a:solidFill>
                  <a:srgbClr val="0F172A"/>
                </a:solidFill>
                <a:latin typeface="Inter"/>
                <a:ea typeface="Inter"/>
                <a:cs typeface="Inter"/>
                <a:sym typeface="Inter"/>
              </a:endParaRPr>
            </a:p>
            <a:p>
              <a:pPr indent="0" lvl="0" marL="0" rtl="0" algn="l">
                <a:spcBef>
                  <a:spcPts val="900"/>
                </a:spcBef>
                <a:spcAft>
                  <a:spcPts val="0"/>
                </a:spcAft>
                <a:buNone/>
              </a:pPr>
              <a:r>
                <a:rPr b="0" lang="en" sz="1100">
                  <a:solidFill>
                    <a:srgbClr val="475569"/>
                  </a:solidFill>
                  <a:latin typeface="Inter"/>
                  <a:ea typeface="Inter"/>
                  <a:cs typeface="Inter"/>
                  <a:sym typeface="Inter"/>
                </a:rPr>
                <a:t>This raw dataset captures the physical state of the grid at the exact instant of the drop. No cloud intelligence or local relays have reacted yet—this is the pure physical reality of the event.</a:t>
              </a:r>
              <a:endParaRPr b="0" sz="1100">
                <a:solidFill>
                  <a:srgbClr val="475569"/>
                </a:solidFill>
                <a:latin typeface="Inter"/>
                <a:ea typeface="Inter"/>
                <a:cs typeface="Inter"/>
                <a:sym typeface="Inter"/>
              </a:endParaRPr>
            </a:p>
            <a:p>
              <a:pPr indent="0" lvl="0" marL="0" rtl="0" algn="l">
                <a:spcBef>
                  <a:spcPts val="1800"/>
                </a:spcBef>
                <a:spcAft>
                  <a:spcPts val="0"/>
                </a:spcAft>
                <a:buNone/>
              </a:pPr>
              <a:r>
                <a:rPr b="0" lang="en" sz="900">
                  <a:solidFill>
                    <a:srgbClr val="64748B"/>
                  </a:solidFill>
                  <a:latin typeface="Inter SemiBold"/>
                  <a:ea typeface="Inter SemiBold"/>
                  <a:cs typeface="Inter SemiBold"/>
                  <a:sym typeface="Inter SemiBold"/>
                </a:rPr>
                <a:t>NORMAL OPERATING BAND</a:t>
              </a:r>
              <a:endParaRPr b="0" sz="900">
                <a:solidFill>
                  <a:srgbClr val="64748B"/>
                </a:solidFill>
                <a:latin typeface="Inter SemiBold"/>
                <a:ea typeface="Inter SemiBold"/>
                <a:cs typeface="Inter SemiBold"/>
                <a:sym typeface="Inter SemiBold"/>
              </a:endParaRPr>
            </a:p>
            <a:p>
              <a:pPr indent="0" lvl="0" marL="0" rtl="0" algn="l">
                <a:spcBef>
                  <a:spcPts val="150"/>
                </a:spcBef>
                <a:spcAft>
                  <a:spcPts val="0"/>
                </a:spcAft>
                <a:buNone/>
              </a:pPr>
              <a:r>
                <a:rPr b="1" lang="en" sz="1400">
                  <a:solidFill>
                    <a:srgbClr val="10B981"/>
                  </a:solidFill>
                  <a:latin typeface="Inter"/>
                  <a:ea typeface="Inter"/>
                  <a:cs typeface="Inter"/>
                  <a:sym typeface="Inter"/>
                </a:rPr>
                <a:t>400V – 430V</a:t>
              </a:r>
              <a:endParaRPr b="1" sz="1400">
                <a:solidFill>
                  <a:srgbClr val="10B981"/>
                </a:solidFill>
                <a:latin typeface="Inter"/>
                <a:ea typeface="Inter"/>
                <a:cs typeface="Inter"/>
                <a:sym typeface="Inter"/>
              </a:endParaRPr>
            </a:p>
            <a:p>
              <a:pPr indent="0" lvl="0" marL="0" rtl="0" algn="l">
                <a:spcBef>
                  <a:spcPts val="1200"/>
                </a:spcBef>
                <a:spcAft>
                  <a:spcPts val="0"/>
                </a:spcAft>
                <a:buNone/>
              </a:pPr>
              <a:r>
                <a:rPr b="0" lang="en" sz="900">
                  <a:solidFill>
                    <a:srgbClr val="64748B"/>
                  </a:solidFill>
                  <a:latin typeface="Inter SemiBold"/>
                  <a:ea typeface="Inter SemiBold"/>
                  <a:cs typeface="Inter SemiBold"/>
                  <a:sym typeface="Inter SemiBold"/>
                </a:rPr>
                <a:t>RAW PHYSICAL READING</a:t>
              </a:r>
              <a:endParaRPr b="0" sz="900">
                <a:solidFill>
                  <a:srgbClr val="64748B"/>
                </a:solidFill>
                <a:latin typeface="Inter SemiBold"/>
                <a:ea typeface="Inter SemiBold"/>
                <a:cs typeface="Inter SemiBold"/>
                <a:sym typeface="Inter SemiBold"/>
              </a:endParaRPr>
            </a:p>
            <a:p>
              <a:pPr indent="0" lvl="0" marL="0" rtl="0" algn="l">
                <a:spcBef>
                  <a:spcPts val="150"/>
                </a:spcBef>
                <a:spcAft>
                  <a:spcPts val="0"/>
                </a:spcAft>
                <a:buNone/>
              </a:pPr>
              <a:r>
                <a:rPr b="1" lang="en" sz="1400">
                  <a:solidFill>
                    <a:srgbClr val="EF4444"/>
                  </a:solidFill>
                  <a:latin typeface="Inter"/>
                  <a:ea typeface="Inter"/>
                  <a:cs typeface="Inter"/>
                  <a:sym typeface="Inter"/>
                </a:rPr>
                <a:t>362.4V </a:t>
              </a:r>
              <a:r>
                <a:rPr b="0" lang="en" sz="1000">
                  <a:solidFill>
                    <a:srgbClr val="64748B"/>
                  </a:solidFill>
                  <a:latin typeface="Inter"/>
                  <a:ea typeface="Inter"/>
                  <a:cs typeface="Inter"/>
                  <a:sym typeface="Inter"/>
                </a:rPr>
                <a:t>(-11.6% Deviation)</a:t>
              </a:r>
              <a:endParaRPr b="1" sz="1400">
                <a:solidFill>
                  <a:srgbClr val="EF4444"/>
                </a:solidFill>
                <a:latin typeface="Inter"/>
                <a:ea typeface="Inter"/>
                <a:cs typeface="Inter"/>
                <a:sym typeface="Inter"/>
              </a:endParaRPr>
            </a:p>
          </p:txBody>
        </p:sp>
      </p:grpSp>
      <p:grpSp>
        <p:nvGrpSpPr>
          <p:cNvPr id="452" name="Google Shape;452;p23"/>
          <p:cNvGrpSpPr/>
          <p:nvPr/>
        </p:nvGrpSpPr>
        <p:grpSpPr>
          <a:xfrm>
            <a:off x="4572000" y="1333500"/>
            <a:ext cx="4191000" cy="3238500"/>
            <a:chOff x="0" y="0"/>
            <a:chExt cx="4191000" cy="3238500"/>
          </a:xfrm>
        </p:grpSpPr>
        <p:sp>
          <p:nvSpPr>
            <p:cNvPr id="453" name="Google Shape;453;p23"/>
            <p:cNvSpPr/>
            <p:nvPr/>
          </p:nvSpPr>
          <p:spPr>
            <a:xfrm>
              <a:off x="0" y="0"/>
              <a:ext cx="4191000" cy="3238500"/>
            </a:xfrm>
            <a:prstGeom prst="roundRect">
              <a:avLst>
                <a:gd fmla="val 235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3"/>
            <p:cNvSpPr/>
            <p:nvPr/>
          </p:nvSpPr>
          <p:spPr>
            <a:xfrm>
              <a:off x="0" y="0"/>
              <a:ext cx="4191000" cy="381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23"/>
            <p:cNvSpPr txBox="1"/>
            <p:nvPr/>
          </p:nvSpPr>
          <p:spPr>
            <a:xfrm>
              <a:off x="0" y="38100"/>
              <a:ext cx="4191000" cy="3200400"/>
            </a:xfrm>
            <a:prstGeom prst="rect">
              <a:avLst/>
            </a:prstGeom>
            <a:noFill/>
            <a:ln>
              <a:noFill/>
            </a:ln>
          </p:spPr>
          <p:txBody>
            <a:bodyPr anchorCtr="0" anchor="ctr" bIns="228600" lIns="228600" spcFirstLastPara="1" rIns="228600" wrap="square" tIns="228600">
              <a:noAutofit/>
            </a:bodyPr>
            <a:lstStyle/>
            <a:p>
              <a:pPr indent="0" lvl="0" marL="0" rtl="0" algn="l">
                <a:spcBef>
                  <a:spcPts val="0"/>
                </a:spcBef>
                <a:spcAft>
                  <a:spcPts val="0"/>
                </a:spcAft>
                <a:buNone/>
              </a:pPr>
              <a:r>
                <a:rPr b="1" lang="en" sz="1250">
                  <a:solidFill>
                    <a:srgbClr val="38BDF8"/>
                  </a:solidFill>
                  <a:latin typeface="Courier New"/>
                  <a:ea typeface="Courier New"/>
                  <a:cs typeface="Courier New"/>
                  <a:sym typeface="Courier New"/>
                </a:rPr>
                <a:t>// data_generator.py raw payload</a:t>
              </a:r>
              <a:endParaRPr b="1" sz="1250">
                <a:solidFill>
                  <a:srgbClr val="38BDF8"/>
                </a:solidFill>
                <a:latin typeface="Courier New"/>
                <a:ea typeface="Courier New"/>
                <a:cs typeface="Courier New"/>
                <a:sym typeface="Courier New"/>
              </a:endParaRPr>
            </a:p>
            <a:p>
              <a:pPr indent="0" lvl="0" marL="0" rtl="0" algn="l">
                <a:spcBef>
                  <a:spcPts val="1200"/>
                </a:spcBef>
                <a:spcAft>
                  <a:spcPts val="0"/>
                </a:spcAft>
                <a:buNone/>
              </a:pPr>
              <a:r>
                <a:rPr lang="en" sz="1250">
                  <a:solidFill>
                    <a:srgbClr val="FFFFFF"/>
                  </a:solidFill>
                  <a:latin typeface="Courier New"/>
                  <a:ea typeface="Courier New"/>
                  <a:cs typeface="Courier New"/>
                  <a:sym typeface="Courier New"/>
                </a:rPr>
                <a:t>{</a:t>
              </a:r>
              <a:endParaRPr sz="125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F472B6"/>
                  </a:solidFill>
                  <a:latin typeface="Courier New"/>
                  <a:ea typeface="Courier New"/>
                  <a:cs typeface="Courier New"/>
                  <a:sym typeface="Courier New"/>
                </a:rPr>
                <a:t>"device_id"</a:t>
              </a:r>
              <a:r>
                <a:rPr lang="en" sz="1250">
                  <a:solidFill>
                    <a:srgbClr val="94A3B8"/>
                  </a:solidFill>
                  <a:latin typeface="Courier New"/>
                  <a:ea typeface="Courier New"/>
                  <a:cs typeface="Courier New"/>
                  <a:sym typeface="Courier New"/>
                </a:rPr>
                <a:t>: </a:t>
              </a:r>
              <a:r>
                <a:rPr lang="en" sz="1250">
                  <a:solidFill>
                    <a:srgbClr val="4ADE80"/>
                  </a:solidFill>
                  <a:latin typeface="Courier New"/>
                  <a:ea typeface="Courier New"/>
                  <a:cs typeface="Courier New"/>
                  <a:sym typeface="Courier New"/>
                </a:rPr>
                <a:t>"edge-device-002"</a:t>
              </a:r>
              <a:r>
                <a:rPr lang="en" sz="1250">
                  <a:solidFill>
                    <a:srgbClr val="94A3B8"/>
                  </a:solidFill>
                  <a:latin typeface="Courier New"/>
                  <a:ea typeface="Courier New"/>
                  <a:cs typeface="Courier New"/>
                  <a:sym typeface="Courier New"/>
                </a:rPr>
                <a:t>,</a:t>
              </a:r>
              <a:endParaRPr sz="1250">
                <a:solidFill>
                  <a:srgbClr val="94A3B8"/>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F472B6"/>
                  </a:solidFill>
                  <a:latin typeface="Courier New"/>
                  <a:ea typeface="Courier New"/>
                  <a:cs typeface="Courier New"/>
                  <a:sym typeface="Courier New"/>
                </a:rPr>
                <a:t>"timestamp"</a:t>
              </a:r>
              <a:r>
                <a:rPr lang="en" sz="1250">
                  <a:solidFill>
                    <a:srgbClr val="94A3B8"/>
                  </a:solidFill>
                  <a:latin typeface="Courier New"/>
                  <a:ea typeface="Courier New"/>
                  <a:cs typeface="Courier New"/>
                  <a:sym typeface="Courier New"/>
                </a:rPr>
                <a:t>: </a:t>
              </a:r>
              <a:r>
                <a:rPr lang="en" sz="1250">
                  <a:solidFill>
                    <a:srgbClr val="4ADE80"/>
                  </a:solidFill>
                  <a:latin typeface="Courier New"/>
                  <a:ea typeface="Courier New"/>
                  <a:cs typeface="Courier New"/>
                  <a:sym typeface="Courier New"/>
                </a:rPr>
                <a:t>"2026-08-10T14:32:07Z"</a:t>
              </a:r>
              <a:r>
                <a:rPr lang="en" sz="1250">
                  <a:solidFill>
                    <a:srgbClr val="94A3B8"/>
                  </a:solidFill>
                  <a:latin typeface="Courier New"/>
                  <a:ea typeface="Courier New"/>
                  <a:cs typeface="Courier New"/>
                  <a:sym typeface="Courier New"/>
                </a:rPr>
                <a:t>,</a:t>
              </a:r>
              <a:endParaRPr sz="1250">
                <a:solidFill>
                  <a:srgbClr val="94A3B8"/>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F472B6"/>
                  </a:solidFill>
                  <a:latin typeface="Courier New"/>
                  <a:ea typeface="Courier New"/>
                  <a:cs typeface="Courier New"/>
                  <a:sym typeface="Courier New"/>
                </a:rPr>
                <a:t>"voltage_v"</a:t>
              </a:r>
              <a:r>
                <a:rPr lang="en" sz="1250">
                  <a:solidFill>
                    <a:srgbClr val="94A3B8"/>
                  </a:solidFill>
                  <a:highlight>
                    <a:srgbClr val="EF4444"/>
                  </a:highlight>
                  <a:latin typeface="Courier New"/>
                  <a:ea typeface="Courier New"/>
                  <a:cs typeface="Courier New"/>
                  <a:sym typeface="Courier New"/>
                </a:rPr>
                <a:t>: </a:t>
              </a:r>
              <a:r>
                <a:rPr b="1" lang="en" sz="1250">
                  <a:solidFill>
                    <a:srgbClr val="F87171"/>
                  </a:solidFill>
                  <a:latin typeface="Courier New"/>
                  <a:ea typeface="Courier New"/>
                  <a:cs typeface="Courier New"/>
                  <a:sym typeface="Courier New"/>
                </a:rPr>
                <a:t>362.4</a:t>
              </a:r>
              <a:r>
                <a:rPr lang="en" sz="1250">
                  <a:solidFill>
                    <a:srgbClr val="94A3B8"/>
                  </a:solidFill>
                  <a:highlight>
                    <a:srgbClr val="EF4444"/>
                  </a:highlight>
                  <a:latin typeface="Courier New"/>
                  <a:ea typeface="Courier New"/>
                  <a:cs typeface="Courier New"/>
                  <a:sym typeface="Courier New"/>
                </a:rPr>
                <a:t>, </a:t>
              </a:r>
              <a:r>
                <a:rPr b="1" lang="en" sz="1250">
                  <a:solidFill>
                    <a:srgbClr val="EF4444"/>
                  </a:solidFill>
                  <a:latin typeface="Courier New"/>
                  <a:ea typeface="Courier New"/>
                  <a:cs typeface="Courier New"/>
                  <a:sym typeface="Courier New"/>
                </a:rPr>
                <a:t>// CRITICAL SAG</a:t>
              </a:r>
              <a:endParaRPr sz="1250">
                <a:solidFill>
                  <a:srgbClr val="94A3B8"/>
                </a:solidFill>
                <a:highlight>
                  <a:srgbClr val="EF4444"/>
                </a:highlight>
                <a:latin typeface="Courier New"/>
                <a:ea typeface="Courier New"/>
                <a:cs typeface="Courier New"/>
                <a:sym typeface="Courier New"/>
              </a:endParaRPr>
            </a:p>
            <a:p>
              <a:pPr indent="0" lvl="0" marL="0" rtl="0" algn="l">
                <a:spcBef>
                  <a:spcPts val="0"/>
                </a:spcBef>
                <a:spcAft>
                  <a:spcPts val="0"/>
                </a:spcAft>
                <a:buNone/>
              </a:pPr>
              <a:r>
                <a:rPr lang="en" sz="1250">
                  <a:solidFill>
                    <a:srgbClr val="F472B6"/>
                  </a:solidFill>
                  <a:latin typeface="Courier New"/>
                  <a:ea typeface="Courier New"/>
                  <a:cs typeface="Courier New"/>
                  <a:sym typeface="Courier New"/>
                </a:rPr>
                <a:t>"current_a"</a:t>
              </a:r>
              <a:r>
                <a:rPr lang="en" sz="1250">
                  <a:solidFill>
                    <a:srgbClr val="94A3B8"/>
                  </a:solidFill>
                  <a:latin typeface="Courier New"/>
                  <a:ea typeface="Courier New"/>
                  <a:cs typeface="Courier New"/>
                  <a:sym typeface="Courier New"/>
                </a:rPr>
                <a:t>: </a:t>
              </a:r>
              <a:r>
                <a:rPr lang="en" sz="1250">
                  <a:solidFill>
                    <a:srgbClr val="FB923C"/>
                  </a:solidFill>
                  <a:latin typeface="Courier New"/>
                  <a:ea typeface="Courier New"/>
                  <a:cs typeface="Courier New"/>
                  <a:sym typeface="Courier New"/>
                </a:rPr>
                <a:t>78.6</a:t>
              </a:r>
              <a:r>
                <a:rPr lang="en" sz="1250">
                  <a:solidFill>
                    <a:srgbClr val="94A3B8"/>
                  </a:solidFill>
                  <a:latin typeface="Courier New"/>
                  <a:ea typeface="Courier New"/>
                  <a:cs typeface="Courier New"/>
                  <a:sym typeface="Courier New"/>
                </a:rPr>
                <a:t>,</a:t>
              </a:r>
              <a:endParaRPr sz="1250">
                <a:solidFill>
                  <a:srgbClr val="94A3B8"/>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F472B6"/>
                  </a:solidFill>
                  <a:latin typeface="Courier New"/>
                  <a:ea typeface="Courier New"/>
                  <a:cs typeface="Courier New"/>
                  <a:sym typeface="Courier New"/>
                </a:rPr>
                <a:t>"frequency_hz"</a:t>
              </a:r>
              <a:r>
                <a:rPr lang="en" sz="1250">
                  <a:solidFill>
                    <a:srgbClr val="94A3B8"/>
                  </a:solidFill>
                  <a:latin typeface="Courier New"/>
                  <a:ea typeface="Courier New"/>
                  <a:cs typeface="Courier New"/>
                  <a:sym typeface="Courier New"/>
                </a:rPr>
                <a:t>: </a:t>
              </a:r>
              <a:r>
                <a:rPr lang="en" sz="1250">
                  <a:solidFill>
                    <a:srgbClr val="FB923C"/>
                  </a:solidFill>
                  <a:latin typeface="Courier New"/>
                  <a:ea typeface="Courier New"/>
                  <a:cs typeface="Courier New"/>
                  <a:sym typeface="Courier New"/>
                </a:rPr>
                <a:t>49.98</a:t>
              </a:r>
              <a:r>
                <a:rPr lang="en" sz="1250">
                  <a:solidFill>
                    <a:srgbClr val="94A3B8"/>
                  </a:solidFill>
                  <a:latin typeface="Courier New"/>
                  <a:ea typeface="Courier New"/>
                  <a:cs typeface="Courier New"/>
                  <a:sym typeface="Courier New"/>
                </a:rPr>
                <a:t>,</a:t>
              </a:r>
              <a:endParaRPr sz="1250">
                <a:solidFill>
                  <a:srgbClr val="94A3B8"/>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F472B6"/>
                  </a:solidFill>
                  <a:latin typeface="Courier New"/>
                  <a:ea typeface="Courier New"/>
                  <a:cs typeface="Courier New"/>
                  <a:sym typeface="Courier New"/>
                </a:rPr>
                <a:t>"temperature_c"</a:t>
              </a:r>
              <a:r>
                <a:rPr lang="en" sz="1250">
                  <a:solidFill>
                    <a:srgbClr val="94A3B8"/>
                  </a:solidFill>
                  <a:latin typeface="Courier New"/>
                  <a:ea typeface="Courier New"/>
                  <a:cs typeface="Courier New"/>
                  <a:sym typeface="Courier New"/>
                </a:rPr>
                <a:t>: </a:t>
              </a:r>
              <a:r>
                <a:rPr lang="en" sz="1250">
                  <a:solidFill>
                    <a:srgbClr val="FB923C"/>
                  </a:solidFill>
                  <a:latin typeface="Courier New"/>
                  <a:ea typeface="Courier New"/>
                  <a:cs typeface="Courier New"/>
                  <a:sym typeface="Courier New"/>
                </a:rPr>
                <a:t>41.2</a:t>
              </a:r>
              <a:r>
                <a:rPr lang="en" sz="1250">
                  <a:solidFill>
                    <a:srgbClr val="94A3B8"/>
                  </a:solidFill>
                  <a:latin typeface="Courier New"/>
                  <a:ea typeface="Courier New"/>
                  <a:cs typeface="Courier New"/>
                  <a:sym typeface="Courier New"/>
                </a:rPr>
                <a:t>,</a:t>
              </a:r>
              <a:endParaRPr sz="1250">
                <a:solidFill>
                  <a:srgbClr val="94A3B8"/>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F472B6"/>
                  </a:solidFill>
                  <a:latin typeface="Courier New"/>
                  <a:ea typeface="Courier New"/>
                  <a:cs typeface="Courier New"/>
                  <a:sym typeface="Courier New"/>
                </a:rPr>
                <a:t>"power_factor"</a:t>
              </a:r>
              <a:r>
                <a:rPr lang="en" sz="1250">
                  <a:solidFill>
                    <a:srgbClr val="94A3B8"/>
                  </a:solidFill>
                  <a:latin typeface="Courier New"/>
                  <a:ea typeface="Courier New"/>
                  <a:cs typeface="Courier New"/>
                  <a:sym typeface="Courier New"/>
                </a:rPr>
                <a:t>: </a:t>
              </a:r>
              <a:r>
                <a:rPr lang="en" sz="1250">
                  <a:solidFill>
                    <a:srgbClr val="FB923C"/>
                  </a:solidFill>
                  <a:latin typeface="Courier New"/>
                  <a:ea typeface="Courier New"/>
                  <a:cs typeface="Courier New"/>
                  <a:sym typeface="Courier New"/>
                </a:rPr>
                <a:t>0.947</a:t>
              </a:r>
              <a:endParaRPr sz="1250">
                <a:solidFill>
                  <a:srgbClr val="94A3B8"/>
                </a:solidFill>
                <a:latin typeface="Courier New"/>
                <a:ea typeface="Courier New"/>
                <a:cs typeface="Courier New"/>
                <a:sym typeface="Courier New"/>
              </a:endParaRPr>
            </a:p>
            <a:p>
              <a:pPr indent="0" lvl="0" marL="0" rtl="0" algn="l">
                <a:spcBef>
                  <a:spcPts val="0"/>
                </a:spcBef>
                <a:spcAft>
                  <a:spcPts val="0"/>
                </a:spcAft>
                <a:buNone/>
              </a:pPr>
              <a:r>
                <a:rPr lang="en" sz="1250">
                  <a:solidFill>
                    <a:srgbClr val="94A3B8"/>
                  </a:solidFill>
                  <a:latin typeface="Courier New"/>
                  <a:ea typeface="Courier New"/>
                  <a:cs typeface="Courier New"/>
                  <a:sym typeface="Courier New"/>
                </a:rPr>
                <a:t>}</a:t>
              </a:r>
              <a:endParaRPr sz="1250">
                <a:solidFill>
                  <a:srgbClr val="94A3B8"/>
                </a:solidFill>
                <a:latin typeface="Courier New"/>
                <a:ea typeface="Courier New"/>
                <a:cs typeface="Courier New"/>
                <a:sym typeface="Courier New"/>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24"/>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24"/>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24"/>
          <p:cNvSpPr txBox="1"/>
          <p:nvPr/>
        </p:nvSpPr>
        <p:spPr>
          <a:xfrm>
            <a:off x="381000" y="3810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0F172A"/>
                </a:solidFill>
                <a:latin typeface="Inter"/>
                <a:ea typeface="Inter"/>
                <a:cs typeface="Inter"/>
                <a:sym typeface="Inter"/>
              </a:rPr>
              <a:t>2. Signed for transmission (publish_to_iot.py: sign_payload())</a:t>
            </a:r>
            <a:endParaRPr b="1" sz="2200">
              <a:solidFill>
                <a:srgbClr val="0F172A"/>
              </a:solidFill>
              <a:latin typeface="Inter"/>
              <a:ea typeface="Inter"/>
              <a:cs typeface="Inter"/>
              <a:sym typeface="Inter"/>
            </a:endParaRPr>
          </a:p>
          <a:p>
            <a:pPr indent="0" lvl="0" marL="0" rtl="0" algn="l">
              <a:spcBef>
                <a:spcPts val="450"/>
              </a:spcBef>
              <a:spcAft>
                <a:spcPts val="0"/>
              </a:spcAft>
              <a:buNone/>
            </a:pPr>
            <a:r>
              <a:rPr b="0" lang="en" sz="1150">
                <a:solidFill>
                  <a:srgbClr val="475569"/>
                </a:solidFill>
                <a:latin typeface="Inter"/>
                <a:ea typeface="Inter"/>
                <a:cs typeface="Inter"/>
                <a:sym typeface="Inter"/>
              </a:rPr>
              <a:t>Payload is expanded (+3 fields) with sequence, nonce, and cryptographic signature to prevent tampering and downstream replay attacks before crossing the network.</a:t>
            </a:r>
            <a:endParaRPr b="0" sz="1150">
              <a:solidFill>
                <a:srgbClr val="475569"/>
              </a:solidFill>
              <a:latin typeface="Inter"/>
              <a:ea typeface="Inter"/>
              <a:cs typeface="Inter"/>
              <a:sym typeface="Inter"/>
            </a:endParaRPr>
          </a:p>
        </p:txBody>
      </p:sp>
      <p:grpSp>
        <p:nvGrpSpPr>
          <p:cNvPr id="464" name="Google Shape;464;p24"/>
          <p:cNvGrpSpPr/>
          <p:nvPr/>
        </p:nvGrpSpPr>
        <p:grpSpPr>
          <a:xfrm>
            <a:off x="381000" y="1333500"/>
            <a:ext cx="3905400" cy="3238500"/>
            <a:chOff x="0" y="0"/>
            <a:chExt cx="3905400" cy="3238500"/>
          </a:xfrm>
        </p:grpSpPr>
        <p:sp>
          <p:nvSpPr>
            <p:cNvPr id="465" name="Google Shape;465;p24"/>
            <p:cNvSpPr/>
            <p:nvPr/>
          </p:nvSpPr>
          <p:spPr>
            <a:xfrm>
              <a:off x="0" y="0"/>
              <a:ext cx="39054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24"/>
            <p:cNvSpPr txBox="1"/>
            <p:nvPr/>
          </p:nvSpPr>
          <p:spPr>
            <a:xfrm>
              <a:off x="190500" y="190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284C7"/>
                  </a:solidFill>
                  <a:latin typeface="Inter"/>
                  <a:ea typeface="Inter"/>
                  <a:cs typeface="Inter"/>
                  <a:sym typeface="Inter"/>
                </a:rPr>
                <a:t>CRYPTOGRAPHIC ENVELOPE</a:t>
              </a:r>
              <a:endParaRPr b="1" sz="850">
                <a:solidFill>
                  <a:srgbClr val="0284C7"/>
                </a:solidFill>
                <a:latin typeface="Inter"/>
                <a:ea typeface="Inter"/>
                <a:cs typeface="Inter"/>
                <a:sym typeface="Inter"/>
              </a:endParaRPr>
            </a:p>
            <a:p>
              <a:pPr indent="0" lvl="0" marL="0" rtl="0" algn="l">
                <a:spcBef>
                  <a:spcPts val="450"/>
                </a:spcBef>
                <a:spcAft>
                  <a:spcPts val="0"/>
                </a:spcAft>
                <a:buNone/>
              </a:pPr>
              <a:r>
                <a:rPr b="1" lang="en" sz="1600">
                  <a:solidFill>
                    <a:srgbClr val="0F172A"/>
                  </a:solidFill>
                  <a:latin typeface="Inter"/>
                  <a:ea typeface="Inter"/>
                  <a:cs typeface="Inter"/>
                  <a:sym typeface="Inter"/>
                </a:rPr>
                <a:t>Transit Integrity Guard</a:t>
              </a:r>
              <a:endParaRPr b="1" sz="1600">
                <a:solidFill>
                  <a:srgbClr val="0F172A"/>
                </a:solidFill>
                <a:latin typeface="Inter"/>
                <a:ea typeface="Inter"/>
                <a:cs typeface="Inter"/>
                <a:sym typeface="Inter"/>
              </a:endParaRPr>
            </a:p>
            <a:p>
              <a:pPr indent="0" lvl="0" marL="0" rtl="0" algn="l">
                <a:spcBef>
                  <a:spcPts val="675"/>
                </a:spcBef>
                <a:spcAft>
                  <a:spcPts val="0"/>
                </a:spcAft>
                <a:buNone/>
              </a:pPr>
              <a:r>
                <a:rPr b="0" lang="en" sz="1100">
                  <a:solidFill>
                    <a:srgbClr val="475569"/>
                  </a:solidFill>
                  <a:latin typeface="Inter"/>
                  <a:ea typeface="Inter"/>
                  <a:cs typeface="Inter"/>
                  <a:sym typeface="Inter"/>
                </a:rPr>
                <a:t>The raw readings are signed using HMAC-SHA256. Cryptographic nonces ensure that if this wireless transmission is intercepted, it cannot be replayed maliciously.</a:t>
              </a:r>
              <a:endParaRPr b="0" sz="1100">
                <a:solidFill>
                  <a:srgbClr val="475569"/>
                </a:solidFill>
                <a:latin typeface="Inter"/>
                <a:ea typeface="Inter"/>
                <a:cs typeface="Inter"/>
                <a:sym typeface="Inter"/>
              </a:endParaRPr>
            </a:p>
            <a:p>
              <a:pPr indent="0" lvl="0" marL="0" rtl="0" algn="l">
                <a:spcBef>
                  <a:spcPts val="1350"/>
                </a:spcBef>
                <a:spcAft>
                  <a:spcPts val="0"/>
                </a:spcAft>
                <a:buNone/>
              </a:pPr>
              <a:r>
                <a:rPr b="0" lang="en" sz="900">
                  <a:solidFill>
                    <a:srgbClr val="64748B"/>
                  </a:solidFill>
                  <a:latin typeface="Inter SemiBold"/>
                  <a:ea typeface="Inter SemiBold"/>
                  <a:cs typeface="Inter SemiBold"/>
                  <a:sym typeface="Inter SemiBold"/>
                </a:rPr>
                <a:t>NETWORK TRANSMISSION DELTA</a:t>
              </a:r>
              <a:endParaRPr b="0" sz="900">
                <a:solidFill>
                  <a:srgbClr val="64748B"/>
                </a:solidFill>
                <a:latin typeface="Inter SemiBold"/>
                <a:ea typeface="Inter SemiBold"/>
                <a:cs typeface="Inter SemiBold"/>
                <a:sym typeface="Inter SemiBold"/>
              </a:endParaRPr>
            </a:p>
            <a:p>
              <a:pPr indent="0" lvl="0" marL="0" rtl="0" algn="l">
                <a:spcBef>
                  <a:spcPts val="450"/>
                </a:spcBef>
                <a:spcAft>
                  <a:spcPts val="0"/>
                </a:spcAft>
                <a:buNone/>
              </a:pPr>
              <a:r>
                <a:rPr b="1" lang="en" sz="1400">
                  <a:solidFill>
                    <a:srgbClr val="10B981"/>
                  </a:solidFill>
                  <a:latin typeface="Inter"/>
                  <a:ea typeface="Inter"/>
                  <a:cs typeface="Inter"/>
                  <a:sym typeface="Inter"/>
                </a:rPr>
                <a:t>+3 Fields Added </a:t>
              </a:r>
              <a:r>
                <a:rPr b="0" lang="en" sz="1000">
                  <a:solidFill>
                    <a:srgbClr val="64748B"/>
                  </a:solidFill>
                  <a:latin typeface="Inter"/>
                  <a:ea typeface="Inter"/>
                  <a:cs typeface="Inter"/>
                  <a:sym typeface="Inter"/>
                </a:rPr>
                <a:t>(seq, nonce, signature)</a:t>
              </a:r>
              <a:endParaRPr b="1" sz="1400">
                <a:solidFill>
                  <a:srgbClr val="10B981"/>
                </a:solidFill>
                <a:latin typeface="Inter"/>
                <a:ea typeface="Inter"/>
                <a:cs typeface="Inter"/>
                <a:sym typeface="Inter"/>
              </a:endParaRPr>
            </a:p>
            <a:p>
              <a:pPr indent="0" lvl="0" marL="0" rtl="0" algn="l">
                <a:spcBef>
                  <a:spcPts val="900"/>
                </a:spcBef>
                <a:spcAft>
                  <a:spcPts val="0"/>
                </a:spcAft>
                <a:buNone/>
              </a:pPr>
              <a:r>
                <a:rPr b="0" lang="en" sz="900">
                  <a:solidFill>
                    <a:srgbClr val="64748B"/>
                  </a:solidFill>
                  <a:latin typeface="Inter SemiBold"/>
                  <a:ea typeface="Inter SemiBold"/>
                  <a:cs typeface="Inter SemiBold"/>
                  <a:sym typeface="Inter SemiBold"/>
                </a:rPr>
                <a:t>TAMPER PROTECTION</a:t>
              </a:r>
              <a:endParaRPr b="0" sz="900">
                <a:solidFill>
                  <a:srgbClr val="64748B"/>
                </a:solidFill>
                <a:latin typeface="Inter SemiBold"/>
                <a:ea typeface="Inter SemiBold"/>
                <a:cs typeface="Inter SemiBold"/>
                <a:sym typeface="Inter SemiBold"/>
              </a:endParaRPr>
            </a:p>
            <a:p>
              <a:pPr indent="0" lvl="0" marL="0" rtl="0" algn="l">
                <a:spcBef>
                  <a:spcPts val="450"/>
                </a:spcBef>
                <a:spcAft>
                  <a:spcPts val="0"/>
                </a:spcAft>
                <a:buNone/>
              </a:pPr>
              <a:r>
                <a:rPr b="1" lang="en" sz="1400">
                  <a:solidFill>
                    <a:srgbClr val="EF4444"/>
                  </a:solidFill>
                  <a:latin typeface="Inter"/>
                  <a:ea typeface="Inter"/>
                  <a:cs typeface="Inter"/>
                  <a:sym typeface="Inter"/>
                </a:rPr>
                <a:t>HMAC-SHA256 </a:t>
              </a:r>
              <a:r>
                <a:rPr b="0" lang="en" sz="1000">
                  <a:solidFill>
                    <a:srgbClr val="64748B"/>
                  </a:solidFill>
                  <a:latin typeface="Inter"/>
                  <a:ea typeface="Inter"/>
                  <a:cs typeface="Inter"/>
                  <a:sym typeface="Inter"/>
                </a:rPr>
                <a:t>(Payload Verified)</a:t>
              </a:r>
              <a:endParaRPr b="1" sz="1400">
                <a:solidFill>
                  <a:srgbClr val="EF4444"/>
                </a:solidFill>
                <a:latin typeface="Inter"/>
                <a:ea typeface="Inter"/>
                <a:cs typeface="Inter"/>
                <a:sym typeface="Inter"/>
              </a:endParaRPr>
            </a:p>
          </p:txBody>
        </p:sp>
      </p:grpSp>
      <p:grpSp>
        <p:nvGrpSpPr>
          <p:cNvPr id="467" name="Google Shape;467;p24"/>
          <p:cNvGrpSpPr/>
          <p:nvPr/>
        </p:nvGrpSpPr>
        <p:grpSpPr>
          <a:xfrm>
            <a:off x="4572000" y="1333500"/>
            <a:ext cx="4191000" cy="3238500"/>
            <a:chOff x="0" y="0"/>
            <a:chExt cx="4191000" cy="3238500"/>
          </a:xfrm>
        </p:grpSpPr>
        <p:sp>
          <p:nvSpPr>
            <p:cNvPr id="468" name="Google Shape;468;p24"/>
            <p:cNvSpPr/>
            <p:nvPr/>
          </p:nvSpPr>
          <p:spPr>
            <a:xfrm>
              <a:off x="0" y="0"/>
              <a:ext cx="4191000" cy="3238500"/>
            </a:xfrm>
            <a:prstGeom prst="roundRect">
              <a:avLst>
                <a:gd fmla="val 235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24"/>
            <p:cNvSpPr/>
            <p:nvPr/>
          </p:nvSpPr>
          <p:spPr>
            <a:xfrm>
              <a:off x="0" y="0"/>
              <a:ext cx="4191000" cy="381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24"/>
            <p:cNvSpPr txBox="1"/>
            <p:nvPr/>
          </p:nvSpPr>
          <p:spPr>
            <a:xfrm>
              <a:off x="228600" y="228600"/>
              <a:ext cx="37338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38BDF8"/>
                  </a:solidFill>
                  <a:latin typeface="Courier New"/>
                  <a:ea typeface="Courier New"/>
                  <a:cs typeface="Courier New"/>
                  <a:sym typeface="Courier New"/>
                </a:rPr>
                <a:t>// publish_to_iot.py signed payload</a:t>
              </a:r>
              <a:endParaRPr b="0" sz="1150">
                <a:solidFill>
                  <a:srgbClr val="38BDF8"/>
                </a:solidFill>
                <a:latin typeface="Courier New"/>
                <a:ea typeface="Courier New"/>
                <a:cs typeface="Courier New"/>
                <a:sym typeface="Courier New"/>
              </a:endParaRPr>
            </a:p>
            <a:p>
              <a:pPr indent="0" lvl="0" marL="0" rtl="0" algn="l">
                <a:spcBef>
                  <a:spcPts val="750"/>
                </a:spcBef>
                <a:spcAft>
                  <a:spcPts val="0"/>
                </a:spcAft>
                <a:buNone/>
              </a:pPr>
              <a:r>
                <a:rPr b="0" lang="en" sz="1150">
                  <a:solidFill>
                    <a:srgbClr val="FFFFFF"/>
                  </a:solidFill>
                  <a:latin typeface="Courier New"/>
                  <a:ea typeface="Courier New"/>
                  <a:cs typeface="Courier New"/>
                  <a:sym typeface="Courier New"/>
                </a:rPr>
                <a:t>{</a:t>
              </a:r>
              <a:endParaRPr b="0" sz="1150">
                <a:solidFill>
                  <a:srgbClr val="FFFFFF"/>
                </a:solidFill>
                <a:latin typeface="Courier New"/>
                <a:ea typeface="Courier New"/>
                <a:cs typeface="Courier New"/>
                <a:sym typeface="Courier New"/>
              </a:endParaRPr>
            </a:p>
            <a:p>
              <a:pPr indent="0" lvl="0" marL="0" rtl="0" algn="l">
                <a:spcBef>
                  <a:spcPts val="0"/>
                </a:spcBef>
                <a:spcAft>
                  <a:spcPts val="0"/>
                </a:spcAft>
                <a:buNone/>
              </a:pPr>
              <a:r>
                <a:rPr b="0" lang="en" sz="1150">
                  <a:solidFill>
                    <a:srgbClr val="F472B6"/>
                  </a:solidFill>
                  <a:latin typeface="Courier New"/>
                  <a:ea typeface="Courier New"/>
                  <a:cs typeface="Courier New"/>
                  <a:sym typeface="Courier New"/>
                </a:rPr>
                <a:t>"device_id"</a:t>
              </a:r>
              <a:r>
                <a:rPr b="0" lang="en" sz="1150">
                  <a:solidFill>
                    <a:srgbClr val="38BDF8"/>
                  </a:solidFill>
                  <a:latin typeface="Courier New"/>
                  <a:ea typeface="Courier New"/>
                  <a:cs typeface="Courier New"/>
                  <a:sym typeface="Courier New"/>
                </a:rPr>
                <a:t>: </a:t>
              </a:r>
              <a:r>
                <a:rPr b="0" lang="en" sz="1150">
                  <a:solidFill>
                    <a:srgbClr val="4ADE80"/>
                  </a:solidFill>
                  <a:latin typeface="Courier New"/>
                  <a:ea typeface="Courier New"/>
                  <a:cs typeface="Courier New"/>
                  <a:sym typeface="Courier New"/>
                </a:rPr>
                <a:t>"edge-device-002"</a:t>
              </a:r>
              <a:r>
                <a:rPr b="0" lang="en" sz="1150">
                  <a:solidFill>
                    <a:srgbClr val="38BDF8"/>
                  </a:solidFill>
                  <a:latin typeface="Courier New"/>
                  <a:ea typeface="Courier New"/>
                  <a:cs typeface="Courier New"/>
                  <a:sym typeface="Courier New"/>
                </a:rPr>
                <a:t>,</a:t>
              </a:r>
              <a:endParaRPr b="0" sz="1150">
                <a:solidFill>
                  <a:srgbClr val="38BDF8"/>
                </a:solidFill>
                <a:latin typeface="Courier New"/>
                <a:ea typeface="Courier New"/>
                <a:cs typeface="Courier New"/>
                <a:sym typeface="Courier New"/>
              </a:endParaRPr>
            </a:p>
            <a:p>
              <a:pPr indent="0" lvl="0" marL="0" rtl="0" algn="l">
                <a:spcBef>
                  <a:spcPts val="0"/>
                </a:spcBef>
                <a:spcAft>
                  <a:spcPts val="0"/>
                </a:spcAft>
                <a:buNone/>
              </a:pPr>
              <a:r>
                <a:rPr b="0" lang="en" sz="1150">
                  <a:solidFill>
                    <a:srgbClr val="F472B6"/>
                  </a:solidFill>
                  <a:latin typeface="Courier New"/>
                  <a:ea typeface="Courier New"/>
                  <a:cs typeface="Courier New"/>
                  <a:sym typeface="Courier New"/>
                </a:rPr>
                <a:t>"timestamp"</a:t>
              </a:r>
              <a:r>
                <a:rPr b="0" lang="en" sz="1150">
                  <a:solidFill>
                    <a:srgbClr val="38BDF8"/>
                  </a:solidFill>
                  <a:latin typeface="Courier New"/>
                  <a:ea typeface="Courier New"/>
                  <a:cs typeface="Courier New"/>
                  <a:sym typeface="Courier New"/>
                </a:rPr>
                <a:t>: </a:t>
              </a:r>
              <a:r>
                <a:rPr b="0" lang="en" sz="1150">
                  <a:solidFill>
                    <a:srgbClr val="4ADE80"/>
                  </a:solidFill>
                  <a:latin typeface="Courier New"/>
                  <a:ea typeface="Courier New"/>
                  <a:cs typeface="Courier New"/>
                  <a:sym typeface="Courier New"/>
                </a:rPr>
                <a:t>"2026-08-10T14:32:07Z"</a:t>
              </a:r>
              <a:r>
                <a:rPr b="0" lang="en" sz="1150">
                  <a:solidFill>
                    <a:srgbClr val="38BDF8"/>
                  </a:solidFill>
                  <a:latin typeface="Courier New"/>
                  <a:ea typeface="Courier New"/>
                  <a:cs typeface="Courier New"/>
                  <a:sym typeface="Courier New"/>
                </a:rPr>
                <a:t>,</a:t>
              </a:r>
              <a:endParaRPr b="0" sz="1150">
                <a:solidFill>
                  <a:srgbClr val="38BDF8"/>
                </a:solidFill>
                <a:latin typeface="Courier New"/>
                <a:ea typeface="Courier New"/>
                <a:cs typeface="Courier New"/>
                <a:sym typeface="Courier New"/>
              </a:endParaRPr>
            </a:p>
            <a:p>
              <a:pPr indent="0" lvl="0" marL="0" rtl="0" algn="l">
                <a:spcBef>
                  <a:spcPts val="0"/>
                </a:spcBef>
                <a:spcAft>
                  <a:spcPts val="0"/>
                </a:spcAft>
                <a:buNone/>
              </a:pPr>
              <a:r>
                <a:rPr b="0" lang="en" sz="1150">
                  <a:solidFill>
                    <a:srgbClr val="F472B6"/>
                  </a:solidFill>
                  <a:latin typeface="Courier New"/>
                  <a:ea typeface="Courier New"/>
                  <a:cs typeface="Courier New"/>
                  <a:sym typeface="Courier New"/>
                </a:rPr>
                <a:t>"voltage_v"</a:t>
              </a:r>
              <a:r>
                <a:rPr b="0" lang="en" sz="1150">
                  <a:solidFill>
                    <a:srgbClr val="38BDF8"/>
                  </a:solidFill>
                  <a:latin typeface="Courier New"/>
                  <a:ea typeface="Courier New"/>
                  <a:cs typeface="Courier New"/>
                  <a:sym typeface="Courier New"/>
                </a:rPr>
                <a:t>: </a:t>
              </a:r>
              <a:r>
                <a:rPr b="0" lang="en" sz="1150">
                  <a:solidFill>
                    <a:srgbClr val="FB923C"/>
                  </a:solidFill>
                  <a:latin typeface="Courier New"/>
                  <a:ea typeface="Courier New"/>
                  <a:cs typeface="Courier New"/>
                  <a:sym typeface="Courier New"/>
                </a:rPr>
                <a:t>362.4</a:t>
              </a:r>
              <a:r>
                <a:rPr b="0" lang="en" sz="1150">
                  <a:solidFill>
                    <a:srgbClr val="38BDF8"/>
                  </a:solidFill>
                  <a:latin typeface="Courier New"/>
                  <a:ea typeface="Courier New"/>
                  <a:cs typeface="Courier New"/>
                  <a:sym typeface="Courier New"/>
                </a:rPr>
                <a:t>,</a:t>
              </a:r>
              <a:endParaRPr b="0" sz="1150">
                <a:solidFill>
                  <a:srgbClr val="38BDF8"/>
                </a:solidFill>
                <a:latin typeface="Courier New"/>
                <a:ea typeface="Courier New"/>
                <a:cs typeface="Courier New"/>
                <a:sym typeface="Courier New"/>
              </a:endParaRPr>
            </a:p>
            <a:p>
              <a:pPr indent="0" lvl="0" marL="0" rtl="0" algn="l">
                <a:spcBef>
                  <a:spcPts val="0"/>
                </a:spcBef>
                <a:spcAft>
                  <a:spcPts val="0"/>
                </a:spcAft>
                <a:buNone/>
              </a:pPr>
              <a:r>
                <a:rPr b="0" lang="en" sz="1150">
                  <a:solidFill>
                    <a:srgbClr val="F472B6"/>
                  </a:solidFill>
                  <a:latin typeface="Courier New"/>
                  <a:ea typeface="Courier New"/>
                  <a:cs typeface="Courier New"/>
                  <a:sym typeface="Courier New"/>
                </a:rPr>
                <a:t>"current_a"</a:t>
              </a:r>
              <a:r>
                <a:rPr b="0" lang="en" sz="1150">
                  <a:solidFill>
                    <a:srgbClr val="38BDF8"/>
                  </a:solidFill>
                  <a:latin typeface="Courier New"/>
                  <a:ea typeface="Courier New"/>
                  <a:cs typeface="Courier New"/>
                  <a:sym typeface="Courier New"/>
                </a:rPr>
                <a:t>: </a:t>
              </a:r>
              <a:r>
                <a:rPr b="0" lang="en" sz="1150">
                  <a:solidFill>
                    <a:srgbClr val="FB923C"/>
                  </a:solidFill>
                  <a:latin typeface="Courier New"/>
                  <a:ea typeface="Courier New"/>
                  <a:cs typeface="Courier New"/>
                  <a:sym typeface="Courier New"/>
                </a:rPr>
                <a:t>78.6</a:t>
              </a:r>
              <a:r>
                <a:rPr b="0" lang="en" sz="1150">
                  <a:solidFill>
                    <a:srgbClr val="38BDF8"/>
                  </a:solidFill>
                  <a:latin typeface="Courier New"/>
                  <a:ea typeface="Courier New"/>
                  <a:cs typeface="Courier New"/>
                  <a:sym typeface="Courier New"/>
                </a:rPr>
                <a:t>,</a:t>
              </a:r>
              <a:endParaRPr b="0" sz="1150">
                <a:solidFill>
                  <a:srgbClr val="38BDF8"/>
                </a:solidFill>
                <a:latin typeface="Courier New"/>
                <a:ea typeface="Courier New"/>
                <a:cs typeface="Courier New"/>
                <a:sym typeface="Courier New"/>
              </a:endParaRPr>
            </a:p>
            <a:p>
              <a:pPr indent="0" lvl="0" marL="0" rtl="0" algn="l">
                <a:spcBef>
                  <a:spcPts val="0"/>
                </a:spcBef>
                <a:spcAft>
                  <a:spcPts val="0"/>
                </a:spcAft>
                <a:buNone/>
              </a:pPr>
              <a:r>
                <a:rPr b="0" lang="en" sz="1050">
                  <a:solidFill>
                    <a:srgbClr val="94A3B8"/>
                  </a:solidFill>
                  <a:latin typeface="Courier New"/>
                  <a:ea typeface="Courier New"/>
                  <a:cs typeface="Courier New"/>
                  <a:sym typeface="Courier New"/>
                </a:rPr>
                <a:t>/* ... frequency, temp, power_factor ... */</a:t>
              </a:r>
              <a:endParaRPr b="0" sz="105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150">
                  <a:solidFill>
                    <a:srgbClr val="F472B6"/>
                  </a:solidFill>
                  <a:highlight>
                    <a:srgbClr val="1E293B"/>
                  </a:highlight>
                  <a:latin typeface="Courier New"/>
                  <a:ea typeface="Courier New"/>
                  <a:cs typeface="Courier New"/>
                  <a:sym typeface="Courier New"/>
                </a:rPr>
                <a:t>"seq"</a:t>
              </a:r>
              <a:r>
                <a:rPr b="0" lang="en" sz="1150">
                  <a:solidFill>
                    <a:srgbClr val="38BDF8"/>
                  </a:solidFill>
                  <a:highlight>
                    <a:srgbClr val="1E293B"/>
                  </a:highlight>
                  <a:latin typeface="Courier New"/>
                  <a:ea typeface="Courier New"/>
                  <a:cs typeface="Courier New"/>
                  <a:sym typeface="Courier New"/>
                </a:rPr>
                <a:t>: </a:t>
              </a:r>
              <a:r>
                <a:rPr b="0" lang="en" sz="1150">
                  <a:solidFill>
                    <a:srgbClr val="F87171"/>
                  </a:solidFill>
                  <a:highlight>
                    <a:srgbClr val="1E293B"/>
                  </a:highlight>
                  <a:latin typeface="Courier New"/>
                  <a:ea typeface="Courier New"/>
                  <a:cs typeface="Courier New"/>
                  <a:sym typeface="Courier New"/>
                </a:rPr>
                <a:t>1755008527914</a:t>
              </a:r>
              <a:r>
                <a:rPr b="0" lang="en" sz="1150">
                  <a:solidFill>
                    <a:srgbClr val="38BDF8"/>
                  </a:solidFill>
                  <a:highlight>
                    <a:srgbClr val="1E293B"/>
                  </a:highlight>
                  <a:latin typeface="Courier New"/>
                  <a:ea typeface="Courier New"/>
                  <a:cs typeface="Courier New"/>
                  <a:sym typeface="Courier New"/>
                </a:rPr>
                <a:t>,</a:t>
              </a:r>
              <a:endParaRPr b="0" sz="1150">
                <a:solidFill>
                  <a:srgbClr val="38BDF8"/>
                </a:solidFill>
                <a:highlight>
                  <a:srgbClr val="1E293B"/>
                </a:highlight>
                <a:latin typeface="Courier New"/>
                <a:ea typeface="Courier New"/>
                <a:cs typeface="Courier New"/>
                <a:sym typeface="Courier New"/>
              </a:endParaRPr>
            </a:p>
            <a:p>
              <a:pPr indent="0" lvl="0" marL="0" rtl="0" algn="l">
                <a:spcBef>
                  <a:spcPts val="0"/>
                </a:spcBef>
                <a:spcAft>
                  <a:spcPts val="0"/>
                </a:spcAft>
                <a:buNone/>
              </a:pPr>
              <a:r>
                <a:rPr b="0" lang="en" sz="1150">
                  <a:solidFill>
                    <a:srgbClr val="F472B6"/>
                  </a:solidFill>
                  <a:highlight>
                    <a:srgbClr val="1E293B"/>
                  </a:highlight>
                  <a:latin typeface="Courier New"/>
                  <a:ea typeface="Courier New"/>
                  <a:cs typeface="Courier New"/>
                  <a:sym typeface="Courier New"/>
                </a:rPr>
                <a:t>"nonce"</a:t>
              </a:r>
              <a:r>
                <a:rPr b="0" lang="en" sz="1150">
                  <a:solidFill>
                    <a:srgbClr val="38BDF8"/>
                  </a:solidFill>
                  <a:highlight>
                    <a:srgbClr val="1E293B"/>
                  </a:highlight>
                  <a:latin typeface="Courier New"/>
                  <a:ea typeface="Courier New"/>
                  <a:cs typeface="Courier New"/>
                  <a:sym typeface="Courier New"/>
                </a:rPr>
                <a:t>: </a:t>
              </a:r>
              <a:r>
                <a:rPr b="0" lang="en" sz="1150">
                  <a:solidFill>
                    <a:srgbClr val="4ADE80"/>
                  </a:solidFill>
                  <a:highlight>
                    <a:srgbClr val="1E293B"/>
                  </a:highlight>
                  <a:latin typeface="Courier New"/>
                  <a:ea typeface="Courier New"/>
                  <a:cs typeface="Courier New"/>
                  <a:sym typeface="Courier New"/>
                </a:rPr>
                <a:t>"3f2a9d7c-88b1-4e2a-9c31..."</a:t>
              </a:r>
              <a:r>
                <a:rPr b="0" lang="en" sz="1150">
                  <a:solidFill>
                    <a:srgbClr val="38BDF8"/>
                  </a:solidFill>
                  <a:highlight>
                    <a:srgbClr val="1E293B"/>
                  </a:highlight>
                  <a:latin typeface="Courier New"/>
                  <a:ea typeface="Courier New"/>
                  <a:cs typeface="Courier New"/>
                  <a:sym typeface="Courier New"/>
                </a:rPr>
                <a:t>,</a:t>
              </a:r>
              <a:endParaRPr b="0" sz="1150">
                <a:solidFill>
                  <a:srgbClr val="38BDF8"/>
                </a:solidFill>
                <a:highlight>
                  <a:srgbClr val="1E293B"/>
                </a:highlight>
                <a:latin typeface="Courier New"/>
                <a:ea typeface="Courier New"/>
                <a:cs typeface="Courier New"/>
                <a:sym typeface="Courier New"/>
              </a:endParaRPr>
            </a:p>
            <a:p>
              <a:pPr indent="0" lvl="0" marL="0" rtl="0" algn="l">
                <a:spcBef>
                  <a:spcPts val="0"/>
                </a:spcBef>
                <a:spcAft>
                  <a:spcPts val="0"/>
                </a:spcAft>
                <a:buNone/>
              </a:pPr>
              <a:r>
                <a:rPr b="0" lang="en" sz="1150">
                  <a:solidFill>
                    <a:srgbClr val="F472B6"/>
                  </a:solidFill>
                  <a:highlight>
                    <a:srgbClr val="1E293B"/>
                  </a:highlight>
                  <a:latin typeface="Courier New"/>
                  <a:ea typeface="Courier New"/>
                  <a:cs typeface="Courier New"/>
                  <a:sym typeface="Courier New"/>
                </a:rPr>
                <a:t>"signature"</a:t>
              </a:r>
              <a:r>
                <a:rPr b="0" lang="en" sz="1150">
                  <a:solidFill>
                    <a:srgbClr val="38BDF8"/>
                  </a:solidFill>
                  <a:highlight>
                    <a:srgbClr val="1E293B"/>
                  </a:highlight>
                  <a:latin typeface="Courier New"/>
                  <a:ea typeface="Courier New"/>
                  <a:cs typeface="Courier New"/>
                  <a:sym typeface="Courier New"/>
                </a:rPr>
                <a:t>: </a:t>
              </a:r>
              <a:r>
                <a:rPr b="0" lang="en" sz="1150">
                  <a:solidFill>
                    <a:srgbClr val="4ADE80"/>
                  </a:solidFill>
                  <a:highlight>
                    <a:srgbClr val="1E293B"/>
                  </a:highlight>
                  <a:latin typeface="Courier New"/>
                  <a:ea typeface="Courier New"/>
                  <a:cs typeface="Courier New"/>
                  <a:sym typeface="Courier New"/>
                </a:rPr>
                <a:t>"7c2f9a1e4b6d8035f1a9..."</a:t>
              </a:r>
              <a:endParaRPr b="0" sz="1150">
                <a:solidFill>
                  <a:srgbClr val="38BDF8"/>
                </a:solidFill>
                <a:highlight>
                  <a:srgbClr val="1E293B"/>
                </a:highlight>
                <a:latin typeface="Courier New"/>
                <a:ea typeface="Courier New"/>
                <a:cs typeface="Courier New"/>
                <a:sym typeface="Courier New"/>
              </a:endParaRPr>
            </a:p>
            <a:p>
              <a:pPr indent="0" lvl="0" marL="0" rtl="0" algn="l">
                <a:spcBef>
                  <a:spcPts val="0"/>
                </a:spcBef>
                <a:spcAft>
                  <a:spcPts val="0"/>
                </a:spcAft>
                <a:buNone/>
              </a:pPr>
              <a:r>
                <a:rPr b="0" lang="en" sz="1150">
                  <a:solidFill>
                    <a:srgbClr val="FFFFFF"/>
                  </a:solidFill>
                  <a:latin typeface="Courier New"/>
                  <a:ea typeface="Courier New"/>
                  <a:cs typeface="Courier New"/>
                  <a:sym typeface="Courier New"/>
                </a:rPr>
                <a:t>}</a:t>
              </a:r>
              <a:endParaRPr b="0" sz="1150">
                <a:solidFill>
                  <a:srgbClr val="FFFFFF"/>
                </a:solidFill>
                <a:latin typeface="Courier New"/>
                <a:ea typeface="Courier New"/>
                <a:cs typeface="Courier New"/>
                <a:sym typeface="Courier New"/>
              </a:endParaRPr>
            </a:p>
            <a:p>
              <a:pPr indent="0" lvl="0" marL="0" rtl="0" algn="l">
                <a:spcBef>
                  <a:spcPts val="750"/>
                </a:spcBef>
                <a:spcAft>
                  <a:spcPts val="0"/>
                </a:spcAft>
                <a:buNone/>
              </a:pPr>
              <a:r>
                <a:rPr b="0" lang="en" sz="1050">
                  <a:solidFill>
                    <a:srgbClr val="94A3B8"/>
                  </a:solidFill>
                  <a:latin typeface="Courier New"/>
                  <a:ea typeface="Courier New"/>
                  <a:cs typeface="Courier New"/>
                  <a:sym typeface="Courier New"/>
                </a:rPr>
                <a:t>// Keys sorted identically on both sides</a:t>
              </a:r>
              <a:endParaRPr b="0" sz="1050">
                <a:solidFill>
                  <a:srgbClr val="94A3B8"/>
                </a:solidFill>
                <a:latin typeface="Courier New"/>
                <a:ea typeface="Courier New"/>
                <a:cs typeface="Courier New"/>
                <a:sym typeface="Courier New"/>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25"/>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25"/>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8" name="Google Shape;478;p25"/>
          <p:cNvSpPr txBox="1"/>
          <p:nvPr/>
        </p:nvSpPr>
        <p:spPr>
          <a:xfrm>
            <a:off x="381000" y="3810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0F172A"/>
                </a:solidFill>
                <a:latin typeface="Inter"/>
                <a:ea typeface="Inter"/>
                <a:cs typeface="Inter"/>
                <a:sym typeface="Inter"/>
              </a:rPr>
              <a:t>3 &amp; 4. AWS Ingest &amp; Hand-Off (Verbatim Network Transit)</a:t>
            </a:r>
            <a:endParaRPr b="1" sz="2200">
              <a:solidFill>
                <a:srgbClr val="0F172A"/>
              </a:solidFill>
              <a:latin typeface="Inter"/>
              <a:ea typeface="Inter"/>
              <a:cs typeface="Inter"/>
              <a:sym typeface="Inter"/>
            </a:endParaRPr>
          </a:p>
          <a:p>
            <a:pPr indent="0" lvl="0" marL="0" rtl="0" algn="l">
              <a:spcBef>
                <a:spcPts val="450"/>
              </a:spcBef>
              <a:spcAft>
                <a:spcPts val="0"/>
              </a:spcAft>
              <a:buNone/>
            </a:pPr>
            <a:r>
              <a:rPr b="0" lang="en" sz="1150">
                <a:solidFill>
                  <a:srgbClr val="475569"/>
                </a:solidFill>
                <a:latin typeface="Inter"/>
                <a:ea typeface="Inter"/>
                <a:cs typeface="Inter"/>
                <a:sym typeface="Inter"/>
              </a:rPr>
              <a:t>The payload crosses AWS IoT Core and arrives at the Lambda trigger byte-identical to Stage 2. Network systems route, match rules, and trigger validation scripts without mutating a single bit of the original telemetry.</a:t>
            </a:r>
            <a:endParaRPr b="0" sz="1150">
              <a:solidFill>
                <a:srgbClr val="475569"/>
              </a:solidFill>
              <a:latin typeface="Inter"/>
              <a:ea typeface="Inter"/>
              <a:cs typeface="Inter"/>
              <a:sym typeface="Inter"/>
            </a:endParaRPr>
          </a:p>
        </p:txBody>
      </p:sp>
      <p:grpSp>
        <p:nvGrpSpPr>
          <p:cNvPr id="479" name="Google Shape;479;p25"/>
          <p:cNvGrpSpPr/>
          <p:nvPr/>
        </p:nvGrpSpPr>
        <p:grpSpPr>
          <a:xfrm>
            <a:off x="381000" y="1333500"/>
            <a:ext cx="3905400" cy="3238500"/>
            <a:chOff x="0" y="0"/>
            <a:chExt cx="3905400" cy="3238500"/>
          </a:xfrm>
        </p:grpSpPr>
        <p:sp>
          <p:nvSpPr>
            <p:cNvPr id="480" name="Google Shape;480;p25"/>
            <p:cNvSpPr/>
            <p:nvPr/>
          </p:nvSpPr>
          <p:spPr>
            <a:xfrm>
              <a:off x="0" y="0"/>
              <a:ext cx="39054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25"/>
            <p:cNvSpPr txBox="1"/>
            <p:nvPr/>
          </p:nvSpPr>
          <p:spPr>
            <a:xfrm>
              <a:off x="190500" y="190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284C7"/>
                  </a:solidFill>
                  <a:latin typeface="Inter"/>
                  <a:ea typeface="Inter"/>
                  <a:cs typeface="Inter"/>
                  <a:sym typeface="Inter"/>
                </a:rPr>
                <a:t>AWS IOT CORE &amp; LAMBDA HAND-OFF</a:t>
              </a:r>
              <a:endParaRPr b="1" sz="850">
                <a:solidFill>
                  <a:srgbClr val="0284C7"/>
                </a:solidFill>
                <a:latin typeface="Inter"/>
                <a:ea typeface="Inter"/>
                <a:cs typeface="Inter"/>
                <a:sym typeface="Inter"/>
              </a:endParaRPr>
            </a:p>
            <a:p>
              <a:pPr indent="0" lvl="0" marL="0" rtl="0" algn="l">
                <a:spcBef>
                  <a:spcPts val="600"/>
                </a:spcBef>
                <a:spcAft>
                  <a:spcPts val="0"/>
                </a:spcAft>
                <a:buNone/>
              </a:pPr>
              <a:r>
                <a:rPr b="1" lang="en" sz="1600">
                  <a:solidFill>
                    <a:srgbClr val="0F172A"/>
                  </a:solidFill>
                  <a:latin typeface="Inter"/>
                  <a:ea typeface="Inter"/>
                  <a:cs typeface="Inter"/>
                  <a:sym typeface="Inter"/>
                </a:rPr>
                <a:t>Zero Mutation Routing</a:t>
              </a:r>
              <a:endParaRPr b="1" sz="1600">
                <a:solidFill>
                  <a:srgbClr val="0F172A"/>
                </a:solidFill>
                <a:latin typeface="Inter"/>
                <a:ea typeface="Inter"/>
                <a:cs typeface="Inter"/>
                <a:sym typeface="Inter"/>
              </a:endParaRPr>
            </a:p>
            <a:p>
              <a:pPr indent="0" lvl="0" marL="0" rtl="0" algn="l">
                <a:spcBef>
                  <a:spcPts val="900"/>
                </a:spcBef>
                <a:spcAft>
                  <a:spcPts val="0"/>
                </a:spcAft>
                <a:buNone/>
              </a:pPr>
              <a:r>
                <a:rPr b="0" lang="en" sz="1100">
                  <a:solidFill>
                    <a:srgbClr val="475569"/>
                  </a:solidFill>
                  <a:latin typeface="Inter"/>
                  <a:ea typeface="Inter"/>
                  <a:cs typeface="Inter"/>
                  <a:sym typeface="Inter"/>
                </a:rPr>
                <a:t>The IoT Rule </a:t>
              </a:r>
              <a:r>
                <a:rPr b="1" lang="en" sz="1100">
                  <a:solidFill>
                    <a:srgbClr val="0F172A"/>
                  </a:solidFill>
                  <a:latin typeface="Courier New"/>
                  <a:ea typeface="Courier New"/>
                  <a:cs typeface="Courier New"/>
                  <a:sym typeface="Courier New"/>
                </a:rPr>
                <a:t>SELECT * FROM 'grid/+/telemetry'</a:t>
              </a:r>
              <a:r>
                <a:rPr b="0" lang="en" sz="1100">
                  <a:solidFill>
                    <a:srgbClr val="475569"/>
                  </a:solidFill>
                  <a:latin typeface="Inter"/>
                  <a:ea typeface="Inter"/>
                  <a:cs typeface="Inter"/>
                  <a:sym typeface="Inter"/>
                </a:rPr>
                <a:t> matches the MQTT topic and forwards the packet verbatim. Lambda receives this exact payload in its event trigger with absolutely no transformations.</a:t>
              </a:r>
              <a:endParaRPr b="0" sz="1100">
                <a:solidFill>
                  <a:srgbClr val="475569"/>
                </a:solidFill>
                <a:latin typeface="Inter"/>
                <a:ea typeface="Inter"/>
                <a:cs typeface="Inter"/>
                <a:sym typeface="Inter"/>
              </a:endParaRPr>
            </a:p>
            <a:p>
              <a:pPr indent="0" lvl="0" marL="0" rtl="0" algn="l">
                <a:spcBef>
                  <a:spcPts val="1800"/>
                </a:spcBef>
                <a:spcAft>
                  <a:spcPts val="0"/>
                </a:spcAft>
                <a:buNone/>
              </a:pPr>
              <a:r>
                <a:rPr b="0" lang="en" sz="900">
                  <a:solidFill>
                    <a:srgbClr val="64748B"/>
                  </a:solidFill>
                  <a:latin typeface="Inter SemiBold"/>
                  <a:ea typeface="Inter SemiBold"/>
                  <a:cs typeface="Inter SemiBold"/>
                  <a:sym typeface="Inter SemiBold"/>
                </a:rPr>
                <a:t>TRANSIT STATE MUTATION</a:t>
              </a:r>
              <a:endParaRPr b="0" sz="900">
                <a:solidFill>
                  <a:srgbClr val="64748B"/>
                </a:solidFill>
                <a:latin typeface="Inter SemiBold"/>
                <a:ea typeface="Inter SemiBold"/>
                <a:cs typeface="Inter SemiBold"/>
                <a:sym typeface="Inter SemiBold"/>
              </a:endParaRPr>
            </a:p>
            <a:p>
              <a:pPr indent="0" lvl="0" marL="0" rtl="0" algn="l">
                <a:spcBef>
                  <a:spcPts val="150"/>
                </a:spcBef>
                <a:spcAft>
                  <a:spcPts val="0"/>
                </a:spcAft>
                <a:buNone/>
              </a:pPr>
              <a:r>
                <a:rPr b="1" lang="en" sz="1400">
                  <a:solidFill>
                    <a:srgbClr val="10B981"/>
                  </a:solidFill>
                  <a:latin typeface="Inter"/>
                  <a:ea typeface="Inter"/>
                  <a:cs typeface="Inter"/>
                  <a:sym typeface="Inter"/>
                </a:rPr>
                <a:t>Byte-Identical </a:t>
              </a:r>
              <a:r>
                <a:rPr b="0" lang="en" sz="1000">
                  <a:solidFill>
                    <a:srgbClr val="64748B"/>
                  </a:solidFill>
                  <a:latin typeface="Inter"/>
                  <a:ea typeface="Inter"/>
                  <a:cs typeface="Inter"/>
                  <a:sym typeface="Inter"/>
                </a:rPr>
                <a:t>(No Payload Alterations)</a:t>
              </a:r>
              <a:endParaRPr b="1" sz="1400">
                <a:solidFill>
                  <a:srgbClr val="10B981"/>
                </a:solidFill>
                <a:latin typeface="Inter"/>
                <a:ea typeface="Inter"/>
                <a:cs typeface="Inter"/>
                <a:sym typeface="Inter"/>
              </a:endParaRPr>
            </a:p>
            <a:p>
              <a:pPr indent="0" lvl="0" marL="0" rtl="0" algn="l">
                <a:spcBef>
                  <a:spcPts val="1200"/>
                </a:spcBef>
                <a:spcAft>
                  <a:spcPts val="0"/>
                </a:spcAft>
                <a:buNone/>
              </a:pPr>
              <a:r>
                <a:rPr b="0" lang="en" sz="900">
                  <a:solidFill>
                    <a:srgbClr val="64748B"/>
                  </a:solidFill>
                  <a:latin typeface="Inter SemiBold"/>
                  <a:ea typeface="Inter SemiBold"/>
                  <a:cs typeface="Inter SemiBold"/>
                  <a:sym typeface="Inter SemiBold"/>
                </a:rPr>
                <a:t>ACTIVE VALIADTION PIPELINE</a:t>
              </a:r>
              <a:endParaRPr b="0" sz="900">
                <a:solidFill>
                  <a:srgbClr val="64748B"/>
                </a:solidFill>
                <a:latin typeface="Inter SemiBold"/>
                <a:ea typeface="Inter SemiBold"/>
                <a:cs typeface="Inter SemiBold"/>
                <a:sym typeface="Inter SemiBold"/>
              </a:endParaRPr>
            </a:p>
            <a:p>
              <a:pPr indent="0" lvl="0" marL="0" rtl="0" algn="l">
                <a:spcBef>
                  <a:spcPts val="150"/>
                </a:spcBef>
                <a:spcAft>
                  <a:spcPts val="0"/>
                </a:spcAft>
                <a:buNone/>
              </a:pPr>
              <a:r>
                <a:rPr b="1" lang="en" sz="1400">
                  <a:solidFill>
                    <a:srgbClr val="EF4444"/>
                  </a:solidFill>
                  <a:latin typeface="Inter"/>
                  <a:ea typeface="Inter"/>
                  <a:cs typeface="Inter"/>
                  <a:sym typeface="Inter"/>
                </a:rPr>
                <a:t>Read-Only Auditing </a:t>
              </a:r>
              <a:r>
                <a:rPr b="0" lang="en" sz="1000">
                  <a:solidFill>
                    <a:srgbClr val="64748B"/>
                  </a:solidFill>
                  <a:latin typeface="Inter"/>
                  <a:ea typeface="Inter"/>
                  <a:cs typeface="Inter"/>
                  <a:sym typeface="Inter"/>
                </a:rPr>
                <a:t>(Signature &amp; Replay Checks Run)</a:t>
              </a:r>
              <a:endParaRPr b="1" sz="1400">
                <a:solidFill>
                  <a:srgbClr val="EF4444"/>
                </a:solidFill>
                <a:latin typeface="Inter"/>
                <a:ea typeface="Inter"/>
                <a:cs typeface="Inter"/>
                <a:sym typeface="Inter"/>
              </a:endParaRPr>
            </a:p>
          </p:txBody>
        </p:sp>
      </p:grpSp>
      <p:grpSp>
        <p:nvGrpSpPr>
          <p:cNvPr id="482" name="Google Shape;482;p25"/>
          <p:cNvGrpSpPr/>
          <p:nvPr/>
        </p:nvGrpSpPr>
        <p:grpSpPr>
          <a:xfrm>
            <a:off x="4572000" y="1333500"/>
            <a:ext cx="4191000" cy="3238500"/>
            <a:chOff x="0" y="0"/>
            <a:chExt cx="4191000" cy="3238500"/>
          </a:xfrm>
        </p:grpSpPr>
        <p:sp>
          <p:nvSpPr>
            <p:cNvPr id="483" name="Google Shape;483;p25"/>
            <p:cNvSpPr/>
            <p:nvPr/>
          </p:nvSpPr>
          <p:spPr>
            <a:xfrm>
              <a:off x="0" y="0"/>
              <a:ext cx="4191000" cy="3238500"/>
            </a:xfrm>
            <a:prstGeom prst="roundRect">
              <a:avLst>
                <a:gd fmla="val 235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25"/>
            <p:cNvSpPr/>
            <p:nvPr/>
          </p:nvSpPr>
          <p:spPr>
            <a:xfrm>
              <a:off x="0" y="0"/>
              <a:ext cx="4191000" cy="381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25"/>
            <p:cNvSpPr txBox="1"/>
            <p:nvPr/>
          </p:nvSpPr>
          <p:spPr>
            <a:xfrm>
              <a:off x="228600" y="228600"/>
              <a:ext cx="3733800" cy="2781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50">
                  <a:solidFill>
                    <a:srgbClr val="38BDF8"/>
                  </a:solidFill>
                  <a:latin typeface="Courier New"/>
                  <a:ea typeface="Courier New"/>
                  <a:cs typeface="Courier New"/>
                  <a:sym typeface="Courier New"/>
                </a:rPr>
                <a:t>// lambda_function.py : lambda_handler(event, context)</a:t>
              </a:r>
              <a:endParaRPr b="1" sz="1150">
                <a:solidFill>
                  <a:srgbClr val="38BDF8"/>
                </a:solidFill>
                <a:latin typeface="Courier New"/>
                <a:ea typeface="Courier New"/>
                <a:cs typeface="Courier New"/>
                <a:sym typeface="Courier New"/>
              </a:endParaRPr>
            </a:p>
            <a:p>
              <a:pPr indent="0" lvl="0" marL="0" rtl="0" algn="l">
                <a:spcBef>
                  <a:spcPts val="750"/>
                </a:spcBef>
                <a:spcAft>
                  <a:spcPts val="0"/>
                </a:spcAft>
                <a:buNone/>
              </a:pPr>
              <a:r>
                <a:rPr b="0" lang="en" sz="1100">
                  <a:solidFill>
                    <a:srgbClr val="38BDF8"/>
                  </a:solidFill>
                  <a:latin typeface="Courier New"/>
                  <a:ea typeface="Courier New"/>
                  <a:cs typeface="Courier New"/>
                  <a:sym typeface="Courier New"/>
                </a:rPr>
                <a:t># Ingested MQTT event payload (identical to stage 2)</a:t>
              </a:r>
              <a:endParaRPr b="0" sz="1100">
                <a:solidFill>
                  <a:srgbClr val="38BDF8"/>
                </a:solidFill>
                <a:latin typeface="Courier New"/>
                <a:ea typeface="Courier New"/>
                <a:cs typeface="Courier New"/>
                <a:sym typeface="Courier New"/>
              </a:endParaRPr>
            </a:p>
            <a:p>
              <a:pPr indent="0" lvl="0" marL="0" rtl="0" algn="l">
                <a:spcBef>
                  <a:spcPts val="750"/>
                </a:spcBef>
                <a:spcAft>
                  <a:spcPts val="0"/>
                </a:spcAft>
                <a:buNone/>
              </a:pPr>
              <a:r>
                <a:rPr b="0" lang="en" sz="1100">
                  <a:solidFill>
                    <a:srgbClr val="FFFFFF"/>
                  </a:solidFill>
                  <a:latin typeface="Courier New"/>
                  <a:ea typeface="Courier New"/>
                  <a:cs typeface="Courier New"/>
                  <a:sym typeface="Courier New"/>
                </a:rPr>
                <a:t>{</a:t>
              </a:r>
              <a:endParaRPr b="0"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b="0" lang="en" sz="1100">
                  <a:solidFill>
                    <a:srgbClr val="F472B6"/>
                  </a:solidFill>
                  <a:latin typeface="Courier New"/>
                  <a:ea typeface="Courier New"/>
                  <a:cs typeface="Courier New"/>
                  <a:sym typeface="Courier New"/>
                </a:rPr>
                <a:t>"device_id"</a:t>
              </a:r>
              <a:r>
                <a:rPr b="0" lang="en" sz="1100">
                  <a:solidFill>
                    <a:srgbClr val="94A3B8"/>
                  </a:solidFill>
                  <a:latin typeface="Courier New"/>
                  <a:ea typeface="Courier New"/>
                  <a:cs typeface="Courier New"/>
                  <a:sym typeface="Courier New"/>
                </a:rPr>
                <a:t>: </a:t>
              </a:r>
              <a:r>
                <a:rPr b="0" lang="en" sz="1100">
                  <a:solidFill>
                    <a:srgbClr val="4ADE80"/>
                  </a:solidFill>
                  <a:latin typeface="Courier New"/>
                  <a:ea typeface="Courier New"/>
                  <a:cs typeface="Courier New"/>
                  <a:sym typeface="Courier New"/>
                </a:rPr>
                <a:t>"edge-device-002"</a:t>
              </a:r>
              <a:r>
                <a:rPr b="0" lang="en" sz="1100">
                  <a:solidFill>
                    <a:srgbClr val="94A3B8"/>
                  </a:solidFill>
                  <a:latin typeface="Courier New"/>
                  <a:ea typeface="Courier New"/>
                  <a:cs typeface="Courier New"/>
                  <a:sym typeface="Courier New"/>
                </a:rPr>
                <a:t>,</a:t>
              </a:r>
              <a:endParaRPr b="0" sz="110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100">
                  <a:solidFill>
                    <a:srgbClr val="F472B6"/>
                  </a:solidFill>
                  <a:latin typeface="Courier New"/>
                  <a:ea typeface="Courier New"/>
                  <a:cs typeface="Courier New"/>
                  <a:sym typeface="Courier New"/>
                </a:rPr>
                <a:t>"voltage_v"</a:t>
              </a:r>
              <a:r>
                <a:rPr b="0" lang="en" sz="1100">
                  <a:solidFill>
                    <a:srgbClr val="94A3B8"/>
                  </a:solidFill>
                  <a:latin typeface="Courier New"/>
                  <a:ea typeface="Courier New"/>
                  <a:cs typeface="Courier New"/>
                  <a:sym typeface="Courier New"/>
                </a:rPr>
                <a:t>: </a:t>
              </a:r>
              <a:r>
                <a:rPr b="0" lang="en" sz="1100">
                  <a:solidFill>
                    <a:srgbClr val="F87171"/>
                  </a:solidFill>
                  <a:latin typeface="Courier New"/>
                  <a:ea typeface="Courier New"/>
                  <a:cs typeface="Courier New"/>
                  <a:sym typeface="Courier New"/>
                </a:rPr>
                <a:t>362.4</a:t>
              </a:r>
              <a:r>
                <a:rPr b="0" lang="en" sz="1100">
                  <a:solidFill>
                    <a:srgbClr val="94A3B8"/>
                  </a:solidFill>
                  <a:latin typeface="Courier New"/>
                  <a:ea typeface="Courier New"/>
                  <a:cs typeface="Courier New"/>
                  <a:sym typeface="Courier New"/>
                </a:rPr>
                <a:t>, </a:t>
              </a:r>
              <a:r>
                <a:rPr b="1" lang="en" sz="1100">
                  <a:solidFill>
                    <a:srgbClr val="EF4444"/>
                  </a:solidFill>
                  <a:latin typeface="Courier New"/>
                  <a:ea typeface="Courier New"/>
                  <a:cs typeface="Courier New"/>
                  <a:sym typeface="Courier New"/>
                </a:rPr>
                <a:t># CRITICAL SAG (Verbatim)</a:t>
              </a:r>
              <a:endParaRPr b="0" sz="110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100">
                  <a:solidFill>
                    <a:srgbClr val="F472B6"/>
                  </a:solidFill>
                  <a:latin typeface="Courier New"/>
                  <a:ea typeface="Courier New"/>
                  <a:cs typeface="Courier New"/>
                  <a:sym typeface="Courier New"/>
                </a:rPr>
                <a:t>"seq"</a:t>
              </a:r>
              <a:r>
                <a:rPr b="0" lang="en" sz="1100">
                  <a:solidFill>
                    <a:srgbClr val="94A3B8"/>
                  </a:solidFill>
                  <a:latin typeface="Courier New"/>
                  <a:ea typeface="Courier New"/>
                  <a:cs typeface="Courier New"/>
                  <a:sym typeface="Courier New"/>
                </a:rPr>
                <a:t>: </a:t>
              </a:r>
              <a:r>
                <a:rPr b="0" lang="en" sz="1100">
                  <a:solidFill>
                    <a:srgbClr val="FB923C"/>
                  </a:solidFill>
                  <a:latin typeface="Courier New"/>
                  <a:ea typeface="Courier New"/>
                  <a:cs typeface="Courier New"/>
                  <a:sym typeface="Courier New"/>
                </a:rPr>
                <a:t>1755008527914</a:t>
              </a:r>
              <a:r>
                <a:rPr b="0" lang="en" sz="1100">
                  <a:solidFill>
                    <a:srgbClr val="94A3B8"/>
                  </a:solidFill>
                  <a:latin typeface="Courier New"/>
                  <a:ea typeface="Courier New"/>
                  <a:cs typeface="Courier New"/>
                  <a:sym typeface="Courier New"/>
                </a:rPr>
                <a:t>,</a:t>
              </a:r>
              <a:endParaRPr b="0" sz="110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100">
                  <a:solidFill>
                    <a:srgbClr val="F472B6"/>
                  </a:solidFill>
                  <a:latin typeface="Courier New"/>
                  <a:ea typeface="Courier New"/>
                  <a:cs typeface="Courier New"/>
                  <a:sym typeface="Courier New"/>
                </a:rPr>
                <a:t>"signature"</a:t>
              </a:r>
              <a:r>
                <a:rPr b="0" lang="en" sz="1100">
                  <a:solidFill>
                    <a:srgbClr val="94A3B8"/>
                  </a:solidFill>
                  <a:latin typeface="Courier New"/>
                  <a:ea typeface="Courier New"/>
                  <a:cs typeface="Courier New"/>
                  <a:sym typeface="Courier New"/>
                </a:rPr>
                <a:t>: </a:t>
              </a:r>
              <a:r>
                <a:rPr b="0" lang="en" sz="1100">
                  <a:solidFill>
                    <a:srgbClr val="4ADE80"/>
                  </a:solidFill>
                  <a:latin typeface="Courier New"/>
                  <a:ea typeface="Courier New"/>
                  <a:cs typeface="Courier New"/>
                  <a:sym typeface="Courier New"/>
                </a:rPr>
                <a:t>"7c2f9a1e4b6d8035f1a9..."</a:t>
              </a:r>
              <a:endParaRPr b="0" sz="110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100">
                  <a:solidFill>
                    <a:srgbClr val="FFFFFF"/>
                  </a:solidFill>
                  <a:latin typeface="Courier New"/>
                  <a:ea typeface="Courier New"/>
                  <a:cs typeface="Courier New"/>
                  <a:sym typeface="Courier New"/>
                </a:rPr>
                <a:t>}</a:t>
              </a:r>
              <a:endParaRPr b="0" sz="1100">
                <a:solidFill>
                  <a:srgbClr val="FFFFFF"/>
                </a:solidFill>
                <a:latin typeface="Courier New"/>
                <a:ea typeface="Courier New"/>
                <a:cs typeface="Courier New"/>
                <a:sym typeface="Courier New"/>
              </a:endParaRPr>
            </a:p>
            <a:p>
              <a:pPr indent="0" lvl="0" marL="0" rtl="0" algn="l">
                <a:spcBef>
                  <a:spcPts val="750"/>
                </a:spcBef>
                <a:spcAft>
                  <a:spcPts val="0"/>
                </a:spcAft>
                <a:buNone/>
              </a:pPr>
              <a:r>
                <a:rPr b="0" lang="en" sz="1100">
                  <a:solidFill>
                    <a:srgbClr val="94A3B8"/>
                  </a:solidFill>
                  <a:latin typeface="Courier New"/>
                  <a:ea typeface="Courier New"/>
                  <a:cs typeface="Courier New"/>
                  <a:sym typeface="Courier New"/>
                </a:rPr>
                <a:t># verify_signature() -&gt; passes</a:t>
              </a:r>
              <a:endParaRPr b="0" sz="110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100">
                  <a:solidFill>
                    <a:srgbClr val="94A3B8"/>
                  </a:solidFill>
                  <a:latin typeface="Courier New"/>
                  <a:ea typeface="Courier New"/>
                  <a:cs typeface="Courier New"/>
                  <a:sym typeface="Courier New"/>
                </a:rPr>
                <a:t># check_replay() -&gt; passes</a:t>
              </a:r>
              <a:endParaRPr b="0" sz="110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100">
                  <a:solidFill>
                    <a:srgbClr val="94A3B8"/>
                  </a:solidFill>
                  <a:latin typeface="Courier New"/>
                  <a:ea typeface="Courier New"/>
                  <a:cs typeface="Courier New"/>
                  <a:sym typeface="Courier New"/>
                </a:rPr>
                <a:t># validate_inputs() -&gt; triggers model inference next</a:t>
              </a:r>
              <a:endParaRPr b="0" sz="1100">
                <a:solidFill>
                  <a:srgbClr val="94A3B8"/>
                </a:solidFill>
                <a:latin typeface="Courier New"/>
                <a:ea typeface="Courier New"/>
                <a:cs typeface="Courier New"/>
                <a:sym typeface="Courier New"/>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2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26"/>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26"/>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6"/>
          <p:cNvSpPr txBox="1"/>
          <p:nvPr/>
        </p:nvSpPr>
        <p:spPr>
          <a:xfrm>
            <a:off x="381000" y="3810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70">
                <a:solidFill>
                  <a:srgbClr val="0F172A"/>
                </a:solidFill>
                <a:latin typeface="Inter"/>
                <a:ea typeface="Inter"/>
                <a:cs typeface="Inter"/>
                <a:sym typeface="Inter"/>
              </a:rPr>
              <a:t>5. Narrowed for SageMaker (lambda_function.py: invoke_sagemaker())</a:t>
            </a:r>
            <a:endParaRPr b="1" sz="1870">
              <a:solidFill>
                <a:srgbClr val="0F172A"/>
              </a:solidFill>
              <a:latin typeface="Inter"/>
              <a:ea typeface="Inter"/>
              <a:cs typeface="Inter"/>
              <a:sym typeface="Inter"/>
            </a:endParaRPr>
          </a:p>
          <a:p>
            <a:pPr indent="0" lvl="0" marL="0" rtl="0" algn="l">
              <a:spcBef>
                <a:spcPts val="338"/>
              </a:spcBef>
              <a:spcAft>
                <a:spcPts val="0"/>
              </a:spcAft>
              <a:buNone/>
            </a:pPr>
            <a:r>
              <a:rPr b="0" lang="en" sz="978">
                <a:solidFill>
                  <a:srgbClr val="475569"/>
                </a:solidFill>
                <a:latin typeface="Inter"/>
                <a:ea typeface="Inter"/>
                <a:cs typeface="Inter"/>
                <a:sym typeface="Inter"/>
              </a:rPr>
              <a:t>Changed: 10 fields → 5. device_id, timestamp, seq, nonce, and signature are all security/routing metadata the model has no use for — SageMaker only ever sees the 5 numbers it was trained on.</a:t>
            </a:r>
            <a:endParaRPr b="0" sz="978">
              <a:solidFill>
                <a:srgbClr val="475569"/>
              </a:solidFill>
              <a:latin typeface="Inter"/>
              <a:ea typeface="Inter"/>
              <a:cs typeface="Inter"/>
              <a:sym typeface="Inter"/>
            </a:endParaRPr>
          </a:p>
        </p:txBody>
      </p:sp>
      <p:grpSp>
        <p:nvGrpSpPr>
          <p:cNvPr id="494" name="Google Shape;494;p26"/>
          <p:cNvGrpSpPr/>
          <p:nvPr/>
        </p:nvGrpSpPr>
        <p:grpSpPr>
          <a:xfrm>
            <a:off x="381000" y="1333500"/>
            <a:ext cx="3905400" cy="3238500"/>
            <a:chOff x="0" y="0"/>
            <a:chExt cx="3905400" cy="3238500"/>
          </a:xfrm>
        </p:grpSpPr>
        <p:sp>
          <p:nvSpPr>
            <p:cNvPr id="495" name="Google Shape;495;p26"/>
            <p:cNvSpPr/>
            <p:nvPr/>
          </p:nvSpPr>
          <p:spPr>
            <a:xfrm>
              <a:off x="0" y="0"/>
              <a:ext cx="39054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26"/>
            <p:cNvSpPr txBox="1"/>
            <p:nvPr/>
          </p:nvSpPr>
          <p:spPr>
            <a:xfrm>
              <a:off x="190500" y="190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284C7"/>
                  </a:solidFill>
                  <a:latin typeface="Inter"/>
                  <a:ea typeface="Inter"/>
                  <a:cs typeface="Inter"/>
                  <a:sym typeface="Inter"/>
                </a:rPr>
                <a:t>MODEL INPUT OPTIMIZATION</a:t>
              </a:r>
              <a:endParaRPr b="1" sz="850">
                <a:solidFill>
                  <a:srgbClr val="0284C7"/>
                </a:solidFill>
                <a:latin typeface="Inter"/>
                <a:ea typeface="Inter"/>
                <a:cs typeface="Inter"/>
                <a:sym typeface="Inter"/>
              </a:endParaRPr>
            </a:p>
            <a:p>
              <a:pPr indent="0" lvl="0" marL="0" rtl="0" algn="l">
                <a:spcBef>
                  <a:spcPts val="450"/>
                </a:spcBef>
                <a:spcAft>
                  <a:spcPts val="0"/>
                </a:spcAft>
                <a:buNone/>
              </a:pPr>
              <a:r>
                <a:rPr b="1" lang="en" sz="1600">
                  <a:solidFill>
                    <a:srgbClr val="0F172A"/>
                  </a:solidFill>
                  <a:latin typeface="Inter"/>
                  <a:ea typeface="Inter"/>
                  <a:cs typeface="Inter"/>
                  <a:sym typeface="Inter"/>
                </a:rPr>
                <a:t>Feature Extraction</a:t>
              </a:r>
              <a:endParaRPr b="1" sz="1600">
                <a:solidFill>
                  <a:srgbClr val="0F172A"/>
                </a:solidFill>
                <a:latin typeface="Inter"/>
                <a:ea typeface="Inter"/>
                <a:cs typeface="Inter"/>
                <a:sym typeface="Inter"/>
              </a:endParaRPr>
            </a:p>
            <a:p>
              <a:pPr indent="0" lvl="0" marL="0" rtl="0" algn="l">
                <a:spcBef>
                  <a:spcPts val="675"/>
                </a:spcBef>
                <a:spcAft>
                  <a:spcPts val="0"/>
                </a:spcAft>
                <a:buNone/>
              </a:pPr>
              <a:r>
                <a:rPr b="0" lang="en" sz="1100">
                  <a:solidFill>
                    <a:srgbClr val="475569"/>
                  </a:solidFill>
                  <a:latin typeface="Inter"/>
                  <a:ea typeface="Inter"/>
                  <a:cs typeface="Inter"/>
                  <a:sym typeface="Inter"/>
                </a:rPr>
                <a:t>The system strips away metadata to insulate the ML model. Stripping high-cardinality keys prevents overfitting and avoids passing non-predictive operational variables during live inference spikes.</a:t>
              </a:r>
              <a:endParaRPr b="0" sz="1100">
                <a:solidFill>
                  <a:srgbClr val="475569"/>
                </a:solidFill>
                <a:latin typeface="Inter"/>
                <a:ea typeface="Inter"/>
                <a:cs typeface="Inter"/>
                <a:sym typeface="Inter"/>
              </a:endParaRPr>
            </a:p>
            <a:p>
              <a:pPr indent="0" lvl="0" marL="0" rtl="0" algn="l">
                <a:spcBef>
                  <a:spcPts val="1350"/>
                </a:spcBef>
                <a:spcAft>
                  <a:spcPts val="0"/>
                </a:spcAft>
                <a:buNone/>
              </a:pPr>
              <a:r>
                <a:rPr b="0" lang="en" sz="900">
                  <a:solidFill>
                    <a:srgbClr val="64748B"/>
                  </a:solidFill>
                  <a:latin typeface="Inter SemiBold"/>
                  <a:ea typeface="Inter SemiBold"/>
                  <a:cs typeface="Inter SemiBold"/>
                  <a:sym typeface="Inter SemiBold"/>
                </a:rPr>
                <a:t>DATA REDUCTION</a:t>
              </a:r>
              <a:endParaRPr b="0" sz="900">
                <a:solidFill>
                  <a:srgbClr val="64748B"/>
                </a:solidFill>
                <a:latin typeface="Inter SemiBold"/>
                <a:ea typeface="Inter SemiBold"/>
                <a:cs typeface="Inter SemiBold"/>
                <a:sym typeface="Inter SemiBold"/>
              </a:endParaRPr>
            </a:p>
            <a:p>
              <a:pPr indent="0" lvl="0" marL="0" rtl="0" algn="l">
                <a:spcBef>
                  <a:spcPts val="113"/>
                </a:spcBef>
                <a:spcAft>
                  <a:spcPts val="0"/>
                </a:spcAft>
                <a:buNone/>
              </a:pPr>
              <a:r>
                <a:rPr b="1" lang="en" sz="1400">
                  <a:solidFill>
                    <a:srgbClr val="EF4444"/>
                  </a:solidFill>
                  <a:latin typeface="Inter"/>
                  <a:ea typeface="Inter"/>
                  <a:cs typeface="Inter"/>
                  <a:sym typeface="Inter"/>
                </a:rPr>
                <a:t>10 Fields → 5 Fields </a:t>
              </a:r>
              <a:r>
                <a:rPr b="0" lang="en" sz="1000">
                  <a:solidFill>
                    <a:srgbClr val="64748B"/>
                  </a:solidFill>
                  <a:latin typeface="Inter"/>
                  <a:ea typeface="Inter"/>
                  <a:cs typeface="Inter"/>
                  <a:sym typeface="Inter"/>
                </a:rPr>
                <a:t>(Only Pure Metrics Passed)</a:t>
              </a:r>
              <a:endParaRPr b="1" sz="1400">
                <a:solidFill>
                  <a:srgbClr val="EF4444"/>
                </a:solidFill>
                <a:latin typeface="Inter"/>
                <a:ea typeface="Inter"/>
                <a:cs typeface="Inter"/>
                <a:sym typeface="Inter"/>
              </a:endParaRPr>
            </a:p>
            <a:p>
              <a:pPr indent="0" lvl="0" marL="0" rtl="0" algn="l">
                <a:spcBef>
                  <a:spcPts val="900"/>
                </a:spcBef>
                <a:spcAft>
                  <a:spcPts val="0"/>
                </a:spcAft>
                <a:buNone/>
              </a:pPr>
              <a:r>
                <a:rPr b="0" lang="en" sz="900">
                  <a:solidFill>
                    <a:srgbClr val="64748B"/>
                  </a:solidFill>
                  <a:latin typeface="Inter SemiBold"/>
                  <a:ea typeface="Inter SemiBold"/>
                  <a:cs typeface="Inter SemiBold"/>
                  <a:sym typeface="Inter SemiBold"/>
                </a:rPr>
                <a:t>EXCLUDED METADATA</a:t>
              </a:r>
              <a:endParaRPr b="0" sz="900">
                <a:solidFill>
                  <a:srgbClr val="64748B"/>
                </a:solidFill>
                <a:latin typeface="Inter SemiBold"/>
                <a:ea typeface="Inter SemiBold"/>
                <a:cs typeface="Inter SemiBold"/>
                <a:sym typeface="Inter SemiBold"/>
              </a:endParaRPr>
            </a:p>
            <a:p>
              <a:pPr indent="0" lvl="0" marL="0" rtl="0" algn="l">
                <a:spcBef>
                  <a:spcPts val="113"/>
                </a:spcBef>
                <a:spcAft>
                  <a:spcPts val="0"/>
                </a:spcAft>
                <a:buNone/>
              </a:pPr>
              <a:r>
                <a:rPr b="1" lang="en" sz="1400">
                  <a:solidFill>
                    <a:srgbClr val="EF4444"/>
                  </a:solidFill>
                  <a:latin typeface="Inter"/>
                  <a:ea typeface="Inter"/>
                  <a:cs typeface="Inter"/>
                  <a:sym typeface="Inter"/>
                </a:rPr>
                <a:t>Security &amp; Routing </a:t>
              </a:r>
              <a:r>
                <a:rPr b="0" lang="en" sz="1000">
                  <a:solidFill>
                    <a:srgbClr val="64748B"/>
                  </a:solidFill>
                  <a:latin typeface="Inter"/>
                  <a:ea typeface="Inter"/>
                  <a:cs typeface="Inter"/>
                  <a:sym typeface="Inter"/>
                </a:rPr>
                <a:t>(seq, nonce, signature, etc.)</a:t>
              </a:r>
              <a:endParaRPr/>
            </a:p>
          </p:txBody>
        </p:sp>
      </p:grpSp>
      <p:grpSp>
        <p:nvGrpSpPr>
          <p:cNvPr id="497" name="Google Shape;497;p26"/>
          <p:cNvGrpSpPr/>
          <p:nvPr/>
        </p:nvGrpSpPr>
        <p:grpSpPr>
          <a:xfrm>
            <a:off x="4572000" y="1333500"/>
            <a:ext cx="4191000" cy="3238500"/>
            <a:chOff x="0" y="0"/>
            <a:chExt cx="4191000" cy="3238500"/>
          </a:xfrm>
        </p:grpSpPr>
        <p:sp>
          <p:nvSpPr>
            <p:cNvPr id="498" name="Google Shape;498;p26"/>
            <p:cNvSpPr/>
            <p:nvPr/>
          </p:nvSpPr>
          <p:spPr>
            <a:xfrm>
              <a:off x="0" y="0"/>
              <a:ext cx="4191000" cy="3238500"/>
            </a:xfrm>
            <a:prstGeom prst="roundRect">
              <a:avLst>
                <a:gd fmla="val 235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26"/>
            <p:cNvSpPr/>
            <p:nvPr/>
          </p:nvSpPr>
          <p:spPr>
            <a:xfrm>
              <a:off x="0" y="0"/>
              <a:ext cx="4191000" cy="381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26"/>
            <p:cNvSpPr txBox="1"/>
            <p:nvPr/>
          </p:nvSpPr>
          <p:spPr>
            <a:xfrm>
              <a:off x="228600" y="228600"/>
              <a:ext cx="37338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38BDF8"/>
                  </a:solidFill>
                  <a:latin typeface="Courier New"/>
                  <a:ea typeface="Courier New"/>
                  <a:cs typeface="Courier New"/>
                  <a:sym typeface="Courier New"/>
                </a:rPr>
                <a:t>// lambda_function.py : invoke_sagemaker()</a:t>
              </a:r>
              <a:endParaRPr b="1" sz="1050">
                <a:solidFill>
                  <a:srgbClr val="38BDF8"/>
                </a:solidFill>
                <a:latin typeface="Courier New"/>
                <a:ea typeface="Courier New"/>
                <a:cs typeface="Courier New"/>
                <a:sym typeface="Courier New"/>
              </a:endParaRPr>
            </a:p>
            <a:p>
              <a:pPr indent="0" lvl="0" marL="0" rtl="0" algn="l">
                <a:spcBef>
                  <a:spcPts val="563"/>
                </a:spcBef>
                <a:spcAft>
                  <a:spcPts val="0"/>
                </a:spcAft>
                <a:buNone/>
              </a:pPr>
              <a:r>
                <a:rPr b="0" lang="en" sz="1050">
                  <a:solidFill>
                    <a:srgbClr val="94A3B8"/>
                  </a:solidFill>
                  <a:latin typeface="Courier New"/>
                  <a:ea typeface="Courier New"/>
                  <a:cs typeface="Courier New"/>
                  <a:sym typeface="Courier New"/>
                </a:rPr>
                <a:t># Stripped of cryptographic wrappers &amp; routing metadata</a:t>
              </a:r>
              <a:endParaRPr b="0" sz="1050">
                <a:solidFill>
                  <a:srgbClr val="94A3B8"/>
                </a:solidFill>
                <a:latin typeface="Courier New"/>
                <a:ea typeface="Courier New"/>
                <a:cs typeface="Courier New"/>
                <a:sym typeface="Courier New"/>
              </a:endParaRPr>
            </a:p>
            <a:p>
              <a:pPr indent="0" lvl="0" marL="0" rtl="0" algn="l">
                <a:spcBef>
                  <a:spcPts val="563"/>
                </a:spcBef>
                <a:spcAft>
                  <a:spcPts val="0"/>
                </a:spcAft>
                <a:buNone/>
              </a:pPr>
              <a:r>
                <a:rPr b="0" lang="en" sz="1050">
                  <a:solidFill>
                    <a:srgbClr val="FFFFFF"/>
                  </a:solidFill>
                  <a:latin typeface="Courier New"/>
                  <a:ea typeface="Courier New"/>
                  <a:cs typeface="Courier New"/>
                  <a:sym typeface="Courier New"/>
                </a:rPr>
                <a:t>{</a:t>
              </a:r>
              <a:endParaRPr b="0" sz="1050">
                <a:solidFill>
                  <a:srgbClr val="FFFFFF"/>
                </a:solidFill>
                <a:latin typeface="Courier New"/>
                <a:ea typeface="Courier New"/>
                <a:cs typeface="Courier New"/>
                <a:sym typeface="Courier New"/>
              </a:endParaRPr>
            </a:p>
            <a:p>
              <a:pPr indent="0" lvl="0" marL="190500" marR="0" rtl="0" algn="l">
                <a:spcBef>
                  <a:spcPts val="0"/>
                </a:spcBef>
                <a:spcAft>
                  <a:spcPts val="0"/>
                </a:spcAft>
                <a:buNone/>
              </a:pPr>
              <a:r>
                <a:rPr b="0" lang="en" sz="1050">
                  <a:solidFill>
                    <a:srgbClr val="F472B6"/>
                  </a:solidFill>
                  <a:latin typeface="Courier New"/>
                  <a:ea typeface="Courier New"/>
                  <a:cs typeface="Courier New"/>
                  <a:sym typeface="Courier New"/>
                </a:rPr>
                <a:t>"voltage_v"</a:t>
              </a:r>
              <a:r>
                <a:rPr b="0" lang="en" sz="1050">
                  <a:solidFill>
                    <a:srgbClr val="94A3B8"/>
                  </a:solidFill>
                  <a:latin typeface="Courier New"/>
                  <a:ea typeface="Courier New"/>
                  <a:cs typeface="Courier New"/>
                  <a:sym typeface="Courier New"/>
                </a:rPr>
                <a:t>: </a:t>
              </a:r>
              <a:r>
                <a:rPr b="1" lang="en" sz="1050">
                  <a:solidFill>
                    <a:srgbClr val="FB923C"/>
                  </a:solidFill>
                  <a:latin typeface="Courier New"/>
                  <a:ea typeface="Courier New"/>
                  <a:cs typeface="Courier New"/>
                  <a:sym typeface="Courier New"/>
                </a:rPr>
                <a:t>362.4</a:t>
              </a:r>
              <a:r>
                <a:rPr b="0" lang="en" sz="1050">
                  <a:solidFill>
                    <a:srgbClr val="94A3B8"/>
                  </a:solidFill>
                  <a:latin typeface="Courier New"/>
                  <a:ea typeface="Courier New"/>
                  <a:cs typeface="Courier New"/>
                  <a:sym typeface="Courier New"/>
                </a:rPr>
                <a:t>, # Volt sag</a:t>
              </a:r>
              <a:endParaRPr b="0" sz="1050">
                <a:solidFill>
                  <a:srgbClr val="94A3B8"/>
                </a:solidFill>
                <a:latin typeface="Courier New"/>
                <a:ea typeface="Courier New"/>
                <a:cs typeface="Courier New"/>
                <a:sym typeface="Courier New"/>
              </a:endParaRPr>
            </a:p>
            <a:p>
              <a:pPr indent="0" lvl="0" marL="190500" marR="0" rtl="0" algn="l">
                <a:spcBef>
                  <a:spcPts val="0"/>
                </a:spcBef>
                <a:spcAft>
                  <a:spcPts val="0"/>
                </a:spcAft>
                <a:buNone/>
              </a:pPr>
              <a:r>
                <a:rPr b="0" lang="en" sz="1050">
                  <a:solidFill>
                    <a:srgbClr val="F472B6"/>
                  </a:solidFill>
                  <a:latin typeface="Courier New"/>
                  <a:ea typeface="Courier New"/>
                  <a:cs typeface="Courier New"/>
                  <a:sym typeface="Courier New"/>
                </a:rPr>
                <a:t>"current_a"</a:t>
              </a:r>
              <a:r>
                <a:rPr b="0" lang="en" sz="1050">
                  <a:solidFill>
                    <a:srgbClr val="94A3B8"/>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78.6</a:t>
              </a:r>
              <a:r>
                <a:rPr b="0" lang="en" sz="1050">
                  <a:solidFill>
                    <a:srgbClr val="94A3B8"/>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90500" marR="0" rtl="0" algn="l">
                <a:spcBef>
                  <a:spcPts val="0"/>
                </a:spcBef>
                <a:spcAft>
                  <a:spcPts val="0"/>
                </a:spcAft>
                <a:buNone/>
              </a:pPr>
              <a:r>
                <a:rPr b="0" lang="en" sz="1050">
                  <a:solidFill>
                    <a:srgbClr val="F472B6"/>
                  </a:solidFill>
                  <a:latin typeface="Courier New"/>
                  <a:ea typeface="Courier New"/>
                  <a:cs typeface="Courier New"/>
                  <a:sym typeface="Courier New"/>
                </a:rPr>
                <a:t>"frequency_hz"</a:t>
              </a:r>
              <a:r>
                <a:rPr b="0" lang="en" sz="1050">
                  <a:solidFill>
                    <a:srgbClr val="94A3B8"/>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49.98</a:t>
              </a:r>
              <a:r>
                <a:rPr b="0" lang="en" sz="1050">
                  <a:solidFill>
                    <a:srgbClr val="94A3B8"/>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90500" marR="0" rtl="0" algn="l">
                <a:spcBef>
                  <a:spcPts val="0"/>
                </a:spcBef>
                <a:spcAft>
                  <a:spcPts val="0"/>
                </a:spcAft>
                <a:buNone/>
              </a:pPr>
              <a:r>
                <a:rPr b="0" lang="en" sz="1050">
                  <a:solidFill>
                    <a:srgbClr val="F472B6"/>
                  </a:solidFill>
                  <a:latin typeface="Courier New"/>
                  <a:ea typeface="Courier New"/>
                  <a:cs typeface="Courier New"/>
                  <a:sym typeface="Courier New"/>
                </a:rPr>
                <a:t>"temperature_c"</a:t>
              </a:r>
              <a:r>
                <a:rPr b="0" lang="en" sz="1050">
                  <a:solidFill>
                    <a:srgbClr val="94A3B8"/>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41.2</a:t>
              </a:r>
              <a:r>
                <a:rPr b="0" lang="en" sz="1050">
                  <a:solidFill>
                    <a:srgbClr val="94A3B8"/>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90500" marR="0" rtl="0" algn="l">
                <a:spcBef>
                  <a:spcPts val="0"/>
                </a:spcBef>
                <a:spcAft>
                  <a:spcPts val="0"/>
                </a:spcAft>
                <a:buNone/>
              </a:pPr>
              <a:r>
                <a:rPr b="0" lang="en" sz="1050">
                  <a:solidFill>
                    <a:srgbClr val="F472B6"/>
                  </a:solidFill>
                  <a:latin typeface="Courier New"/>
                  <a:ea typeface="Courier New"/>
                  <a:cs typeface="Courier New"/>
                  <a:sym typeface="Courier New"/>
                </a:rPr>
                <a:t>"power_factor"</a:t>
              </a:r>
              <a:r>
                <a:rPr b="0" lang="en" sz="1050">
                  <a:solidFill>
                    <a:srgbClr val="94A3B8"/>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0.947</a:t>
              </a:r>
              <a:endParaRPr b="0" sz="105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050">
                  <a:solidFill>
                    <a:srgbClr val="FFFFFF"/>
                  </a:solidFill>
                  <a:latin typeface="Courier New"/>
                  <a:ea typeface="Courier New"/>
                  <a:cs typeface="Courier New"/>
                  <a:sym typeface="Courier New"/>
                </a:rPr>
                <a:t>}</a:t>
              </a:r>
              <a:endParaRPr b="0" sz="1050">
                <a:solidFill>
                  <a:srgbClr val="FFFFFF"/>
                </a:solidFill>
                <a:latin typeface="Courier New"/>
                <a:ea typeface="Courier New"/>
                <a:cs typeface="Courier New"/>
                <a:sym typeface="Courier New"/>
              </a:endParaRPr>
            </a:p>
            <a:p>
              <a:pPr indent="0" lvl="0" marL="0" rtl="0" algn="l">
                <a:spcBef>
                  <a:spcPts val="1125"/>
                </a:spcBef>
                <a:spcAft>
                  <a:spcPts val="0"/>
                </a:spcAft>
                <a:buNone/>
              </a:pPr>
              <a:r>
                <a:rPr b="0" lang="en" sz="1050">
                  <a:solidFill>
                    <a:srgbClr val="94A3B8"/>
                  </a:solidFill>
                  <a:latin typeface="Courier New"/>
                  <a:ea typeface="Courier New"/>
                  <a:cs typeface="Courier New"/>
                  <a:sym typeface="Courier New"/>
                </a:rPr>
                <a:t># 5 exact numeric inputs model was trained on</a:t>
              </a:r>
              <a:endParaRPr b="0" sz="105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050">
                  <a:solidFill>
                    <a:srgbClr val="94A3B8"/>
                  </a:solidFill>
                  <a:latin typeface="Courier New"/>
                  <a:ea typeface="Courier New"/>
                  <a:cs typeface="Courier New"/>
                  <a:sym typeface="Courier New"/>
                </a:rPr>
                <a:t># payload sent verbatim to SageMaker endpoint</a:t>
              </a:r>
              <a:endParaRPr b="0" sz="1050">
                <a:solidFill>
                  <a:srgbClr val="94A3B8"/>
                </a:solidFill>
                <a:latin typeface="Courier New"/>
                <a:ea typeface="Courier New"/>
                <a:cs typeface="Courier New"/>
                <a:sym typeface="Courier New"/>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p27"/>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7" name="Google Shape;507;p27"/>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27"/>
          <p:cNvSpPr txBox="1"/>
          <p:nvPr/>
        </p:nvSpPr>
        <p:spPr>
          <a:xfrm>
            <a:off x="381000" y="3810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0F172A"/>
                </a:solidFill>
                <a:latin typeface="Inter"/>
                <a:ea typeface="Inter"/>
                <a:cs typeface="Inter"/>
                <a:sym typeface="Inter"/>
              </a:rPr>
              <a:t>6. SageMaker's Response (inference.py: predict_fn())</a:t>
            </a:r>
            <a:endParaRPr b="1" sz="2200">
              <a:solidFill>
                <a:srgbClr val="0F172A"/>
              </a:solidFill>
              <a:latin typeface="Inter"/>
              <a:ea typeface="Inter"/>
              <a:cs typeface="Inter"/>
              <a:sym typeface="Inter"/>
            </a:endParaRPr>
          </a:p>
          <a:p>
            <a:pPr indent="0" lvl="0" marL="0" rtl="0" algn="l">
              <a:spcBef>
                <a:spcPts val="338"/>
              </a:spcBef>
              <a:spcAft>
                <a:spcPts val="0"/>
              </a:spcAft>
              <a:buNone/>
            </a:pPr>
            <a:r>
              <a:rPr b="0" lang="en" sz="1150">
                <a:solidFill>
                  <a:srgbClr val="475569"/>
                </a:solidFill>
                <a:latin typeface="Inter"/>
                <a:ea typeface="Inter"/>
                <a:cs typeface="Inter"/>
                <a:sym typeface="Inter"/>
              </a:rPr>
              <a:t>Changed: an entirely new object — nothing from the request is echoed back. Internally, input_fn() first normalizes the 5 raw floats with the same MinMaxScaler values the notebook fit during training, before the DQN ever sees them.</a:t>
            </a:r>
            <a:endParaRPr b="0" sz="1150">
              <a:solidFill>
                <a:srgbClr val="475569"/>
              </a:solidFill>
              <a:latin typeface="Inter"/>
              <a:ea typeface="Inter"/>
              <a:cs typeface="Inter"/>
              <a:sym typeface="Inter"/>
            </a:endParaRPr>
          </a:p>
        </p:txBody>
      </p:sp>
      <p:grpSp>
        <p:nvGrpSpPr>
          <p:cNvPr id="509" name="Google Shape;509;p27"/>
          <p:cNvGrpSpPr/>
          <p:nvPr/>
        </p:nvGrpSpPr>
        <p:grpSpPr>
          <a:xfrm>
            <a:off x="381000" y="1333500"/>
            <a:ext cx="3905400" cy="3238500"/>
            <a:chOff x="0" y="0"/>
            <a:chExt cx="3905400" cy="3238500"/>
          </a:xfrm>
        </p:grpSpPr>
        <p:sp>
          <p:nvSpPr>
            <p:cNvPr id="510" name="Google Shape;510;p27"/>
            <p:cNvSpPr/>
            <p:nvPr/>
          </p:nvSpPr>
          <p:spPr>
            <a:xfrm>
              <a:off x="0" y="0"/>
              <a:ext cx="39054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27"/>
            <p:cNvSpPr txBox="1"/>
            <p:nvPr/>
          </p:nvSpPr>
          <p:spPr>
            <a:xfrm>
              <a:off x="190500" y="190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284C7"/>
                  </a:solidFill>
                  <a:latin typeface="Inter"/>
                  <a:ea typeface="Inter"/>
                  <a:cs typeface="Inter"/>
                  <a:sym typeface="Inter"/>
                </a:rPr>
                <a:t>DECISION ENGINE INFERENCE</a:t>
              </a:r>
              <a:endParaRPr b="1" sz="850">
                <a:solidFill>
                  <a:srgbClr val="0284C7"/>
                </a:solidFill>
                <a:latin typeface="Inter"/>
                <a:ea typeface="Inter"/>
                <a:cs typeface="Inter"/>
                <a:sym typeface="Inter"/>
              </a:endParaRPr>
            </a:p>
            <a:p>
              <a:pPr indent="0" lvl="0" marL="0" rtl="0" algn="l">
                <a:spcBef>
                  <a:spcPts val="450"/>
                </a:spcBef>
                <a:spcAft>
                  <a:spcPts val="0"/>
                </a:spcAft>
                <a:buNone/>
              </a:pPr>
              <a:r>
                <a:rPr b="1" lang="en" sz="1600">
                  <a:solidFill>
                    <a:srgbClr val="0F172A"/>
                  </a:solidFill>
                  <a:latin typeface="Inter"/>
                  <a:ea typeface="Inter"/>
                  <a:cs typeface="Inter"/>
                  <a:sym typeface="Inter"/>
                </a:rPr>
                <a:t>Reinforcement Learning Action</a:t>
              </a:r>
              <a:endParaRPr b="1" sz="1600">
                <a:solidFill>
                  <a:srgbClr val="0F172A"/>
                </a:solidFill>
                <a:latin typeface="Inter"/>
                <a:ea typeface="Inter"/>
                <a:cs typeface="Inter"/>
                <a:sym typeface="Inter"/>
              </a:endParaRPr>
            </a:p>
            <a:p>
              <a:pPr indent="0" lvl="0" marL="0" rtl="0" algn="l">
                <a:spcBef>
                  <a:spcPts val="675"/>
                </a:spcBef>
                <a:spcAft>
                  <a:spcPts val="0"/>
                </a:spcAft>
                <a:buNone/>
              </a:pPr>
              <a:r>
                <a:rPr b="0" lang="en" sz="1100">
                  <a:solidFill>
                    <a:srgbClr val="475569"/>
                  </a:solidFill>
                  <a:latin typeface="Inter"/>
                  <a:ea typeface="Inter"/>
                  <a:cs typeface="Inter"/>
                  <a:sym typeface="Inter"/>
                </a:rPr>
                <a:t>The system outputs an entirely decoupled object containing the policy evaluation. The input_fn() uses MinMaxScaler weights fit during offline training to prepare live telemetry arrays for the network.</a:t>
              </a:r>
              <a:endParaRPr b="0" sz="1100">
                <a:solidFill>
                  <a:srgbClr val="475569"/>
                </a:solidFill>
                <a:latin typeface="Inter"/>
                <a:ea typeface="Inter"/>
                <a:cs typeface="Inter"/>
                <a:sym typeface="Inter"/>
              </a:endParaRPr>
            </a:p>
            <a:p>
              <a:pPr indent="0" lvl="0" marL="0" rtl="0" algn="l">
                <a:spcBef>
                  <a:spcPts val="1350"/>
                </a:spcBef>
                <a:spcAft>
                  <a:spcPts val="0"/>
                </a:spcAft>
                <a:buNone/>
              </a:pPr>
              <a:r>
                <a:rPr b="0" lang="en" sz="900">
                  <a:solidFill>
                    <a:srgbClr val="64748B"/>
                  </a:solidFill>
                  <a:latin typeface="Inter SemiBold"/>
                  <a:ea typeface="Inter SemiBold"/>
                  <a:cs typeface="Inter SemiBold"/>
                  <a:sym typeface="Inter SemiBold"/>
                </a:rPr>
                <a:t>NORMALIZATION PIPELINE</a:t>
              </a:r>
              <a:endParaRPr b="0" sz="900">
                <a:solidFill>
                  <a:srgbClr val="64748B"/>
                </a:solidFill>
                <a:latin typeface="Inter SemiBold"/>
                <a:ea typeface="Inter SemiBold"/>
                <a:cs typeface="Inter SemiBold"/>
                <a:sym typeface="Inter SemiBold"/>
              </a:endParaRPr>
            </a:p>
            <a:p>
              <a:pPr indent="0" lvl="0" marL="0" rtl="0" algn="l">
                <a:spcBef>
                  <a:spcPts val="113"/>
                </a:spcBef>
                <a:spcAft>
                  <a:spcPts val="0"/>
                </a:spcAft>
                <a:buNone/>
              </a:pPr>
              <a:r>
                <a:rPr b="1" lang="en" sz="1400">
                  <a:solidFill>
                    <a:srgbClr val="10B981"/>
                  </a:solidFill>
                  <a:latin typeface="Inter"/>
                  <a:ea typeface="Inter"/>
                  <a:cs typeface="Inter"/>
                  <a:sym typeface="Inter"/>
                </a:rPr>
                <a:t>MinMaxScaler </a:t>
              </a:r>
              <a:r>
                <a:rPr b="0" lang="en" sz="1000">
                  <a:solidFill>
                    <a:srgbClr val="64748B"/>
                  </a:solidFill>
                  <a:latin typeface="Inter"/>
                  <a:ea typeface="Inter"/>
                  <a:cs typeface="Inter"/>
                  <a:sym typeface="Inter"/>
                </a:rPr>
                <a:t>(State Scaled 0 to 1)</a:t>
              </a:r>
              <a:endParaRPr b="1" sz="1400">
                <a:solidFill>
                  <a:srgbClr val="10B981"/>
                </a:solidFill>
                <a:latin typeface="Inter"/>
                <a:ea typeface="Inter"/>
                <a:cs typeface="Inter"/>
                <a:sym typeface="Inter"/>
              </a:endParaRPr>
            </a:p>
            <a:p>
              <a:pPr indent="0" lvl="0" marL="0" rtl="0" algn="l">
                <a:spcBef>
                  <a:spcPts val="900"/>
                </a:spcBef>
                <a:spcAft>
                  <a:spcPts val="0"/>
                </a:spcAft>
                <a:buNone/>
              </a:pPr>
              <a:r>
                <a:rPr b="0" lang="en" sz="900">
                  <a:solidFill>
                    <a:srgbClr val="64748B"/>
                  </a:solidFill>
                  <a:latin typeface="Inter SemiBold"/>
                  <a:ea typeface="Inter SemiBold"/>
                  <a:cs typeface="Inter SemiBold"/>
                  <a:sym typeface="Inter SemiBold"/>
                </a:rPr>
                <a:t>DECISION FRAMEWORK</a:t>
              </a:r>
              <a:endParaRPr b="0" sz="900">
                <a:solidFill>
                  <a:srgbClr val="64748B"/>
                </a:solidFill>
                <a:latin typeface="Inter SemiBold"/>
                <a:ea typeface="Inter SemiBold"/>
                <a:cs typeface="Inter SemiBold"/>
                <a:sym typeface="Inter SemiBold"/>
              </a:endParaRPr>
            </a:p>
            <a:p>
              <a:pPr indent="0" lvl="0" marL="0" rtl="0" algn="l">
                <a:spcBef>
                  <a:spcPts val="113"/>
                </a:spcBef>
                <a:spcAft>
                  <a:spcPts val="0"/>
                </a:spcAft>
                <a:buNone/>
              </a:pPr>
              <a:r>
                <a:rPr b="1" lang="en" sz="1400">
                  <a:solidFill>
                    <a:srgbClr val="0284C7"/>
                  </a:solidFill>
                  <a:latin typeface="Inter"/>
                  <a:ea typeface="Inter"/>
                  <a:cs typeface="Inter"/>
                  <a:sym typeface="Inter"/>
                </a:rPr>
                <a:t>DQN Q-Values </a:t>
              </a:r>
              <a:r>
                <a:rPr b="0" lang="en" sz="1000">
                  <a:solidFill>
                    <a:srgbClr val="64748B"/>
                  </a:solidFill>
                  <a:latin typeface="Inter"/>
                  <a:ea typeface="Inter"/>
                  <a:cs typeface="Inter"/>
                  <a:sym typeface="Inter"/>
                </a:rPr>
                <a:t>(Optimal Action Selection)</a:t>
              </a:r>
              <a:endParaRPr b="1" sz="1400">
                <a:solidFill>
                  <a:srgbClr val="0284C7"/>
                </a:solidFill>
                <a:latin typeface="Inter"/>
                <a:ea typeface="Inter"/>
                <a:cs typeface="Inter"/>
                <a:sym typeface="Inter"/>
              </a:endParaRPr>
            </a:p>
          </p:txBody>
        </p:sp>
      </p:grpSp>
      <p:grpSp>
        <p:nvGrpSpPr>
          <p:cNvPr id="512" name="Google Shape;512;p27"/>
          <p:cNvGrpSpPr/>
          <p:nvPr/>
        </p:nvGrpSpPr>
        <p:grpSpPr>
          <a:xfrm>
            <a:off x="4572000" y="1333500"/>
            <a:ext cx="4191000" cy="3238500"/>
            <a:chOff x="0" y="0"/>
            <a:chExt cx="4191000" cy="3238500"/>
          </a:xfrm>
        </p:grpSpPr>
        <p:sp>
          <p:nvSpPr>
            <p:cNvPr id="513" name="Google Shape;513;p27"/>
            <p:cNvSpPr/>
            <p:nvPr/>
          </p:nvSpPr>
          <p:spPr>
            <a:xfrm>
              <a:off x="0" y="0"/>
              <a:ext cx="4191000" cy="3238500"/>
            </a:xfrm>
            <a:prstGeom prst="roundRect">
              <a:avLst>
                <a:gd fmla="val 235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4" name="Google Shape;514;p27"/>
            <p:cNvSpPr/>
            <p:nvPr/>
          </p:nvSpPr>
          <p:spPr>
            <a:xfrm>
              <a:off x="0" y="0"/>
              <a:ext cx="4191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27"/>
            <p:cNvSpPr txBox="1"/>
            <p:nvPr/>
          </p:nvSpPr>
          <p:spPr>
            <a:xfrm>
              <a:off x="228600" y="228600"/>
              <a:ext cx="37338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38BDF8"/>
                  </a:solidFill>
                  <a:latin typeface="Courier New"/>
                  <a:ea typeface="Courier New"/>
                  <a:cs typeface="Courier New"/>
                  <a:sym typeface="Courier New"/>
                </a:rPr>
                <a:t>// inference.py : predict_fn()</a:t>
              </a:r>
              <a:endParaRPr b="1" sz="1050">
                <a:solidFill>
                  <a:srgbClr val="38BDF8"/>
                </a:solidFill>
                <a:latin typeface="Courier New"/>
                <a:ea typeface="Courier New"/>
                <a:cs typeface="Courier New"/>
                <a:sym typeface="Courier New"/>
              </a:endParaRPr>
            </a:p>
            <a:p>
              <a:pPr indent="0" lvl="0" marL="0" rtl="0" algn="l">
                <a:spcBef>
                  <a:spcPts val="563"/>
                </a:spcBef>
                <a:spcAft>
                  <a:spcPts val="0"/>
                </a:spcAft>
                <a:buNone/>
              </a:pPr>
              <a:r>
                <a:rPr b="0" lang="en" sz="1050">
                  <a:solidFill>
                    <a:srgbClr val="94A3B8"/>
                  </a:solidFill>
                  <a:latin typeface="Courier New"/>
                  <a:ea typeface="Courier New"/>
                  <a:cs typeface="Courier New"/>
                  <a:sym typeface="Courier New"/>
                </a:rPr>
                <a:t># Decoupled payload output (no request keys echoed)</a:t>
              </a:r>
              <a:endParaRPr b="0" sz="1050">
                <a:solidFill>
                  <a:srgbClr val="94A3B8"/>
                </a:solidFill>
                <a:latin typeface="Courier New"/>
                <a:ea typeface="Courier New"/>
                <a:cs typeface="Courier New"/>
                <a:sym typeface="Courier New"/>
              </a:endParaRPr>
            </a:p>
            <a:p>
              <a:pPr indent="0" lvl="0" marL="0" rtl="0" algn="l">
                <a:spcBef>
                  <a:spcPts val="563"/>
                </a:spcBef>
                <a:spcAft>
                  <a:spcPts val="0"/>
                </a:spcAft>
                <a:buNone/>
              </a:pPr>
              <a:r>
                <a:rPr b="0" lang="en" sz="1050">
                  <a:solidFill>
                    <a:srgbClr val="FFFFFF"/>
                  </a:solidFill>
                  <a:latin typeface="Courier New"/>
                  <a:ea typeface="Courier New"/>
                  <a:cs typeface="Courier New"/>
                  <a:sym typeface="Courier New"/>
                </a:rPr>
                <a:t>{</a:t>
              </a:r>
              <a:endParaRPr b="0" sz="1050">
                <a:solidFill>
                  <a:srgbClr val="FFFFFF"/>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"action"</a:t>
              </a:r>
              <a:r>
                <a:rPr b="0" lang="en" sz="1050">
                  <a:solidFill>
                    <a:srgbClr val="FFFFFF"/>
                  </a:solidFill>
                  <a:latin typeface="Courier New"/>
                  <a:ea typeface="Courier New"/>
                  <a:cs typeface="Courier New"/>
                  <a:sym typeface="Courier New"/>
                </a:rPr>
                <a:t>: </a:t>
              </a:r>
              <a:r>
                <a:rPr b="1" lang="en" sz="1050">
                  <a:solidFill>
                    <a:srgbClr val="FB923C"/>
                  </a:solidFill>
                  <a:latin typeface="Courier New"/>
                  <a:ea typeface="Courier New"/>
                  <a:cs typeface="Courier New"/>
                  <a:sym typeface="Courier New"/>
                </a:rPr>
                <a:t>2</a:t>
              </a:r>
              <a:r>
                <a:rPr b="0" lang="en" sz="1050">
                  <a:solidFill>
                    <a:srgbClr val="FFFFFF"/>
                  </a:solidFill>
                  <a:latin typeface="Courier New"/>
                  <a:ea typeface="Courier New"/>
                  <a:cs typeface="Courier New"/>
                  <a:sym typeface="Courier New"/>
                </a:rPr>
                <a:t>,</a:t>
              </a:r>
              <a:endParaRPr b="0" sz="1050">
                <a:solidFill>
                  <a:srgbClr val="FFFFFF"/>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"action_name"</a:t>
              </a:r>
              <a:r>
                <a:rPr b="0" lang="en" sz="1050">
                  <a:solidFill>
                    <a:srgbClr val="FFFFFF"/>
                  </a:solidFill>
                  <a:latin typeface="Courier New"/>
                  <a:ea typeface="Courier New"/>
                  <a:cs typeface="Courier New"/>
                  <a:sym typeface="Courier New"/>
                </a:rPr>
                <a:t>: </a:t>
              </a:r>
              <a:r>
                <a:rPr b="0" lang="en" sz="1050">
                  <a:solidFill>
                    <a:srgbClr val="4ADE80"/>
                  </a:solidFill>
                  <a:latin typeface="Courier New"/>
                  <a:ea typeface="Courier New"/>
                  <a:cs typeface="Courier New"/>
                  <a:sym typeface="Courier New"/>
                </a:rPr>
                <a:t>"switch_backup"</a:t>
              </a:r>
              <a:r>
                <a:rPr b="0" lang="en" sz="1050">
                  <a:solidFill>
                    <a:srgbClr val="FFFFFF"/>
                  </a:solidFill>
                  <a:latin typeface="Courier New"/>
                  <a:ea typeface="Courier New"/>
                  <a:cs typeface="Courier New"/>
                  <a:sym typeface="Courier New"/>
                </a:rPr>
                <a:t>,</a:t>
              </a:r>
              <a:endParaRPr b="0" sz="1050">
                <a:solidFill>
                  <a:srgbClr val="FFFFFF"/>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"confidence"</a:t>
              </a:r>
              <a:r>
                <a:rPr b="0" lang="en" sz="1050">
                  <a:solidFill>
                    <a:srgbClr val="FFFFFF"/>
                  </a:solidFill>
                  <a:latin typeface="Courier New"/>
                  <a:ea typeface="Courier New"/>
                  <a:cs typeface="Courier New"/>
                  <a:sym typeface="Courier New"/>
                </a:rPr>
                <a:t>: </a:t>
              </a:r>
              <a:r>
                <a:rPr b="1" lang="en" sz="1050">
                  <a:solidFill>
                    <a:srgbClr val="FB923C"/>
                  </a:solidFill>
                  <a:latin typeface="Courier New"/>
                  <a:ea typeface="Courier New"/>
                  <a:cs typeface="Courier New"/>
                  <a:sym typeface="Courier New"/>
                </a:rPr>
                <a:t>0.9421</a:t>
              </a:r>
              <a:r>
                <a:rPr b="0" lang="en" sz="1050">
                  <a:solidFill>
                    <a:srgbClr val="FFFFFF"/>
                  </a:solidFill>
                  <a:latin typeface="Courier New"/>
                  <a:ea typeface="Courier New"/>
                  <a:cs typeface="Courier New"/>
                  <a:sym typeface="Courier New"/>
                </a:rPr>
                <a:t>,</a:t>
              </a:r>
              <a:endParaRPr b="0" sz="1050">
                <a:solidFill>
                  <a:srgbClr val="FFFFFF"/>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"q_values"</a:t>
              </a:r>
              <a:r>
                <a:rPr b="0" lang="en" sz="1050">
                  <a:solidFill>
                    <a:srgbClr val="FFFFFF"/>
                  </a:solidFill>
                  <a:latin typeface="Courier New"/>
                  <a:ea typeface="Courier New"/>
                  <a:cs typeface="Courier New"/>
                  <a:sym typeface="Courier New"/>
                </a:rPr>
                <a:t>: [</a:t>
              </a:r>
              <a:endParaRPr b="0" sz="1050">
                <a:solidFill>
                  <a:srgbClr val="FFFFFF"/>
                </a:solidFill>
                <a:latin typeface="Courier New"/>
                <a:ea typeface="Courier New"/>
                <a:cs typeface="Courier New"/>
                <a:sym typeface="Courier New"/>
              </a:endParaRPr>
            </a:p>
            <a:p>
              <a:pPr indent="0" lvl="0" marL="285750" marR="0" rtl="0" algn="l">
                <a:spcBef>
                  <a:spcPts val="0"/>
                </a:spcBef>
                <a:spcAft>
                  <a:spcPts val="0"/>
                </a:spcAft>
                <a:buNone/>
              </a:pPr>
              <a:r>
                <a:rPr b="0" lang="en" sz="1050">
                  <a:solidFill>
                    <a:srgbClr val="FB923C"/>
                  </a:solidFill>
                  <a:latin typeface="Courier New"/>
                  <a:ea typeface="Courier New"/>
                  <a:cs typeface="Courier New"/>
                  <a:sym typeface="Courier New"/>
                </a:rPr>
                <a:t>-1.82</a:t>
              </a:r>
              <a:r>
                <a:rPr b="0" lang="en" sz="1050">
                  <a:solidFill>
                    <a:srgbClr val="FFFFFF"/>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0.34</a:t>
              </a:r>
              <a:r>
                <a:rPr b="0" lang="en" sz="1050">
                  <a:solidFill>
                    <a:srgbClr val="FFFFFF"/>
                  </a:solidFill>
                  <a:latin typeface="Courier New"/>
                  <a:ea typeface="Courier New"/>
                  <a:cs typeface="Courier New"/>
                  <a:sym typeface="Courier New"/>
                </a:rPr>
                <a:t>, </a:t>
              </a:r>
              <a:r>
                <a:rPr b="1" lang="en" sz="1050">
                  <a:solidFill>
                    <a:srgbClr val="10B981"/>
                  </a:solidFill>
                  <a:latin typeface="Courier New"/>
                  <a:ea typeface="Courier New"/>
                  <a:cs typeface="Courier New"/>
                  <a:sym typeface="Courier New"/>
                </a:rPr>
                <a:t>3.71</a:t>
              </a:r>
              <a:r>
                <a:rPr b="0" lang="en" sz="1050">
                  <a:solidFill>
                    <a:srgbClr val="FFFFFF"/>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1.02</a:t>
              </a:r>
              <a:r>
                <a:rPr b="0" lang="en" sz="1050">
                  <a:solidFill>
                    <a:srgbClr val="FFFFFF"/>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-0.55</a:t>
              </a:r>
              <a:endParaRPr b="0" sz="1050">
                <a:solidFill>
                  <a:srgbClr val="FFFFFF"/>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FFFFF"/>
                  </a:solidFill>
                  <a:latin typeface="Courier New"/>
                  <a:ea typeface="Courier New"/>
                  <a:cs typeface="Courier New"/>
                  <a:sym typeface="Courier New"/>
                </a:rPr>
                <a:t>]</a:t>
              </a:r>
              <a:endParaRPr b="0" sz="1050">
                <a:solidFill>
                  <a:srgbClr val="FFFFFF"/>
                </a:solidFill>
                <a:latin typeface="Courier New"/>
                <a:ea typeface="Courier New"/>
                <a:cs typeface="Courier New"/>
                <a:sym typeface="Courier New"/>
              </a:endParaRPr>
            </a:p>
            <a:p>
              <a:pPr indent="0" lvl="0" marL="0" rtl="0" algn="l">
                <a:spcBef>
                  <a:spcPts val="0"/>
                </a:spcBef>
                <a:spcAft>
                  <a:spcPts val="0"/>
                </a:spcAft>
                <a:buNone/>
              </a:pPr>
              <a:r>
                <a:rPr b="0" lang="en" sz="1050">
                  <a:solidFill>
                    <a:srgbClr val="FFFFFF"/>
                  </a:solidFill>
                  <a:latin typeface="Courier New"/>
                  <a:ea typeface="Courier New"/>
                  <a:cs typeface="Courier New"/>
                  <a:sym typeface="Courier New"/>
                </a:rPr>
                <a:t>}</a:t>
              </a:r>
              <a:endParaRPr b="0" sz="1050">
                <a:solidFill>
                  <a:srgbClr val="FFFFFF"/>
                </a:solidFill>
                <a:latin typeface="Courier New"/>
                <a:ea typeface="Courier New"/>
                <a:cs typeface="Courier New"/>
                <a:sym typeface="Courier New"/>
              </a:endParaRPr>
            </a:p>
            <a:p>
              <a:pPr indent="0" lvl="0" marL="0" rtl="0" algn="l">
                <a:spcBef>
                  <a:spcPts val="825"/>
                </a:spcBef>
                <a:spcAft>
                  <a:spcPts val="0"/>
                </a:spcAft>
                <a:buNone/>
              </a:pPr>
              <a:r>
                <a:rPr b="0" lang="en" sz="1050">
                  <a:solidFill>
                    <a:srgbClr val="94A3B8"/>
                  </a:solidFill>
                  <a:latin typeface="Courier New"/>
                  <a:ea typeface="Courier New"/>
                  <a:cs typeface="Courier New"/>
                  <a:sym typeface="Courier New"/>
                </a:rPr>
                <a:t># Action 2 mapped via max Q-Value (3.71)</a:t>
              </a:r>
              <a:endParaRPr b="0" sz="105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050">
                  <a:solidFill>
                    <a:srgbClr val="94A3B8"/>
                  </a:solidFill>
                  <a:latin typeface="Courier New"/>
                  <a:ea typeface="Courier New"/>
                  <a:cs typeface="Courier New"/>
                  <a:sym typeface="Courier New"/>
                </a:rPr>
                <a:t># Pre-processed via MinMaxScaler pipeline</a:t>
              </a:r>
              <a:endParaRPr b="0" sz="1050">
                <a:solidFill>
                  <a:srgbClr val="94A3B8"/>
                </a:solidFill>
                <a:latin typeface="Courier New"/>
                <a:ea typeface="Courier New"/>
                <a:cs typeface="Courier New"/>
                <a:sym typeface="Courier New"/>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8"/>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28"/>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28"/>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28"/>
          <p:cNvSpPr txBox="1"/>
          <p:nvPr/>
        </p:nvSpPr>
        <p:spPr>
          <a:xfrm>
            <a:off x="381000" y="3810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0F172A"/>
                </a:solidFill>
                <a:latin typeface="Inter"/>
                <a:ea typeface="Inter"/>
                <a:cs typeface="Inter"/>
                <a:sym typeface="Inter"/>
              </a:rPr>
              <a:t>7. Enriched Record (lambda_function.py, written to S3)</a:t>
            </a:r>
            <a:endParaRPr b="1" sz="2000">
              <a:solidFill>
                <a:srgbClr val="0F172A"/>
              </a:solidFill>
              <a:latin typeface="Inter"/>
              <a:ea typeface="Inter"/>
              <a:cs typeface="Inter"/>
              <a:sym typeface="Inter"/>
            </a:endParaRPr>
          </a:p>
          <a:p>
            <a:pPr indent="0" lvl="0" marL="0" rtl="0" algn="l">
              <a:spcBef>
                <a:spcPts val="300"/>
              </a:spcBef>
              <a:spcAft>
                <a:spcPts val="0"/>
              </a:spcAft>
              <a:buNone/>
            </a:pPr>
            <a:r>
              <a:rPr b="0" lang="en" sz="1000">
                <a:solidFill>
                  <a:srgbClr val="475569"/>
                </a:solidFill>
                <a:latin typeface="Inter"/>
                <a:ea typeface="Inter"/>
                <a:cs typeface="Inter"/>
                <a:sym typeface="Inter"/>
              </a:rPr>
              <a:t>Changed: stage 2's 10 fields, spread as-is, plus 8 new ones — the original signed payload merged with SageMaker's decision, Lambda's own fault classification, and an audit trail (signature_valid, replay_check, processed_at).</a:t>
            </a:r>
            <a:endParaRPr b="0" sz="1000">
              <a:solidFill>
                <a:srgbClr val="475569"/>
              </a:solidFill>
              <a:latin typeface="Inter"/>
              <a:ea typeface="Inter"/>
              <a:cs typeface="Inter"/>
              <a:sym typeface="Inter"/>
            </a:endParaRPr>
          </a:p>
        </p:txBody>
      </p:sp>
      <p:grpSp>
        <p:nvGrpSpPr>
          <p:cNvPr id="524" name="Google Shape;524;p28"/>
          <p:cNvGrpSpPr/>
          <p:nvPr/>
        </p:nvGrpSpPr>
        <p:grpSpPr>
          <a:xfrm>
            <a:off x="381000" y="1333500"/>
            <a:ext cx="3905400" cy="3238500"/>
            <a:chOff x="0" y="0"/>
            <a:chExt cx="3905400" cy="3238500"/>
          </a:xfrm>
        </p:grpSpPr>
        <p:sp>
          <p:nvSpPr>
            <p:cNvPr id="525" name="Google Shape;525;p28"/>
            <p:cNvSpPr/>
            <p:nvPr/>
          </p:nvSpPr>
          <p:spPr>
            <a:xfrm>
              <a:off x="0" y="0"/>
              <a:ext cx="39054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6" name="Google Shape;526;p28"/>
            <p:cNvSpPr txBox="1"/>
            <p:nvPr/>
          </p:nvSpPr>
          <p:spPr>
            <a:xfrm>
              <a:off x="190500" y="190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284C7"/>
                  </a:solidFill>
                  <a:latin typeface="Inter"/>
                  <a:ea typeface="Inter"/>
                  <a:cs typeface="Inter"/>
                  <a:sym typeface="Inter"/>
                </a:rPr>
                <a:t>S3 AUDIT &amp; DECISION ENGINE</a:t>
              </a:r>
              <a:endParaRPr b="1" sz="1000">
                <a:solidFill>
                  <a:srgbClr val="0284C7"/>
                </a:solidFill>
                <a:latin typeface="Inter"/>
                <a:ea typeface="Inter"/>
                <a:cs typeface="Inter"/>
                <a:sym typeface="Inter"/>
              </a:endParaRPr>
            </a:p>
            <a:p>
              <a:pPr indent="0" lvl="0" marL="0" rtl="0" algn="l">
                <a:spcBef>
                  <a:spcPts val="300"/>
                </a:spcBef>
                <a:spcAft>
                  <a:spcPts val="0"/>
                </a:spcAft>
                <a:buNone/>
              </a:pPr>
              <a:r>
                <a:rPr b="1" lang="en" sz="1438">
                  <a:solidFill>
                    <a:srgbClr val="0F172A"/>
                  </a:solidFill>
                  <a:latin typeface="Inter"/>
                  <a:ea typeface="Inter"/>
                  <a:cs typeface="Inter"/>
                  <a:sym typeface="Inter"/>
                </a:rPr>
                <a:t>Enriched Telemetry State</a:t>
              </a:r>
              <a:endParaRPr b="1" sz="1438">
                <a:solidFill>
                  <a:srgbClr val="0F172A"/>
                </a:solidFill>
                <a:latin typeface="Inter"/>
                <a:ea typeface="Inter"/>
                <a:cs typeface="Inter"/>
                <a:sym typeface="Inter"/>
              </a:endParaRPr>
            </a:p>
            <a:p>
              <a:pPr indent="0" lvl="0" marL="0" rtl="0" algn="l">
                <a:spcBef>
                  <a:spcPts val="600"/>
                </a:spcBef>
                <a:spcAft>
                  <a:spcPts val="0"/>
                </a:spcAft>
                <a:buNone/>
              </a:pPr>
              <a:r>
                <a:rPr b="0" lang="en" sz="1156">
                  <a:solidFill>
                    <a:srgbClr val="475569"/>
                  </a:solidFill>
                  <a:latin typeface="Inter"/>
                  <a:ea typeface="Inter"/>
                  <a:cs typeface="Inter"/>
                  <a:sym typeface="Inter"/>
                </a:rPr>
                <a:t>Lambda merges original security wraps, deep metrics, and inference outputs into a single consolidated audit trail. Keeps analytical queries extremely fast.</a:t>
              </a:r>
              <a:endParaRPr b="0" sz="1156">
                <a:solidFill>
                  <a:srgbClr val="475569"/>
                </a:solidFill>
                <a:latin typeface="Inter"/>
                <a:ea typeface="Inter"/>
                <a:cs typeface="Inter"/>
                <a:sym typeface="Inter"/>
              </a:endParaRPr>
            </a:p>
            <a:p>
              <a:pPr indent="0" lvl="0" marL="0" rtl="0" algn="l">
                <a:spcBef>
                  <a:spcPts val="900"/>
                </a:spcBef>
                <a:spcAft>
                  <a:spcPts val="0"/>
                </a:spcAft>
                <a:buNone/>
              </a:pPr>
              <a:r>
                <a:rPr b="1" lang="en" sz="1000">
                  <a:solidFill>
                    <a:srgbClr val="64748B"/>
                  </a:solidFill>
                  <a:latin typeface="Inter"/>
                  <a:ea typeface="Inter"/>
                  <a:cs typeface="Inter"/>
                  <a:sym typeface="Inter"/>
                </a:rPr>
                <a:t>S3 PARTITION LOCATION</a:t>
              </a:r>
              <a:endParaRPr b="1" sz="1000">
                <a:solidFill>
                  <a:srgbClr val="64748B"/>
                </a:solidFill>
                <a:latin typeface="Inter"/>
                <a:ea typeface="Inter"/>
                <a:cs typeface="Inter"/>
                <a:sym typeface="Inter"/>
              </a:endParaRPr>
            </a:p>
            <a:p>
              <a:pPr indent="0" lvl="0" marL="0" rtl="0" algn="l">
                <a:spcBef>
                  <a:spcPts val="150"/>
                </a:spcBef>
                <a:spcAft>
                  <a:spcPts val="0"/>
                </a:spcAft>
                <a:buNone/>
              </a:pPr>
              <a:r>
                <a:rPr b="0" lang="en" sz="1094">
                  <a:solidFill>
                    <a:srgbClr val="0F172A"/>
                  </a:solidFill>
                  <a:latin typeface="Courier New"/>
                  <a:ea typeface="Courier New"/>
                  <a:cs typeface="Courier New"/>
                  <a:sym typeface="Courier New"/>
                </a:rPr>
                <a:t>readings/year=2026/month=08/day=10/edge-device-002_1755008528114.json</a:t>
              </a:r>
              <a:endParaRPr b="0" sz="1094">
                <a:solidFill>
                  <a:srgbClr val="0F172A"/>
                </a:solidFill>
                <a:latin typeface="Courier New"/>
                <a:ea typeface="Courier New"/>
                <a:cs typeface="Courier New"/>
                <a:sym typeface="Courier New"/>
              </a:endParaRPr>
            </a:p>
            <a:p>
              <a:pPr indent="0" lvl="0" marL="0" rtl="0" algn="l">
                <a:spcBef>
                  <a:spcPts val="900"/>
                </a:spcBef>
                <a:spcAft>
                  <a:spcPts val="0"/>
                </a:spcAft>
                <a:buNone/>
              </a:pPr>
              <a:r>
                <a:rPr b="1" lang="en" sz="1000">
                  <a:solidFill>
                    <a:srgbClr val="D97706"/>
                  </a:solidFill>
                  <a:latin typeface="Inter"/>
                  <a:ea typeface="Inter"/>
                  <a:cs typeface="Inter"/>
                  <a:sym typeface="Inter"/>
                </a:rPr>
                <a:t>CRITICAL INTEGRATION NOTE</a:t>
              </a:r>
              <a:endParaRPr b="1" sz="1000">
                <a:solidFill>
                  <a:srgbClr val="D97706"/>
                </a:solidFill>
                <a:latin typeface="Inter"/>
                <a:ea typeface="Inter"/>
                <a:cs typeface="Inter"/>
                <a:sym typeface="Inter"/>
              </a:endParaRPr>
            </a:p>
            <a:p>
              <a:pPr indent="0" lvl="0" marL="0" rtl="0" algn="l">
                <a:spcBef>
                  <a:spcPts val="150"/>
                </a:spcBef>
                <a:spcAft>
                  <a:spcPts val="0"/>
                </a:spcAft>
                <a:buNone/>
              </a:pPr>
              <a:r>
                <a:rPr b="0" lang="en" sz="1094">
                  <a:solidFill>
                    <a:srgbClr val="B45309"/>
                  </a:solidFill>
                  <a:latin typeface="Inter SemiBold"/>
                  <a:ea typeface="Inter SemiBold"/>
                  <a:cs typeface="Inter SemiBold"/>
                  <a:sym typeface="Inter SemiBold"/>
                </a:rPr>
                <a:t>q_values is serialized as a string</a:t>
              </a:r>
              <a:r>
                <a:rPr b="0" lang="en" sz="1094">
                  <a:solidFill>
                    <a:srgbClr val="475569"/>
                  </a:solidFill>
                  <a:latin typeface="Inter"/>
                  <a:ea typeface="Inter"/>
                  <a:cs typeface="Inter"/>
                  <a:sym typeface="Inter"/>
                </a:rPr>
                <a:t> (via </a:t>
              </a:r>
              <a:r>
                <a:rPr b="0" lang="en" sz="1094">
                  <a:solidFill>
                    <a:srgbClr val="475569"/>
                  </a:solidFill>
                  <a:latin typeface="Courier New"/>
                  <a:ea typeface="Courier New"/>
                  <a:cs typeface="Courier New"/>
                  <a:sym typeface="Courier New"/>
                </a:rPr>
                <a:t>json.dumps()</a:t>
              </a:r>
              <a:r>
                <a:rPr b="0" lang="en" sz="1094">
                  <a:solidFill>
                    <a:srgbClr val="475569"/>
                  </a:solidFill>
                  <a:latin typeface="Inter"/>
                  <a:ea typeface="Inter"/>
                  <a:cs typeface="Inter"/>
                  <a:sym typeface="Inter"/>
                </a:rPr>
                <a:t>) instead of a nested array. Ensure proper parsing when running distributed SQL queries via Amazon Athena.</a:t>
              </a:r>
              <a:endParaRPr b="0" sz="1094">
                <a:solidFill>
                  <a:srgbClr val="475569"/>
                </a:solidFill>
                <a:latin typeface="Inter"/>
                <a:ea typeface="Inter"/>
                <a:cs typeface="Inter"/>
                <a:sym typeface="Inter"/>
              </a:endParaRPr>
            </a:p>
          </p:txBody>
        </p:sp>
      </p:grpSp>
      <p:grpSp>
        <p:nvGrpSpPr>
          <p:cNvPr id="527" name="Google Shape;527;p28"/>
          <p:cNvGrpSpPr/>
          <p:nvPr/>
        </p:nvGrpSpPr>
        <p:grpSpPr>
          <a:xfrm>
            <a:off x="4572000" y="1333500"/>
            <a:ext cx="4191000" cy="3238500"/>
            <a:chOff x="0" y="0"/>
            <a:chExt cx="4191000" cy="3238500"/>
          </a:xfrm>
        </p:grpSpPr>
        <p:sp>
          <p:nvSpPr>
            <p:cNvPr id="528" name="Google Shape;528;p28"/>
            <p:cNvSpPr/>
            <p:nvPr/>
          </p:nvSpPr>
          <p:spPr>
            <a:xfrm>
              <a:off x="0" y="0"/>
              <a:ext cx="4191000" cy="3238500"/>
            </a:xfrm>
            <a:prstGeom prst="roundRect">
              <a:avLst>
                <a:gd fmla="val 235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p28"/>
            <p:cNvSpPr/>
            <p:nvPr/>
          </p:nvSpPr>
          <p:spPr>
            <a:xfrm>
              <a:off x="0" y="0"/>
              <a:ext cx="4191000" cy="38100"/>
            </a:xfrm>
            <a:prstGeom prst="rect">
              <a:avLst/>
            </a:prstGeom>
            <a:solidFill>
              <a:srgbClr val="EAB30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28"/>
            <p:cNvSpPr txBox="1"/>
            <p:nvPr/>
          </p:nvSpPr>
          <p:spPr>
            <a:xfrm>
              <a:off x="228600" y="190500"/>
              <a:ext cx="3733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4">
                  <a:solidFill>
                    <a:srgbClr val="38BDF8"/>
                  </a:solidFill>
                  <a:latin typeface="Courier New"/>
                  <a:ea typeface="Courier New"/>
                  <a:cs typeface="Courier New"/>
                  <a:sym typeface="Courier New"/>
                </a:rPr>
                <a:t>// Enriched S3 Record Payload</a:t>
              </a:r>
              <a:endParaRPr b="1" sz="794">
                <a:solidFill>
                  <a:srgbClr val="38BDF8"/>
                </a:solidFill>
                <a:latin typeface="Courier New"/>
                <a:ea typeface="Courier New"/>
                <a:cs typeface="Courier New"/>
                <a:sym typeface="Courier New"/>
              </a:endParaRPr>
            </a:p>
            <a:p>
              <a:pPr indent="0" lvl="0" marL="0" rtl="0" algn="l">
                <a:spcBef>
                  <a:spcPts val="450"/>
                </a:spcBef>
                <a:spcAft>
                  <a:spcPts val="0"/>
                </a:spcAft>
                <a:buNone/>
              </a:pPr>
              <a:r>
                <a:rPr b="0" lang="en" sz="1050">
                  <a:solidFill>
                    <a:srgbClr val="94A3B8"/>
                  </a:solidFill>
                  <a:latin typeface="Courier New"/>
                  <a:ea typeface="Courier New"/>
                  <a:cs typeface="Courier New"/>
                  <a:sym typeface="Courier New"/>
                </a:rPr>
                <a:t># Combines 10 edge fields with 8 enrichment fields</a:t>
              </a:r>
              <a:endParaRPr b="0" sz="1050">
                <a:solidFill>
                  <a:srgbClr val="94A3B8"/>
                </a:solidFill>
                <a:latin typeface="Courier New"/>
                <a:ea typeface="Courier New"/>
                <a:cs typeface="Courier New"/>
                <a:sym typeface="Courier New"/>
              </a:endParaRPr>
            </a:p>
            <a:p>
              <a:pPr indent="0" lvl="0" marL="0" rtl="0" algn="l">
                <a:spcBef>
                  <a:spcPts val="450"/>
                </a:spcBef>
                <a:spcAft>
                  <a:spcPts val="0"/>
                </a:spcAft>
                <a:buNone/>
              </a:pP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"device_id"</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4ADE80"/>
                  </a:solidFill>
                  <a:latin typeface="Courier New"/>
                  <a:ea typeface="Courier New"/>
                  <a:cs typeface="Courier New"/>
                  <a:sym typeface="Courier New"/>
                </a:rPr>
                <a:t>"edge-device-002"</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"voltage_v"</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362.4</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"fault_type"</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4ADE80"/>
                  </a:solidFill>
                  <a:latin typeface="Courier New"/>
                  <a:ea typeface="Courier New"/>
                  <a:cs typeface="Courier New"/>
                  <a:sym typeface="Courier New"/>
                </a:rPr>
                <a:t>"voltage_sag"</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"action"</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2</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"action_name"</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4ADE80"/>
                  </a:solidFill>
                  <a:latin typeface="Courier New"/>
                  <a:ea typeface="Courier New"/>
                  <a:cs typeface="Courier New"/>
                  <a:sym typeface="Courier New"/>
                </a:rPr>
                <a:t>"switch_backup"</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"confidence"</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0.9421</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"q_values"</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4ADE80"/>
                  </a:solidFill>
                  <a:latin typeface="Courier New"/>
                  <a:ea typeface="Courier New"/>
                  <a:cs typeface="Courier New"/>
                  <a:sym typeface="Courier New"/>
                </a:rPr>
                <a:t>"[-1.82, 0.34, 3.71, 1.02, -0.55]"</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"signature_valid"</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FB923C"/>
                  </a:solidFill>
                  <a:latin typeface="Courier New"/>
                  <a:ea typeface="Courier New"/>
                  <a:cs typeface="Courier New"/>
                  <a:sym typeface="Courier New"/>
                </a:rPr>
                <a:t>true</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"replay_check"</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4ADE80"/>
                  </a:solidFill>
                  <a:latin typeface="Courier New"/>
                  <a:ea typeface="Courier New"/>
                  <a:cs typeface="Courier New"/>
                  <a:sym typeface="Courier New"/>
                </a:rPr>
                <a:t>"passed"</a:t>
              </a: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a:p>
              <a:pPr indent="0" lvl="0" marL="142875" marR="0" rtl="0" algn="l">
                <a:spcBef>
                  <a:spcPts val="0"/>
                </a:spcBef>
                <a:spcAft>
                  <a:spcPts val="0"/>
                </a:spcAft>
                <a:buNone/>
              </a:pPr>
              <a:r>
                <a:rPr b="0" lang="en" sz="1050">
                  <a:solidFill>
                    <a:srgbClr val="F472B6"/>
                  </a:solidFill>
                  <a:latin typeface="Courier New"/>
                  <a:ea typeface="Courier New"/>
                  <a:cs typeface="Courier New"/>
                  <a:sym typeface="Courier New"/>
                </a:rPr>
                <a:t>"processed_at"</a:t>
              </a:r>
              <a:r>
                <a:rPr b="0" lang="en" sz="1050">
                  <a:solidFill>
                    <a:srgbClr val="FFFFFF"/>
                  </a:solidFill>
                  <a:latin typeface="Courier New"/>
                  <a:ea typeface="Courier New"/>
                  <a:cs typeface="Courier New"/>
                  <a:sym typeface="Courier New"/>
                </a:rPr>
                <a:t>:</a:t>
              </a:r>
              <a:r>
                <a:rPr b="0" lang="en" sz="1050">
                  <a:solidFill>
                    <a:srgbClr val="94A3B8"/>
                  </a:solidFill>
                  <a:latin typeface="Courier New"/>
                  <a:ea typeface="Courier New"/>
                  <a:cs typeface="Courier New"/>
                  <a:sym typeface="Courier New"/>
                </a:rPr>
                <a:t> </a:t>
              </a:r>
              <a:r>
                <a:rPr b="0" lang="en" sz="1050">
                  <a:solidFill>
                    <a:srgbClr val="4ADE80"/>
                  </a:solidFill>
                  <a:latin typeface="Courier New"/>
                  <a:ea typeface="Courier New"/>
                  <a:cs typeface="Courier New"/>
                  <a:sym typeface="Courier New"/>
                </a:rPr>
                <a:t>"2026-08-10T14:32:08.114562Z"</a:t>
              </a:r>
              <a:endParaRPr b="0" sz="1050">
                <a:solidFill>
                  <a:srgbClr val="94A3B8"/>
                </a:solidFill>
                <a:latin typeface="Courier New"/>
                <a:ea typeface="Courier New"/>
                <a:cs typeface="Courier New"/>
                <a:sym typeface="Courier New"/>
              </a:endParaRPr>
            </a:p>
            <a:p>
              <a:pPr indent="0" lvl="0" marL="0" rtl="0" algn="l">
                <a:spcBef>
                  <a:spcPts val="0"/>
                </a:spcBef>
                <a:spcAft>
                  <a:spcPts val="0"/>
                </a:spcAft>
                <a:buNone/>
              </a:pPr>
              <a:r>
                <a:rPr b="0" lang="en" sz="1050">
                  <a:solidFill>
                    <a:srgbClr val="FFFFFF"/>
                  </a:solidFill>
                  <a:latin typeface="Courier New"/>
                  <a:ea typeface="Courier New"/>
                  <a:cs typeface="Courier New"/>
                  <a:sym typeface="Courier New"/>
                </a:rPr>
                <a:t>}</a:t>
              </a:r>
              <a:endParaRPr b="0" sz="1050">
                <a:solidFill>
                  <a:srgbClr val="94A3B8"/>
                </a:solidFill>
                <a:latin typeface="Courier New"/>
                <a:ea typeface="Courier New"/>
                <a:cs typeface="Courier New"/>
                <a:sym typeface="Courier New"/>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9"/>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6" name="Google Shape;536;p29"/>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p29"/>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8" name="Google Shape;538;p29"/>
          <p:cNvSpPr txBox="1"/>
          <p:nvPr/>
        </p:nvSpPr>
        <p:spPr>
          <a:xfrm>
            <a:off x="381000" y="3810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0F172A"/>
                </a:solidFill>
                <a:latin typeface="Inter"/>
                <a:ea typeface="Inter"/>
                <a:cs typeface="Inter"/>
                <a:sym typeface="Inter"/>
              </a:rPr>
              <a:t>8. Device Shadow Update (lambda_function.py: update_thing_shadow())</a:t>
            </a:r>
            <a:endParaRPr b="1" sz="1850">
              <a:solidFill>
                <a:srgbClr val="0F172A"/>
              </a:solidFill>
              <a:latin typeface="Inter"/>
              <a:ea typeface="Inter"/>
              <a:cs typeface="Inter"/>
              <a:sym typeface="Inter"/>
            </a:endParaRPr>
          </a:p>
          <a:p>
            <a:pPr indent="0" lvl="0" marL="0" rtl="0" algn="l">
              <a:spcBef>
                <a:spcPts val="300"/>
              </a:spcBef>
              <a:spcAft>
                <a:spcPts val="0"/>
              </a:spcAft>
              <a:buNone/>
            </a:pPr>
            <a:r>
              <a:rPr b="0" lang="en" sz="925">
                <a:solidFill>
                  <a:srgbClr val="475569"/>
                </a:solidFill>
                <a:latin typeface="Inter"/>
                <a:ea typeface="Inter"/>
                <a:cs typeface="Inter"/>
                <a:sym typeface="Inter"/>
              </a:rPr>
              <a:t>Changed: This is not the same 18-field record that went to S3 — Lambda builds a separate, smaller object for the shadow. Verifications (seq, nonce, signature) and heavy arrays (q_values) are dropped; last_s3_object is added to link back to the audit record.</a:t>
            </a:r>
            <a:endParaRPr b="0" sz="925">
              <a:solidFill>
                <a:srgbClr val="475569"/>
              </a:solidFill>
              <a:latin typeface="Inter"/>
              <a:ea typeface="Inter"/>
              <a:cs typeface="Inter"/>
              <a:sym typeface="Inter"/>
            </a:endParaRPr>
          </a:p>
        </p:txBody>
      </p:sp>
      <p:grpSp>
        <p:nvGrpSpPr>
          <p:cNvPr id="539" name="Google Shape;539;p29"/>
          <p:cNvGrpSpPr/>
          <p:nvPr/>
        </p:nvGrpSpPr>
        <p:grpSpPr>
          <a:xfrm>
            <a:off x="381000" y="1333500"/>
            <a:ext cx="3905400" cy="3238500"/>
            <a:chOff x="0" y="0"/>
            <a:chExt cx="3905400" cy="3238500"/>
          </a:xfrm>
        </p:grpSpPr>
        <p:sp>
          <p:nvSpPr>
            <p:cNvPr id="540" name="Google Shape;540;p29"/>
            <p:cNvSpPr/>
            <p:nvPr/>
          </p:nvSpPr>
          <p:spPr>
            <a:xfrm>
              <a:off x="0" y="0"/>
              <a:ext cx="3905400" cy="3238500"/>
            </a:xfrm>
            <a:prstGeom prst="roundRect">
              <a:avLst>
                <a:gd fmla="val 235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29"/>
            <p:cNvSpPr txBox="1"/>
            <p:nvPr/>
          </p:nvSpPr>
          <p:spPr>
            <a:xfrm>
              <a:off x="190500" y="190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25">
                  <a:solidFill>
                    <a:srgbClr val="0284C7"/>
                  </a:solidFill>
                  <a:latin typeface="Inter"/>
                  <a:ea typeface="Inter"/>
                  <a:cs typeface="Inter"/>
                  <a:sym typeface="Inter"/>
                </a:rPr>
                <a:t>AWS IOT DEVICE SHADOW</a:t>
              </a:r>
              <a:endParaRPr b="1" sz="925">
                <a:solidFill>
                  <a:srgbClr val="0284C7"/>
                </a:solidFill>
                <a:latin typeface="Inter"/>
                <a:ea typeface="Inter"/>
                <a:cs typeface="Inter"/>
                <a:sym typeface="Inter"/>
              </a:endParaRPr>
            </a:p>
            <a:p>
              <a:pPr indent="0" lvl="0" marL="0" rtl="0" algn="l">
                <a:spcBef>
                  <a:spcPts val="300"/>
                </a:spcBef>
                <a:spcAft>
                  <a:spcPts val="0"/>
                </a:spcAft>
                <a:buNone/>
              </a:pPr>
              <a:r>
                <a:rPr b="1" lang="en" sz="1450">
                  <a:solidFill>
                    <a:srgbClr val="0F172A"/>
                  </a:solidFill>
                  <a:latin typeface="Inter"/>
                  <a:ea typeface="Inter"/>
                  <a:cs typeface="Inter"/>
                  <a:sym typeface="Inter"/>
                </a:rPr>
                <a:t>Minimized Shadow State</a:t>
              </a:r>
              <a:endParaRPr b="1" sz="1450">
                <a:solidFill>
                  <a:srgbClr val="0F172A"/>
                </a:solidFill>
                <a:latin typeface="Inter"/>
                <a:ea typeface="Inter"/>
                <a:cs typeface="Inter"/>
                <a:sym typeface="Inter"/>
              </a:endParaRPr>
            </a:p>
            <a:p>
              <a:pPr indent="0" lvl="0" marL="0" rtl="0" algn="l">
                <a:spcBef>
                  <a:spcPts val="600"/>
                </a:spcBef>
                <a:spcAft>
                  <a:spcPts val="0"/>
                </a:spcAft>
                <a:buNone/>
              </a:pPr>
              <a:r>
                <a:rPr b="0" lang="en" sz="1150">
                  <a:solidFill>
                    <a:srgbClr val="475569"/>
                  </a:solidFill>
                  <a:latin typeface="Inter"/>
                  <a:ea typeface="Inter"/>
                  <a:cs typeface="Inter"/>
                  <a:sym typeface="Inter"/>
                </a:rPr>
                <a:t>A decoupled payload optimized for state synchronization. By stripping transactional signatures and high-dimensional DQN telemetry arrays, the shadow remains light and responsive.</a:t>
              </a:r>
              <a:endParaRPr b="0" sz="1150">
                <a:solidFill>
                  <a:srgbClr val="475569"/>
                </a:solidFill>
                <a:latin typeface="Inter"/>
                <a:ea typeface="Inter"/>
                <a:cs typeface="Inter"/>
                <a:sym typeface="Inter"/>
              </a:endParaRPr>
            </a:p>
            <a:p>
              <a:pPr indent="0" lvl="0" marL="0" rtl="0" algn="l">
                <a:spcBef>
                  <a:spcPts val="1200"/>
                </a:spcBef>
                <a:spcAft>
                  <a:spcPts val="0"/>
                </a:spcAft>
                <a:buNone/>
              </a:pPr>
              <a:r>
                <a:rPr b="1" lang="en" sz="925">
                  <a:solidFill>
                    <a:srgbClr val="0284C7"/>
                  </a:solidFill>
                  <a:latin typeface="Inter"/>
                  <a:ea typeface="Inter"/>
                  <a:cs typeface="Inter"/>
                  <a:sym typeface="Inter"/>
                </a:rPr>
                <a:t>MUTATION STRATEGY</a:t>
              </a:r>
              <a:endParaRPr b="1" sz="925">
                <a:solidFill>
                  <a:srgbClr val="0284C7"/>
                </a:solidFill>
                <a:latin typeface="Inter"/>
                <a:ea typeface="Inter"/>
                <a:cs typeface="Inter"/>
                <a:sym typeface="Inter"/>
              </a:endParaRPr>
            </a:p>
            <a:p>
              <a:pPr indent="0" lvl="0" marL="0" rtl="0" algn="l">
                <a:spcBef>
                  <a:spcPts val="200"/>
                </a:spcBef>
                <a:spcAft>
                  <a:spcPts val="0"/>
                </a:spcAft>
                <a:buNone/>
              </a:pPr>
              <a:r>
                <a:rPr b="1" lang="en" sz="1150">
                  <a:solidFill>
                    <a:srgbClr val="EF4444"/>
                  </a:solidFill>
                  <a:latin typeface="Inter"/>
                  <a:ea typeface="Inter"/>
                  <a:cs typeface="Inter"/>
                  <a:sym typeface="Inter"/>
                </a:rPr>
                <a:t>Dropped:</a:t>
              </a:r>
              <a:r>
                <a:rPr b="0" lang="en" sz="1150">
                  <a:solidFill>
                    <a:srgbClr val="475569"/>
                  </a:solidFill>
                  <a:latin typeface="Inter"/>
                  <a:ea typeface="Inter"/>
                  <a:cs typeface="Inter"/>
                  <a:sym typeface="Inter"/>
                </a:rPr>
                <a:t> seq, nonce, signature, q_values</a:t>
              </a:r>
              <a:endParaRPr b="0" sz="1150">
                <a:solidFill>
                  <a:srgbClr val="475569"/>
                </a:solidFill>
                <a:latin typeface="Inter"/>
                <a:ea typeface="Inter"/>
                <a:cs typeface="Inter"/>
                <a:sym typeface="Inter"/>
              </a:endParaRPr>
            </a:p>
            <a:p>
              <a:pPr indent="0" lvl="0" marL="0" rtl="0" algn="l">
                <a:spcBef>
                  <a:spcPts val="1200"/>
                </a:spcBef>
                <a:spcAft>
                  <a:spcPts val="0"/>
                </a:spcAft>
                <a:buNone/>
              </a:pPr>
              <a:r>
                <a:rPr b="1" lang="en" sz="925">
                  <a:solidFill>
                    <a:srgbClr val="0284C7"/>
                  </a:solidFill>
                  <a:latin typeface="Inter"/>
                  <a:ea typeface="Inter"/>
                  <a:cs typeface="Inter"/>
                  <a:sym typeface="Inter"/>
                </a:rPr>
                <a:t>S3 AUDIT POINTER</a:t>
              </a:r>
              <a:endParaRPr b="1" sz="925">
                <a:solidFill>
                  <a:srgbClr val="0284C7"/>
                </a:solidFill>
                <a:latin typeface="Inter"/>
                <a:ea typeface="Inter"/>
                <a:cs typeface="Inter"/>
                <a:sym typeface="Inter"/>
              </a:endParaRPr>
            </a:p>
            <a:p>
              <a:pPr indent="0" lvl="0" marL="0" rtl="0" algn="l">
                <a:spcBef>
                  <a:spcPts val="200"/>
                </a:spcBef>
                <a:spcAft>
                  <a:spcPts val="0"/>
                </a:spcAft>
                <a:buNone/>
              </a:pPr>
              <a:r>
                <a:rPr b="0" lang="en" sz="971">
                  <a:solidFill>
                    <a:srgbClr val="0F172A"/>
                  </a:solidFill>
                  <a:latin typeface="Courier New"/>
                  <a:ea typeface="Courier New"/>
                  <a:cs typeface="Courier New"/>
                  <a:sym typeface="Courier New"/>
                </a:rPr>
                <a:t>last_s3_object</a:t>
              </a:r>
              <a:endParaRPr b="0" sz="971">
                <a:solidFill>
                  <a:srgbClr val="0F172A"/>
                </a:solidFill>
                <a:latin typeface="Courier New"/>
                <a:ea typeface="Courier New"/>
                <a:cs typeface="Courier New"/>
                <a:sym typeface="Courier New"/>
              </a:endParaRPr>
            </a:p>
            <a:p>
              <a:pPr indent="0" lvl="0" marL="0" rtl="0" algn="l">
                <a:spcBef>
                  <a:spcPts val="200"/>
                </a:spcBef>
                <a:spcAft>
                  <a:spcPts val="0"/>
                </a:spcAft>
                <a:buNone/>
              </a:pPr>
              <a:r>
                <a:rPr b="0" lang="en" sz="1150">
                  <a:solidFill>
                    <a:srgbClr val="475569"/>
                  </a:solidFill>
                  <a:latin typeface="Inter"/>
                  <a:ea typeface="Inter"/>
                  <a:cs typeface="Inter"/>
                  <a:sym typeface="Inter"/>
                </a:rPr>
                <a:t>Maintains a hard reference to the complete 18-field analytical record inside Amazon S3.</a:t>
              </a:r>
              <a:endParaRPr b="0" sz="1150">
                <a:solidFill>
                  <a:srgbClr val="475569"/>
                </a:solidFill>
                <a:latin typeface="Inter"/>
                <a:ea typeface="Inter"/>
                <a:cs typeface="Inter"/>
                <a:sym typeface="Inter"/>
              </a:endParaRPr>
            </a:p>
          </p:txBody>
        </p:sp>
      </p:grpSp>
      <p:grpSp>
        <p:nvGrpSpPr>
          <p:cNvPr id="542" name="Google Shape;542;p29"/>
          <p:cNvGrpSpPr/>
          <p:nvPr/>
        </p:nvGrpSpPr>
        <p:grpSpPr>
          <a:xfrm>
            <a:off x="4572000" y="1333500"/>
            <a:ext cx="4191000" cy="3238500"/>
            <a:chOff x="0" y="0"/>
            <a:chExt cx="4191000" cy="3238500"/>
          </a:xfrm>
        </p:grpSpPr>
        <p:sp>
          <p:nvSpPr>
            <p:cNvPr id="543" name="Google Shape;543;p29"/>
            <p:cNvSpPr/>
            <p:nvPr/>
          </p:nvSpPr>
          <p:spPr>
            <a:xfrm>
              <a:off x="0" y="0"/>
              <a:ext cx="4191000" cy="3238500"/>
            </a:xfrm>
            <a:prstGeom prst="roundRect">
              <a:avLst>
                <a:gd fmla="val 2352"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29"/>
            <p:cNvSpPr/>
            <p:nvPr/>
          </p:nvSpPr>
          <p:spPr>
            <a:xfrm>
              <a:off x="0" y="0"/>
              <a:ext cx="4191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29"/>
            <p:cNvSpPr txBox="1"/>
            <p:nvPr/>
          </p:nvSpPr>
          <p:spPr>
            <a:xfrm>
              <a:off x="228600" y="190500"/>
              <a:ext cx="3733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71">
                  <a:solidFill>
                    <a:srgbClr val="38BDF8"/>
                  </a:solidFill>
                  <a:latin typeface="Courier New"/>
                  <a:ea typeface="Courier New"/>
                  <a:cs typeface="Courier New"/>
                  <a:sym typeface="Courier New"/>
                </a:rPr>
                <a:t>// lambda_function.py : update_thing_shadow()</a:t>
              </a:r>
              <a:endParaRPr b="1" sz="971">
                <a:solidFill>
                  <a:srgbClr val="38BDF8"/>
                </a:solidFill>
                <a:latin typeface="Courier New"/>
                <a:ea typeface="Courier New"/>
                <a:cs typeface="Courier New"/>
                <a:sym typeface="Courier New"/>
              </a:endParaRPr>
            </a:p>
            <a:p>
              <a:pPr indent="0" lvl="0" marL="0" rtl="0" algn="l">
                <a:spcBef>
                  <a:spcPts val="400"/>
                </a:spcBef>
                <a:spcAft>
                  <a:spcPts val="0"/>
                </a:spcAft>
                <a:buNone/>
              </a:pPr>
              <a:r>
                <a:rPr b="0" lang="en" sz="925">
                  <a:solidFill>
                    <a:srgbClr val="94A3B8"/>
                  </a:solidFill>
                  <a:latin typeface="Courier New"/>
                  <a:ea typeface="Courier New"/>
                  <a:cs typeface="Courier New"/>
                  <a:sym typeface="Courier New"/>
                </a:rPr>
                <a:t># Minimized state representation with S3 backlink</a:t>
              </a:r>
              <a:endParaRPr b="0" sz="925">
                <a:solidFill>
                  <a:srgbClr val="94A3B8"/>
                </a:solidFill>
                <a:latin typeface="Courier New"/>
                <a:ea typeface="Courier New"/>
                <a:cs typeface="Courier New"/>
                <a:sym typeface="Courier New"/>
              </a:endParaRPr>
            </a:p>
            <a:p>
              <a:pPr indent="0" lvl="0" marL="0" rtl="0" algn="l">
                <a:spcBef>
                  <a:spcPts val="400"/>
                </a:spcBef>
                <a:spcAft>
                  <a:spcPts val="0"/>
                </a:spcAft>
                <a:buNone/>
              </a:pP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"voltage_v"</a:t>
              </a:r>
              <a:r>
                <a:rPr b="0" lang="en" sz="879">
                  <a:solidFill>
                    <a:srgbClr val="FFFFFF"/>
                  </a:solidFill>
                  <a:latin typeface="Courier New"/>
                  <a:ea typeface="Courier New"/>
                  <a:cs typeface="Courier New"/>
                  <a:sym typeface="Courier New"/>
                </a:rPr>
                <a:t>: </a:t>
              </a:r>
              <a:r>
                <a:rPr b="0" lang="en" sz="879">
                  <a:solidFill>
                    <a:srgbClr val="FB923C"/>
                  </a:solidFill>
                  <a:latin typeface="Courier New"/>
                  <a:ea typeface="Courier New"/>
                  <a:cs typeface="Courier New"/>
                  <a:sym typeface="Courier New"/>
                </a:rPr>
                <a:t>362.4</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"current_a"</a:t>
              </a:r>
              <a:r>
                <a:rPr b="0" lang="en" sz="879">
                  <a:solidFill>
                    <a:srgbClr val="FFFFFF"/>
                  </a:solidFill>
                  <a:latin typeface="Courier New"/>
                  <a:ea typeface="Courier New"/>
                  <a:cs typeface="Courier New"/>
                  <a:sym typeface="Courier New"/>
                </a:rPr>
                <a:t>: </a:t>
              </a:r>
              <a:r>
                <a:rPr b="0" lang="en" sz="879">
                  <a:solidFill>
                    <a:srgbClr val="FB923C"/>
                  </a:solidFill>
                  <a:latin typeface="Courier New"/>
                  <a:ea typeface="Courier New"/>
                  <a:cs typeface="Courier New"/>
                  <a:sym typeface="Courier New"/>
                </a:rPr>
                <a:t>78.6</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"frequency_hz"</a:t>
              </a:r>
              <a:r>
                <a:rPr b="0" lang="en" sz="879">
                  <a:solidFill>
                    <a:srgbClr val="FFFFFF"/>
                  </a:solidFill>
                  <a:latin typeface="Courier New"/>
                  <a:ea typeface="Courier New"/>
                  <a:cs typeface="Courier New"/>
                  <a:sym typeface="Courier New"/>
                </a:rPr>
                <a:t>: </a:t>
              </a:r>
              <a:r>
                <a:rPr b="0" lang="en" sz="879">
                  <a:solidFill>
                    <a:srgbClr val="FB923C"/>
                  </a:solidFill>
                  <a:latin typeface="Courier New"/>
                  <a:ea typeface="Courier New"/>
                  <a:cs typeface="Courier New"/>
                  <a:sym typeface="Courier New"/>
                </a:rPr>
                <a:t>49.98</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"temperature_c"</a:t>
              </a:r>
              <a:r>
                <a:rPr b="0" lang="en" sz="879">
                  <a:solidFill>
                    <a:srgbClr val="FFFFFF"/>
                  </a:solidFill>
                  <a:latin typeface="Courier New"/>
                  <a:ea typeface="Courier New"/>
                  <a:cs typeface="Courier New"/>
                  <a:sym typeface="Courier New"/>
                </a:rPr>
                <a:t>: </a:t>
              </a:r>
              <a:r>
                <a:rPr b="0" lang="en" sz="879">
                  <a:solidFill>
                    <a:srgbClr val="FB923C"/>
                  </a:solidFill>
                  <a:latin typeface="Courier New"/>
                  <a:ea typeface="Courier New"/>
                  <a:cs typeface="Courier New"/>
                  <a:sym typeface="Courier New"/>
                </a:rPr>
                <a:t>41.2</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"power_factor"</a:t>
              </a:r>
              <a:r>
                <a:rPr b="0" lang="en" sz="879">
                  <a:solidFill>
                    <a:srgbClr val="FFFFFF"/>
                  </a:solidFill>
                  <a:latin typeface="Courier New"/>
                  <a:ea typeface="Courier New"/>
                  <a:cs typeface="Courier New"/>
                  <a:sym typeface="Courier New"/>
                </a:rPr>
                <a:t>: </a:t>
              </a:r>
              <a:r>
                <a:rPr b="0" lang="en" sz="879">
                  <a:solidFill>
                    <a:srgbClr val="FB923C"/>
                  </a:solidFill>
                  <a:latin typeface="Courier New"/>
                  <a:ea typeface="Courier New"/>
                  <a:cs typeface="Courier New"/>
                  <a:sym typeface="Courier New"/>
                </a:rPr>
                <a:t>0.947</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"fault_type"</a:t>
              </a:r>
              <a:r>
                <a:rPr b="0" lang="en" sz="879">
                  <a:solidFill>
                    <a:srgbClr val="FFFFFF"/>
                  </a:solidFill>
                  <a:latin typeface="Courier New"/>
                  <a:ea typeface="Courier New"/>
                  <a:cs typeface="Courier New"/>
                  <a:sym typeface="Courier New"/>
                </a:rPr>
                <a:t>: </a:t>
              </a:r>
              <a:r>
                <a:rPr b="0" lang="en" sz="879">
                  <a:solidFill>
                    <a:srgbClr val="4ADE80"/>
                  </a:solidFill>
                  <a:latin typeface="Courier New"/>
                  <a:ea typeface="Courier New"/>
                  <a:cs typeface="Courier New"/>
                  <a:sym typeface="Courier New"/>
                </a:rPr>
                <a:t>"voltage_sag"</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"action"</a:t>
              </a:r>
              <a:r>
                <a:rPr b="0" lang="en" sz="879">
                  <a:solidFill>
                    <a:srgbClr val="FFFFFF"/>
                  </a:solidFill>
                  <a:latin typeface="Courier New"/>
                  <a:ea typeface="Courier New"/>
                  <a:cs typeface="Courier New"/>
                  <a:sym typeface="Courier New"/>
                </a:rPr>
                <a:t>: </a:t>
              </a:r>
              <a:r>
                <a:rPr b="0" lang="en" sz="879">
                  <a:solidFill>
                    <a:srgbClr val="FB923C"/>
                  </a:solidFill>
                  <a:latin typeface="Courier New"/>
                  <a:ea typeface="Courier New"/>
                  <a:cs typeface="Courier New"/>
                  <a:sym typeface="Courier New"/>
                </a:rPr>
                <a:t>2</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"action_name"</a:t>
              </a:r>
              <a:r>
                <a:rPr b="0" lang="en" sz="879">
                  <a:solidFill>
                    <a:srgbClr val="FFFFFF"/>
                  </a:solidFill>
                  <a:latin typeface="Courier New"/>
                  <a:ea typeface="Courier New"/>
                  <a:cs typeface="Courier New"/>
                  <a:sym typeface="Courier New"/>
                </a:rPr>
                <a:t>: </a:t>
              </a:r>
              <a:r>
                <a:rPr b="0" lang="en" sz="879">
                  <a:solidFill>
                    <a:srgbClr val="4ADE80"/>
                  </a:solidFill>
                  <a:latin typeface="Courier New"/>
                  <a:ea typeface="Courier New"/>
                  <a:cs typeface="Courier New"/>
                  <a:sym typeface="Courier New"/>
                </a:rPr>
                <a:t>"switch_backup"</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"confidence"</a:t>
              </a:r>
              <a:r>
                <a:rPr b="0" lang="en" sz="879">
                  <a:solidFill>
                    <a:srgbClr val="FFFFFF"/>
                  </a:solidFill>
                  <a:latin typeface="Courier New"/>
                  <a:ea typeface="Courier New"/>
                  <a:cs typeface="Courier New"/>
                  <a:sym typeface="Courier New"/>
                </a:rPr>
                <a:t>: </a:t>
              </a:r>
              <a:r>
                <a:rPr b="0" lang="en" sz="879">
                  <a:solidFill>
                    <a:srgbClr val="FB923C"/>
                  </a:solidFill>
                  <a:latin typeface="Courier New"/>
                  <a:ea typeface="Courier New"/>
                  <a:cs typeface="Courier New"/>
                  <a:sym typeface="Courier New"/>
                </a:rPr>
                <a:t>0.9421</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"signature_valid"</a:t>
              </a:r>
              <a:r>
                <a:rPr b="0" lang="en" sz="879">
                  <a:solidFill>
                    <a:srgbClr val="FFFFFF"/>
                  </a:solidFill>
                  <a:latin typeface="Courier New"/>
                  <a:ea typeface="Courier New"/>
                  <a:cs typeface="Courier New"/>
                  <a:sym typeface="Courier New"/>
                </a:rPr>
                <a:t>: </a:t>
              </a:r>
              <a:r>
                <a:rPr b="1" lang="en" sz="879">
                  <a:solidFill>
                    <a:srgbClr val="FB923C"/>
                  </a:solidFill>
                  <a:latin typeface="Courier New"/>
                  <a:ea typeface="Courier New"/>
                  <a:cs typeface="Courier New"/>
                  <a:sym typeface="Courier New"/>
                </a:rPr>
                <a:t>true</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"replay_check"</a:t>
              </a:r>
              <a:r>
                <a:rPr b="0" lang="en" sz="879">
                  <a:solidFill>
                    <a:srgbClr val="FFFFFF"/>
                  </a:solidFill>
                  <a:latin typeface="Courier New"/>
                  <a:ea typeface="Courier New"/>
                  <a:cs typeface="Courier New"/>
                  <a:sym typeface="Courier New"/>
                </a:rPr>
                <a:t>: </a:t>
              </a:r>
              <a:r>
                <a:rPr b="0" lang="en" sz="879">
                  <a:solidFill>
                    <a:srgbClr val="4ADE80"/>
                  </a:solidFill>
                  <a:latin typeface="Courier New"/>
                  <a:ea typeface="Courier New"/>
                  <a:cs typeface="Courier New"/>
                  <a:sym typeface="Courier New"/>
                </a:rPr>
                <a:t>"passed"</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"status"</a:t>
              </a:r>
              <a:r>
                <a:rPr b="0" lang="en" sz="879">
                  <a:solidFill>
                    <a:srgbClr val="FFFFFF"/>
                  </a:solidFill>
                  <a:latin typeface="Courier New"/>
                  <a:ea typeface="Courier New"/>
                  <a:cs typeface="Courier New"/>
                  <a:sym typeface="Courier New"/>
                </a:rPr>
                <a:t>: </a:t>
              </a:r>
              <a:r>
                <a:rPr b="0" lang="en" sz="879">
                  <a:solidFill>
                    <a:srgbClr val="4ADE80"/>
                  </a:solidFill>
                  <a:latin typeface="Courier New"/>
                  <a:ea typeface="Courier New"/>
                  <a:cs typeface="Courier New"/>
                  <a:sym typeface="Courier New"/>
                </a:rPr>
                <a:t>"processed"</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"processed_at"</a:t>
              </a:r>
              <a:r>
                <a:rPr b="0" lang="en" sz="879">
                  <a:solidFill>
                    <a:srgbClr val="FFFFFF"/>
                  </a:solidFill>
                  <a:latin typeface="Courier New"/>
                  <a:ea typeface="Courier New"/>
                  <a:cs typeface="Courier New"/>
                  <a:sym typeface="Courier New"/>
                </a:rPr>
                <a:t>: </a:t>
              </a:r>
              <a:r>
                <a:rPr b="0" lang="en" sz="879">
                  <a:solidFill>
                    <a:srgbClr val="4ADE80"/>
                  </a:solidFill>
                  <a:latin typeface="Courier New"/>
                  <a:ea typeface="Courier New"/>
                  <a:cs typeface="Courier New"/>
                  <a:sym typeface="Courier New"/>
                </a:rPr>
                <a:t>"2026-08-10T14:32:08.114562Z"</a:t>
              </a: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a:p>
              <a:pPr indent="0" lvl="0" marL="152400" marR="0" rtl="0" algn="l">
                <a:spcBef>
                  <a:spcPts val="0"/>
                </a:spcBef>
                <a:spcAft>
                  <a:spcPts val="0"/>
                </a:spcAft>
                <a:buNone/>
              </a:pPr>
              <a:r>
                <a:rPr b="0" lang="en" sz="879">
                  <a:solidFill>
                    <a:srgbClr val="F472B6"/>
                  </a:solidFill>
                  <a:latin typeface="Courier New"/>
                  <a:ea typeface="Courier New"/>
                  <a:cs typeface="Courier New"/>
                  <a:sym typeface="Courier New"/>
                </a:rPr>
                <a:t>"last_s3_object"</a:t>
              </a:r>
              <a:r>
                <a:rPr b="0" lang="en" sz="879">
                  <a:solidFill>
                    <a:srgbClr val="FFFFFF"/>
                  </a:solidFill>
                  <a:latin typeface="Courier New"/>
                  <a:ea typeface="Courier New"/>
                  <a:cs typeface="Courier New"/>
                  <a:sym typeface="Courier New"/>
                </a:rPr>
                <a:t>: </a:t>
              </a:r>
              <a:r>
                <a:rPr b="0" lang="en" sz="879">
                  <a:solidFill>
                    <a:srgbClr val="4ADE80"/>
                  </a:solidFill>
                  <a:latin typeface="Courier New"/>
                  <a:ea typeface="Courier New"/>
                  <a:cs typeface="Courier New"/>
                  <a:sym typeface="Courier New"/>
                </a:rPr>
                <a:t>"readings/year=2026/...-002.json"</a:t>
              </a:r>
              <a:endParaRPr b="0" sz="879">
                <a:solidFill>
                  <a:srgbClr val="FFFFFF"/>
                </a:solidFill>
                <a:latin typeface="Courier New"/>
                <a:ea typeface="Courier New"/>
                <a:cs typeface="Courier New"/>
                <a:sym typeface="Courier New"/>
              </a:endParaRPr>
            </a:p>
            <a:p>
              <a:pPr indent="0" lvl="0" marL="0" rtl="0" algn="l">
                <a:spcBef>
                  <a:spcPts val="0"/>
                </a:spcBef>
                <a:spcAft>
                  <a:spcPts val="0"/>
                </a:spcAft>
                <a:buNone/>
              </a:pPr>
              <a:r>
                <a:rPr b="0" lang="en" sz="879">
                  <a:solidFill>
                    <a:srgbClr val="FFFFFF"/>
                  </a:solidFill>
                  <a:latin typeface="Courier New"/>
                  <a:ea typeface="Courier New"/>
                  <a:cs typeface="Courier New"/>
                  <a:sym typeface="Courier New"/>
                </a:rPr>
                <a:t>}</a:t>
              </a:r>
              <a:endParaRPr b="0" sz="879">
                <a:solidFill>
                  <a:srgbClr val="FFFFFF"/>
                </a:solidFill>
                <a:latin typeface="Courier New"/>
                <a:ea typeface="Courier New"/>
                <a:cs typeface="Courier New"/>
                <a:sym typeface="Courier New"/>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0"/>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1" name="Google Shape;551;p30"/>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30"/>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30"/>
          <p:cNvSpPr txBox="1"/>
          <p:nvPr/>
        </p:nvSpPr>
        <p:spPr>
          <a:xfrm>
            <a:off x="381000" y="3810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0F172A"/>
                </a:solidFill>
                <a:latin typeface="Inter"/>
                <a:ea typeface="Inter"/>
                <a:cs typeface="Inter"/>
                <a:sym typeface="Inter"/>
              </a:rPr>
              <a:t>9. Device Shadow Accepted &amp; Loop Closure (publish_to_iot.py)</a:t>
            </a:r>
            <a:endParaRPr b="1" sz="1850">
              <a:solidFill>
                <a:srgbClr val="0F172A"/>
              </a:solidFill>
              <a:latin typeface="Inter"/>
              <a:ea typeface="Inter"/>
              <a:cs typeface="Inter"/>
              <a:sym typeface="Inter"/>
            </a:endParaRPr>
          </a:p>
          <a:p>
            <a:pPr indent="0" lvl="0" marL="0" rtl="0" algn="l">
              <a:spcBef>
                <a:spcPts val="225"/>
              </a:spcBef>
              <a:spcAft>
                <a:spcPts val="0"/>
              </a:spcAft>
              <a:buNone/>
            </a:pPr>
            <a:r>
              <a:rPr b="0" lang="en" sz="925">
                <a:solidFill>
                  <a:srgbClr val="475569"/>
                </a:solidFill>
                <a:latin typeface="Inter"/>
                <a:ea typeface="Inter"/>
                <a:cs typeface="Inter"/>
                <a:sym typeface="Inter"/>
              </a:rPr>
              <a:t>AWS IoT wraps the minimized shadow in its standard metadata envelope and publishes it to the accepted update topic. The edge device, subscribed to this topic, processes the delta to apply real-time prediction actions and close the control loop.</a:t>
            </a:r>
            <a:endParaRPr b="0" sz="925">
              <a:solidFill>
                <a:srgbClr val="475569"/>
              </a:solidFill>
              <a:latin typeface="Inter"/>
              <a:ea typeface="Inter"/>
              <a:cs typeface="Inter"/>
              <a:sym typeface="Inter"/>
            </a:endParaRPr>
          </a:p>
        </p:txBody>
      </p:sp>
      <p:grpSp>
        <p:nvGrpSpPr>
          <p:cNvPr id="554" name="Google Shape;554;p30"/>
          <p:cNvGrpSpPr/>
          <p:nvPr/>
        </p:nvGrpSpPr>
        <p:grpSpPr>
          <a:xfrm>
            <a:off x="376238" y="1328738"/>
            <a:ext cx="3914700" cy="3248100"/>
            <a:chOff x="-4762" y="-4762"/>
            <a:chExt cx="3914700" cy="3248100"/>
          </a:xfrm>
        </p:grpSpPr>
        <p:pic>
          <p:nvPicPr>
            <p:cNvPr id="555" name="Google Shape;555;p30"/>
            <p:cNvPicPr preferRelativeResize="0"/>
            <p:nvPr/>
          </p:nvPicPr>
          <p:blipFill rotWithShape="1">
            <a:blip r:embed="rId3">
              <a:alphaModFix/>
            </a:blip>
            <a:srcRect b="0" l="0" r="0" t="0"/>
            <a:stretch/>
          </p:blipFill>
          <p:spPr>
            <a:xfrm>
              <a:off x="-4762" y="-4762"/>
              <a:ext cx="3914700" cy="3248100"/>
            </a:xfrm>
            <a:prstGeom prst="rect">
              <a:avLst/>
            </a:prstGeom>
            <a:noFill/>
            <a:ln>
              <a:noFill/>
            </a:ln>
          </p:spPr>
        </p:pic>
        <p:sp>
          <p:nvSpPr>
            <p:cNvPr id="556" name="Google Shape;556;p30"/>
            <p:cNvSpPr txBox="1"/>
            <p:nvPr/>
          </p:nvSpPr>
          <p:spPr>
            <a:xfrm>
              <a:off x="190500" y="190500"/>
              <a:ext cx="3524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25">
                  <a:solidFill>
                    <a:srgbClr val="0284C7"/>
                  </a:solidFill>
                  <a:latin typeface="Inter"/>
                  <a:ea typeface="Inter"/>
                  <a:cs typeface="Inter"/>
                  <a:sym typeface="Inter"/>
                </a:rPr>
                <a:t>EDGE RECEPTION &amp; LOOP CLOSURE</a:t>
              </a:r>
              <a:endParaRPr b="1" sz="925">
                <a:solidFill>
                  <a:srgbClr val="0284C7"/>
                </a:solidFill>
                <a:latin typeface="Inter"/>
                <a:ea typeface="Inter"/>
                <a:cs typeface="Inter"/>
                <a:sym typeface="Inter"/>
              </a:endParaRPr>
            </a:p>
            <a:p>
              <a:pPr indent="0" lvl="0" marL="0" rtl="0" algn="l">
                <a:spcBef>
                  <a:spcPts val="300"/>
                </a:spcBef>
                <a:spcAft>
                  <a:spcPts val="0"/>
                </a:spcAft>
                <a:buNone/>
              </a:pPr>
              <a:r>
                <a:rPr b="1" lang="en" sz="1450">
                  <a:solidFill>
                    <a:srgbClr val="0F172A"/>
                  </a:solidFill>
                  <a:latin typeface="Inter"/>
                  <a:ea typeface="Inter"/>
                  <a:cs typeface="Inter"/>
                  <a:sym typeface="Inter"/>
                </a:rPr>
                <a:t>Edge State Synchronization</a:t>
              </a:r>
              <a:endParaRPr b="1" sz="1450">
                <a:solidFill>
                  <a:srgbClr val="0F172A"/>
                </a:solidFill>
                <a:latin typeface="Inter"/>
                <a:ea typeface="Inter"/>
                <a:cs typeface="Inter"/>
                <a:sym typeface="Inter"/>
              </a:endParaRPr>
            </a:p>
            <a:p>
              <a:pPr indent="0" lvl="0" marL="0" rtl="0" algn="l">
                <a:spcBef>
                  <a:spcPts val="600"/>
                </a:spcBef>
                <a:spcAft>
                  <a:spcPts val="0"/>
                </a:spcAft>
                <a:buNone/>
              </a:pPr>
              <a:r>
                <a:rPr b="0" lang="en" sz="1150">
                  <a:solidFill>
                    <a:srgbClr val="475569"/>
                  </a:solidFill>
                  <a:latin typeface="Inter"/>
                  <a:ea typeface="Inter"/>
                  <a:cs typeface="Inter"/>
                  <a:sym typeface="Inter"/>
                </a:rPr>
                <a:t>The edge device receives the wrapped update in under a second. The </a:t>
              </a:r>
              <a:r>
                <a:rPr b="1" lang="en" sz="1150">
                  <a:solidFill>
                    <a:srgbClr val="0F172A"/>
                  </a:solidFill>
                  <a:latin typeface="Courier New"/>
                  <a:ea typeface="Courier New"/>
                  <a:cs typeface="Courier New"/>
                  <a:sym typeface="Courier New"/>
                </a:rPr>
                <a:t>on_shadow_delta()</a:t>
              </a:r>
              <a:r>
                <a:rPr b="0" lang="en" sz="1150">
                  <a:solidFill>
                    <a:srgbClr val="475569"/>
                  </a:solidFill>
                  <a:latin typeface="Inter"/>
                  <a:ea typeface="Inter"/>
                  <a:cs typeface="Inter"/>
                  <a:sym typeface="Inter"/>
                </a:rPr>
                <a:t> handler extracts the decision payload and executes immediate grid stabilization.</a:t>
              </a:r>
              <a:endParaRPr b="0" sz="1150">
                <a:solidFill>
                  <a:srgbClr val="475569"/>
                </a:solidFill>
                <a:latin typeface="Inter"/>
                <a:ea typeface="Inter"/>
                <a:cs typeface="Inter"/>
                <a:sym typeface="Inter"/>
              </a:endParaRPr>
            </a:p>
            <a:p>
              <a:pPr indent="0" lvl="0" marL="0" rtl="0" algn="l">
                <a:spcBef>
                  <a:spcPts val="1200"/>
                </a:spcBef>
                <a:spcAft>
                  <a:spcPts val="0"/>
                </a:spcAft>
                <a:buNone/>
              </a:pPr>
              <a:r>
                <a:rPr b="1" lang="en" sz="925">
                  <a:solidFill>
                    <a:srgbClr val="10B981"/>
                  </a:solidFill>
                  <a:latin typeface="Inter"/>
                  <a:ea typeface="Inter"/>
                  <a:cs typeface="Inter"/>
                  <a:sym typeface="Inter"/>
                </a:rPr>
                <a:t>prediction_prediction.json</a:t>
              </a:r>
              <a:endParaRPr b="1" sz="925">
                <a:solidFill>
                  <a:srgbClr val="10B981"/>
                </a:solidFill>
                <a:latin typeface="Inter"/>
                <a:ea typeface="Inter"/>
                <a:cs typeface="Inter"/>
                <a:sym typeface="Inter"/>
              </a:endParaRPr>
            </a:p>
            <a:p>
              <a:pPr indent="0" lvl="0" marL="0" rtl="0" algn="l">
                <a:spcBef>
                  <a:spcPts val="300"/>
                </a:spcBef>
                <a:spcAft>
                  <a:spcPts val="0"/>
                </a:spcAft>
                <a:buNone/>
              </a:pPr>
              <a:r>
                <a:rPr b="0" lang="en" sz="1150">
                  <a:solidFill>
                    <a:srgbClr val="475569"/>
                  </a:solidFill>
                  <a:latin typeface="Inter"/>
                  <a:ea typeface="Inter"/>
                  <a:cs typeface="Inter"/>
                  <a:sym typeface="Inter"/>
                </a:rPr>
                <a:t>Writes action, action_name, and confidence to local disk storage.</a:t>
              </a:r>
              <a:endParaRPr b="0" sz="1150">
                <a:solidFill>
                  <a:srgbClr val="475569"/>
                </a:solidFill>
                <a:latin typeface="Inter"/>
                <a:ea typeface="Inter"/>
                <a:cs typeface="Inter"/>
                <a:sym typeface="Inter"/>
              </a:endParaRPr>
            </a:p>
            <a:p>
              <a:pPr indent="-301625" lvl="0" marL="457200" rtl="0" algn="l">
                <a:spcBef>
                  <a:spcPts val="600"/>
                </a:spcBef>
                <a:spcAft>
                  <a:spcPts val="0"/>
                </a:spcAft>
                <a:buClr>
                  <a:srgbClr val="475569"/>
                </a:buClr>
                <a:buSzPts val="1150"/>
                <a:buFont typeface="Inter"/>
                <a:buChar char="●"/>
              </a:pPr>
              <a:r>
                <a:rPr lang="en" sz="1150">
                  <a:solidFill>
                    <a:srgbClr val="475569"/>
                  </a:solidFill>
                  <a:latin typeface="Inter"/>
                  <a:ea typeface="Inter"/>
                  <a:cs typeface="Inter"/>
                  <a:sym typeface="Inter"/>
                </a:rPr>
                <a:t>Unwraps </a:t>
              </a:r>
              <a:r>
                <a:rPr lang="en" sz="1150">
                  <a:solidFill>
                    <a:srgbClr val="0F172A"/>
                  </a:solidFill>
                  <a:latin typeface="Courier New"/>
                  <a:ea typeface="Courier New"/>
                  <a:cs typeface="Courier New"/>
                  <a:sym typeface="Courier New"/>
                </a:rPr>
                <a:t>state.reported</a:t>
              </a:r>
              <a:r>
                <a:rPr lang="en" sz="1150">
                  <a:solidFill>
                    <a:srgbClr val="475569"/>
                  </a:solidFill>
                  <a:latin typeface="Inter"/>
                  <a:ea typeface="Inter"/>
                  <a:cs typeface="Inter"/>
                  <a:sym typeface="Inter"/>
                </a:rPr>
                <a:t> from envelope</a:t>
              </a:r>
              <a:endParaRPr sz="1150">
                <a:solidFill>
                  <a:srgbClr val="475569"/>
                </a:solidFill>
                <a:latin typeface="Inter"/>
                <a:ea typeface="Inter"/>
                <a:cs typeface="Inter"/>
                <a:sym typeface="Inter"/>
              </a:endParaRPr>
            </a:p>
            <a:p>
              <a:pPr indent="-301625" lvl="0" marL="457200" rtl="0" algn="l">
                <a:spcBef>
                  <a:spcPts val="300"/>
                </a:spcBef>
                <a:spcAft>
                  <a:spcPts val="0"/>
                </a:spcAft>
                <a:buClr>
                  <a:srgbClr val="475569"/>
                </a:buClr>
                <a:buSzPts val="1150"/>
                <a:buFont typeface="Inter"/>
                <a:buChar char="●"/>
              </a:pPr>
              <a:r>
                <a:rPr lang="en" sz="1150">
                  <a:solidFill>
                    <a:srgbClr val="475569"/>
                  </a:solidFill>
                  <a:latin typeface="Inter"/>
                  <a:ea typeface="Inter"/>
                  <a:cs typeface="Inter"/>
                  <a:sym typeface="Inter"/>
                </a:rPr>
                <a:t>Triggers </a:t>
              </a:r>
              <a:r>
                <a:rPr b="1" lang="en" sz="1150">
                  <a:solidFill>
                    <a:srgbClr val="10B981"/>
                  </a:solidFill>
                  <a:latin typeface="Courier New"/>
                  <a:ea typeface="Courier New"/>
                  <a:cs typeface="Courier New"/>
                  <a:sym typeface="Courier New"/>
                </a:rPr>
                <a:t>switch_backup</a:t>
              </a:r>
              <a:r>
                <a:rPr lang="en" sz="1150">
                  <a:solidFill>
                    <a:srgbClr val="475569"/>
                  </a:solidFill>
                  <a:latin typeface="Inter"/>
                  <a:ea typeface="Inter"/>
                  <a:cs typeface="Inter"/>
                  <a:sym typeface="Inter"/>
                </a:rPr>
                <a:t> action</a:t>
              </a:r>
              <a:endParaRPr sz="1150">
                <a:solidFill>
                  <a:srgbClr val="475569"/>
                </a:solidFill>
                <a:latin typeface="Inter"/>
                <a:ea typeface="Inter"/>
                <a:cs typeface="Inter"/>
                <a:sym typeface="Inter"/>
              </a:endParaRPr>
            </a:p>
            <a:p>
              <a:pPr indent="-301625" lvl="0" marL="457200" rtl="0" algn="l">
                <a:spcBef>
                  <a:spcPts val="300"/>
                </a:spcBef>
                <a:spcAft>
                  <a:spcPts val="300"/>
                </a:spcAft>
                <a:buClr>
                  <a:srgbClr val="475569"/>
                </a:buClr>
                <a:buSzPts val="1150"/>
                <a:buFont typeface="Inter"/>
                <a:buChar char="●"/>
              </a:pPr>
              <a:r>
                <a:rPr lang="en" sz="1150">
                  <a:solidFill>
                    <a:srgbClr val="475569"/>
                  </a:solidFill>
                  <a:latin typeface="Inter"/>
                  <a:ea typeface="Inter"/>
                  <a:cs typeface="Inter"/>
                  <a:sym typeface="Inter"/>
                </a:rPr>
                <a:t>Completes roundtrip in &lt;1.0s</a:t>
              </a:r>
              <a:endParaRPr sz="1150">
                <a:solidFill>
                  <a:srgbClr val="475569"/>
                </a:solidFill>
                <a:latin typeface="Inter"/>
                <a:ea typeface="Inter"/>
                <a:cs typeface="Inter"/>
                <a:sym typeface="Inter"/>
              </a:endParaRPr>
            </a:p>
          </p:txBody>
        </p:sp>
      </p:grpSp>
      <p:grpSp>
        <p:nvGrpSpPr>
          <p:cNvPr id="557" name="Google Shape;557;p30"/>
          <p:cNvGrpSpPr/>
          <p:nvPr/>
        </p:nvGrpSpPr>
        <p:grpSpPr>
          <a:xfrm>
            <a:off x="4572000" y="1333500"/>
            <a:ext cx="4191000" cy="3238500"/>
            <a:chOff x="0" y="0"/>
            <a:chExt cx="4191000" cy="3238500"/>
          </a:xfrm>
        </p:grpSpPr>
        <p:pic>
          <p:nvPicPr>
            <p:cNvPr id="558" name="Google Shape;558;p30"/>
            <p:cNvPicPr preferRelativeResize="0"/>
            <p:nvPr/>
          </p:nvPicPr>
          <p:blipFill rotWithShape="1">
            <a:blip r:embed="rId4">
              <a:alphaModFix/>
            </a:blip>
            <a:srcRect b="0" l="0" r="0" t="0"/>
            <a:stretch/>
          </p:blipFill>
          <p:spPr>
            <a:xfrm>
              <a:off x="0" y="0"/>
              <a:ext cx="4191000" cy="3238500"/>
            </a:xfrm>
            <a:prstGeom prst="rect">
              <a:avLst/>
            </a:prstGeom>
            <a:noFill/>
            <a:ln>
              <a:noFill/>
            </a:ln>
          </p:spPr>
        </p:pic>
        <p:sp>
          <p:nvSpPr>
            <p:cNvPr id="559" name="Google Shape;559;p30"/>
            <p:cNvSpPr/>
            <p:nvPr/>
          </p:nvSpPr>
          <p:spPr>
            <a:xfrm>
              <a:off x="0" y="0"/>
              <a:ext cx="4191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0" name="Google Shape;560;p30"/>
            <p:cNvSpPr txBox="1"/>
            <p:nvPr/>
          </p:nvSpPr>
          <p:spPr>
            <a:xfrm>
              <a:off x="228600" y="190500"/>
              <a:ext cx="3733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71">
                  <a:solidFill>
                    <a:srgbClr val="38BDF8"/>
                  </a:solidFill>
                  <a:latin typeface="Courier New"/>
                  <a:ea typeface="Courier New"/>
                  <a:cs typeface="Courier New"/>
                  <a:sym typeface="Courier New"/>
                </a:rPr>
                <a:t>//$aws/things/edge-device-002/shadow/update/accepted</a:t>
              </a:r>
              <a:endParaRPr b="1" sz="1071">
                <a:solidFill>
                  <a:srgbClr val="38BDF8"/>
                </a:solidFill>
                <a:latin typeface="Courier New"/>
                <a:ea typeface="Courier New"/>
                <a:cs typeface="Courier New"/>
                <a:sym typeface="Courier New"/>
              </a:endParaRPr>
            </a:p>
            <a:p>
              <a:pPr indent="0" lvl="0" marL="0" rtl="0" algn="l">
                <a:spcBef>
                  <a:spcPts val="400"/>
                </a:spcBef>
                <a:spcAft>
                  <a:spcPts val="0"/>
                </a:spcAft>
                <a:buNone/>
              </a:pPr>
              <a:r>
                <a:rPr b="0" lang="en" sz="1025">
                  <a:solidFill>
                    <a:srgbClr val="94A3B8"/>
                  </a:solidFill>
                  <a:latin typeface="Courier New"/>
                  <a:ea typeface="Courier New"/>
                  <a:cs typeface="Courier New"/>
                  <a:sym typeface="Courier New"/>
                </a:rPr>
                <a:t># AWS IoT Wrapper Envelope with metadata and state</a:t>
              </a:r>
              <a:endParaRPr b="0" sz="1025">
                <a:solidFill>
                  <a:srgbClr val="94A3B8"/>
                </a:solidFill>
                <a:latin typeface="Courier New"/>
                <a:ea typeface="Courier New"/>
                <a:cs typeface="Courier New"/>
                <a:sym typeface="Courier New"/>
              </a:endParaRPr>
            </a:p>
            <a:p>
              <a:pPr indent="0" lvl="0" marL="0" rtl="0" algn="l">
                <a:spcBef>
                  <a:spcPts val="400"/>
                </a:spcBef>
                <a:spcAft>
                  <a:spcPts val="0"/>
                </a:spcAft>
                <a:buNone/>
              </a:pPr>
              <a:r>
                <a:rPr b="0" lang="en" sz="978">
                  <a:solidFill>
                    <a:srgbClr val="FFFFFF"/>
                  </a:solidFill>
                  <a:latin typeface="Courier New"/>
                  <a:ea typeface="Courier New"/>
                  <a:cs typeface="Courier New"/>
                  <a:sym typeface="Courier New"/>
                </a:rPr>
                <a:t>{</a:t>
              </a:r>
              <a:endParaRPr b="0" sz="978">
                <a:solidFill>
                  <a:srgbClr val="FFFFFF"/>
                </a:solidFill>
                <a:latin typeface="Courier New"/>
                <a:ea typeface="Courier New"/>
                <a:cs typeface="Courier New"/>
                <a:sym typeface="Courier New"/>
              </a:endParaRPr>
            </a:p>
            <a:p>
              <a:pPr indent="0" lvl="0" marL="114300" marR="0" rtl="0" algn="l">
                <a:spcBef>
                  <a:spcPts val="0"/>
                </a:spcBef>
                <a:spcAft>
                  <a:spcPts val="0"/>
                </a:spcAft>
                <a:buNone/>
              </a:pPr>
              <a:r>
                <a:rPr b="0" lang="en" sz="978">
                  <a:solidFill>
                    <a:srgbClr val="F472B6"/>
                  </a:solidFill>
                  <a:latin typeface="Courier New"/>
                  <a:ea typeface="Courier New"/>
                  <a:cs typeface="Courier New"/>
                  <a:sym typeface="Courier New"/>
                </a:rPr>
                <a:t>"state"</a:t>
              </a:r>
              <a:r>
                <a:rPr b="0" lang="en" sz="978">
                  <a:solidFill>
                    <a:srgbClr val="FFFFFF"/>
                  </a:solidFill>
                  <a:latin typeface="Courier New"/>
                  <a:ea typeface="Courier New"/>
                  <a:cs typeface="Courier New"/>
                  <a:sym typeface="Courier New"/>
                </a:rPr>
                <a:t>: {</a:t>
              </a:r>
              <a:endParaRPr b="0" sz="978">
                <a:solidFill>
                  <a:srgbClr val="FFFFFF"/>
                </a:solidFill>
                <a:latin typeface="Courier New"/>
                <a:ea typeface="Courier New"/>
                <a:cs typeface="Courier New"/>
                <a:sym typeface="Courier New"/>
              </a:endParaRPr>
            </a:p>
            <a:p>
              <a:pPr indent="0" lvl="0" marL="228600" marR="0" rtl="0" algn="l">
                <a:spcBef>
                  <a:spcPts val="0"/>
                </a:spcBef>
                <a:spcAft>
                  <a:spcPts val="0"/>
                </a:spcAft>
                <a:buNone/>
              </a:pPr>
              <a:r>
                <a:rPr b="0" lang="en" sz="978">
                  <a:solidFill>
                    <a:srgbClr val="F472B6"/>
                  </a:solidFill>
                  <a:latin typeface="Courier New"/>
                  <a:ea typeface="Courier New"/>
                  <a:cs typeface="Courier New"/>
                  <a:sym typeface="Courier New"/>
                </a:rPr>
                <a:t>"reported"</a:t>
              </a:r>
              <a:r>
                <a:rPr b="0" lang="en" sz="978">
                  <a:solidFill>
                    <a:srgbClr val="FFFFFF"/>
                  </a:solidFill>
                  <a:latin typeface="Courier New"/>
                  <a:ea typeface="Courier New"/>
                  <a:cs typeface="Courier New"/>
                  <a:sym typeface="Courier New"/>
                </a:rPr>
                <a:t>: { </a:t>
              </a:r>
              <a:r>
                <a:rPr b="0" lang="en" sz="978">
                  <a:solidFill>
                    <a:srgbClr val="94A3B8"/>
                  </a:solidFill>
                  <a:latin typeface="Courier New"/>
                  <a:ea typeface="Courier New"/>
                  <a:cs typeface="Courier New"/>
                  <a:sym typeface="Courier New"/>
                </a:rPr>
                <a:t>/* 14-field object from stage 8 */</a:t>
              </a:r>
              <a:r>
                <a:rPr b="0" lang="en" sz="978">
                  <a:solidFill>
                    <a:srgbClr val="FFFFFF"/>
                  </a:solidFill>
                  <a:latin typeface="Courier New"/>
                  <a:ea typeface="Courier New"/>
                  <a:cs typeface="Courier New"/>
                  <a:sym typeface="Courier New"/>
                </a:rPr>
                <a:t> }</a:t>
              </a:r>
              <a:endParaRPr b="0" sz="978">
                <a:solidFill>
                  <a:srgbClr val="FFFFFF"/>
                </a:solidFill>
                <a:latin typeface="Courier New"/>
                <a:ea typeface="Courier New"/>
                <a:cs typeface="Courier New"/>
                <a:sym typeface="Courier New"/>
              </a:endParaRPr>
            </a:p>
            <a:p>
              <a:pPr indent="0" lvl="0" marL="114300" marR="0" rtl="0" algn="l">
                <a:spcBef>
                  <a:spcPts val="0"/>
                </a:spcBef>
                <a:spcAft>
                  <a:spcPts val="0"/>
                </a:spcAft>
                <a:buNone/>
              </a:pPr>
              <a:r>
                <a:rPr b="0" lang="en" sz="978">
                  <a:solidFill>
                    <a:srgbClr val="FFFFFF"/>
                  </a:solidFill>
                  <a:latin typeface="Courier New"/>
                  <a:ea typeface="Courier New"/>
                  <a:cs typeface="Courier New"/>
                  <a:sym typeface="Courier New"/>
                </a:rPr>
                <a:t>},</a:t>
              </a:r>
              <a:endParaRPr b="0" sz="978">
                <a:solidFill>
                  <a:srgbClr val="FFFFFF"/>
                </a:solidFill>
                <a:latin typeface="Courier New"/>
                <a:ea typeface="Courier New"/>
                <a:cs typeface="Courier New"/>
                <a:sym typeface="Courier New"/>
              </a:endParaRPr>
            </a:p>
            <a:p>
              <a:pPr indent="0" lvl="0" marL="114300" marR="0" rtl="0" algn="l">
                <a:spcBef>
                  <a:spcPts val="0"/>
                </a:spcBef>
                <a:spcAft>
                  <a:spcPts val="0"/>
                </a:spcAft>
                <a:buNone/>
              </a:pPr>
              <a:r>
                <a:rPr b="0" lang="en" sz="978">
                  <a:solidFill>
                    <a:srgbClr val="F472B6"/>
                  </a:solidFill>
                  <a:latin typeface="Courier New"/>
                  <a:ea typeface="Courier New"/>
                  <a:cs typeface="Courier New"/>
                  <a:sym typeface="Courier New"/>
                </a:rPr>
                <a:t>"metadata"</a:t>
              </a:r>
              <a:r>
                <a:rPr b="0" lang="en" sz="978">
                  <a:solidFill>
                    <a:srgbClr val="FFFFFF"/>
                  </a:solidFill>
                  <a:latin typeface="Courier New"/>
                  <a:ea typeface="Courier New"/>
                  <a:cs typeface="Courier New"/>
                  <a:sym typeface="Courier New"/>
                </a:rPr>
                <a:t>: {</a:t>
              </a:r>
              <a:endParaRPr b="0" sz="978">
                <a:solidFill>
                  <a:srgbClr val="FFFFFF"/>
                </a:solidFill>
                <a:latin typeface="Courier New"/>
                <a:ea typeface="Courier New"/>
                <a:cs typeface="Courier New"/>
                <a:sym typeface="Courier New"/>
              </a:endParaRPr>
            </a:p>
            <a:p>
              <a:pPr indent="0" lvl="0" marL="228600" marR="0" rtl="0" algn="l">
                <a:spcBef>
                  <a:spcPts val="0"/>
                </a:spcBef>
                <a:spcAft>
                  <a:spcPts val="0"/>
                </a:spcAft>
                <a:buNone/>
              </a:pPr>
              <a:r>
                <a:rPr b="0" lang="en" sz="978">
                  <a:solidFill>
                    <a:srgbClr val="F472B6"/>
                  </a:solidFill>
                  <a:latin typeface="Courier New"/>
                  <a:ea typeface="Courier New"/>
                  <a:cs typeface="Courier New"/>
                  <a:sym typeface="Courier New"/>
                </a:rPr>
                <a:t>"reported"</a:t>
              </a:r>
              <a:r>
                <a:rPr b="0" lang="en" sz="978">
                  <a:solidFill>
                    <a:srgbClr val="FFFFFF"/>
                  </a:solidFill>
                  <a:latin typeface="Courier New"/>
                  <a:ea typeface="Courier New"/>
                  <a:cs typeface="Courier New"/>
                  <a:sym typeface="Courier New"/>
                </a:rPr>
                <a:t>: {</a:t>
              </a:r>
              <a:endParaRPr b="0" sz="978">
                <a:solidFill>
                  <a:srgbClr val="FFFFFF"/>
                </a:solidFill>
                <a:latin typeface="Courier New"/>
                <a:ea typeface="Courier New"/>
                <a:cs typeface="Courier New"/>
                <a:sym typeface="Courier New"/>
              </a:endParaRPr>
            </a:p>
            <a:p>
              <a:pPr indent="0" lvl="0" marL="342900" marR="0" rtl="0" algn="l">
                <a:spcBef>
                  <a:spcPts val="0"/>
                </a:spcBef>
                <a:spcAft>
                  <a:spcPts val="0"/>
                </a:spcAft>
                <a:buNone/>
              </a:pPr>
              <a:r>
                <a:rPr b="0" lang="en" sz="978">
                  <a:solidFill>
                    <a:srgbClr val="F472B6"/>
                  </a:solidFill>
                  <a:latin typeface="Courier New"/>
                  <a:ea typeface="Courier New"/>
                  <a:cs typeface="Courier New"/>
                  <a:sym typeface="Courier New"/>
                </a:rPr>
                <a:t>"voltage_v"</a:t>
              </a:r>
              <a:r>
                <a:rPr b="0" lang="en" sz="978">
                  <a:solidFill>
                    <a:srgbClr val="FFFFFF"/>
                  </a:solidFill>
                  <a:latin typeface="Courier New"/>
                  <a:ea typeface="Courier New"/>
                  <a:cs typeface="Courier New"/>
                  <a:sym typeface="Courier New"/>
                </a:rPr>
                <a:t>: { </a:t>
              </a:r>
              <a:r>
                <a:rPr b="0" lang="en" sz="978">
                  <a:solidFill>
                    <a:srgbClr val="F472B6"/>
                  </a:solidFill>
                  <a:latin typeface="Courier New"/>
                  <a:ea typeface="Courier New"/>
                  <a:cs typeface="Courier New"/>
                  <a:sym typeface="Courier New"/>
                </a:rPr>
                <a:t>"timestamp"</a:t>
              </a:r>
              <a:r>
                <a:rPr b="0" lang="en" sz="978">
                  <a:solidFill>
                    <a:srgbClr val="FFFFFF"/>
                  </a:solidFill>
                  <a:latin typeface="Courier New"/>
                  <a:ea typeface="Courier New"/>
                  <a:cs typeface="Courier New"/>
                  <a:sym typeface="Courier New"/>
                </a:rPr>
                <a:t>: </a:t>
              </a:r>
              <a:r>
                <a:rPr b="0" lang="en" sz="978">
                  <a:solidFill>
                    <a:srgbClr val="FB923C"/>
                  </a:solidFill>
                  <a:latin typeface="Courier New"/>
                  <a:ea typeface="Courier New"/>
                  <a:cs typeface="Courier New"/>
                  <a:sym typeface="Courier New"/>
                </a:rPr>
                <a:t>1755008528</a:t>
              </a:r>
              <a:r>
                <a:rPr b="0" lang="en" sz="978">
                  <a:solidFill>
                    <a:srgbClr val="FFFFFF"/>
                  </a:solidFill>
                  <a:latin typeface="Courier New"/>
                  <a:ea typeface="Courier New"/>
                  <a:cs typeface="Courier New"/>
                  <a:sym typeface="Courier New"/>
                </a:rPr>
                <a:t> },</a:t>
              </a:r>
              <a:endParaRPr b="0" sz="978">
                <a:solidFill>
                  <a:srgbClr val="FFFFFF"/>
                </a:solidFill>
                <a:latin typeface="Courier New"/>
                <a:ea typeface="Courier New"/>
                <a:cs typeface="Courier New"/>
                <a:sym typeface="Courier New"/>
              </a:endParaRPr>
            </a:p>
            <a:p>
              <a:pPr indent="0" lvl="0" marL="342900" marR="0" rtl="0" algn="l">
                <a:spcBef>
                  <a:spcPts val="0"/>
                </a:spcBef>
                <a:spcAft>
                  <a:spcPts val="0"/>
                </a:spcAft>
                <a:buNone/>
              </a:pPr>
              <a:r>
                <a:rPr b="0" lang="en" sz="978">
                  <a:solidFill>
                    <a:srgbClr val="F472B6"/>
                  </a:solidFill>
                  <a:latin typeface="Courier New"/>
                  <a:ea typeface="Courier New"/>
                  <a:cs typeface="Courier New"/>
                  <a:sym typeface="Courier New"/>
                </a:rPr>
                <a:t>"action"</a:t>
              </a:r>
              <a:r>
                <a:rPr b="0" lang="en" sz="978">
                  <a:solidFill>
                    <a:srgbClr val="FFFFFF"/>
                  </a:solidFill>
                  <a:latin typeface="Courier New"/>
                  <a:ea typeface="Courier New"/>
                  <a:cs typeface="Courier New"/>
                  <a:sym typeface="Courier New"/>
                </a:rPr>
                <a:t>: { </a:t>
              </a:r>
              <a:r>
                <a:rPr b="0" lang="en" sz="978">
                  <a:solidFill>
                    <a:srgbClr val="F472B6"/>
                  </a:solidFill>
                  <a:latin typeface="Courier New"/>
                  <a:ea typeface="Courier New"/>
                  <a:cs typeface="Courier New"/>
                  <a:sym typeface="Courier New"/>
                </a:rPr>
                <a:t>"timestamp"</a:t>
              </a:r>
              <a:r>
                <a:rPr b="0" lang="en" sz="978">
                  <a:solidFill>
                    <a:srgbClr val="FFFFFF"/>
                  </a:solidFill>
                  <a:latin typeface="Courier New"/>
                  <a:ea typeface="Courier New"/>
                  <a:cs typeface="Courier New"/>
                  <a:sym typeface="Courier New"/>
                </a:rPr>
                <a:t>: </a:t>
              </a:r>
              <a:r>
                <a:rPr b="0" lang="en" sz="978">
                  <a:solidFill>
                    <a:srgbClr val="FB923C"/>
                  </a:solidFill>
                  <a:latin typeface="Courier New"/>
                  <a:ea typeface="Courier New"/>
                  <a:cs typeface="Courier New"/>
                  <a:sym typeface="Courier New"/>
                </a:rPr>
                <a:t>1755008528</a:t>
              </a:r>
              <a:r>
                <a:rPr b="0" lang="en" sz="978">
                  <a:solidFill>
                    <a:srgbClr val="FFFFFF"/>
                  </a:solidFill>
                  <a:latin typeface="Courier New"/>
                  <a:ea typeface="Courier New"/>
                  <a:cs typeface="Courier New"/>
                  <a:sym typeface="Courier New"/>
                </a:rPr>
                <a:t> }</a:t>
              </a:r>
              <a:endParaRPr b="0" sz="978">
                <a:solidFill>
                  <a:srgbClr val="FFFFFF"/>
                </a:solidFill>
                <a:latin typeface="Courier New"/>
                <a:ea typeface="Courier New"/>
                <a:cs typeface="Courier New"/>
                <a:sym typeface="Courier New"/>
              </a:endParaRPr>
            </a:p>
            <a:p>
              <a:pPr indent="0" lvl="0" marL="228600" marR="0" rtl="0" algn="l">
                <a:spcBef>
                  <a:spcPts val="0"/>
                </a:spcBef>
                <a:spcAft>
                  <a:spcPts val="0"/>
                </a:spcAft>
                <a:buNone/>
              </a:pPr>
              <a:r>
                <a:rPr b="0" lang="en" sz="978">
                  <a:solidFill>
                    <a:srgbClr val="FFFFFF"/>
                  </a:solidFill>
                  <a:latin typeface="Courier New"/>
                  <a:ea typeface="Courier New"/>
                  <a:cs typeface="Courier New"/>
                  <a:sym typeface="Courier New"/>
                </a:rPr>
                <a:t>}</a:t>
              </a:r>
              <a:endParaRPr b="0" sz="978">
                <a:solidFill>
                  <a:srgbClr val="FFFFFF"/>
                </a:solidFill>
                <a:latin typeface="Courier New"/>
                <a:ea typeface="Courier New"/>
                <a:cs typeface="Courier New"/>
                <a:sym typeface="Courier New"/>
              </a:endParaRPr>
            </a:p>
            <a:p>
              <a:pPr indent="0" lvl="0" marL="114300" marR="0" rtl="0" algn="l">
                <a:spcBef>
                  <a:spcPts val="0"/>
                </a:spcBef>
                <a:spcAft>
                  <a:spcPts val="0"/>
                </a:spcAft>
                <a:buNone/>
              </a:pPr>
              <a:r>
                <a:rPr b="0" lang="en" sz="978">
                  <a:solidFill>
                    <a:srgbClr val="FFFFFF"/>
                  </a:solidFill>
                  <a:latin typeface="Courier New"/>
                  <a:ea typeface="Courier New"/>
                  <a:cs typeface="Courier New"/>
                  <a:sym typeface="Courier New"/>
                </a:rPr>
                <a:t>},</a:t>
              </a:r>
              <a:endParaRPr b="0" sz="978">
                <a:solidFill>
                  <a:srgbClr val="FFFFFF"/>
                </a:solidFill>
                <a:latin typeface="Courier New"/>
                <a:ea typeface="Courier New"/>
                <a:cs typeface="Courier New"/>
                <a:sym typeface="Courier New"/>
              </a:endParaRPr>
            </a:p>
            <a:p>
              <a:pPr indent="0" lvl="0" marL="114300" marR="0" rtl="0" algn="l">
                <a:spcBef>
                  <a:spcPts val="0"/>
                </a:spcBef>
                <a:spcAft>
                  <a:spcPts val="0"/>
                </a:spcAft>
                <a:buNone/>
              </a:pPr>
              <a:r>
                <a:rPr b="0" lang="en" sz="978">
                  <a:solidFill>
                    <a:srgbClr val="F472B6"/>
                  </a:solidFill>
                  <a:latin typeface="Courier New"/>
                  <a:ea typeface="Courier New"/>
                  <a:cs typeface="Courier New"/>
                  <a:sym typeface="Courier New"/>
                </a:rPr>
                <a:t>"version"</a:t>
              </a:r>
              <a:r>
                <a:rPr b="0" lang="en" sz="978">
                  <a:solidFill>
                    <a:srgbClr val="FFFFFF"/>
                  </a:solidFill>
                  <a:latin typeface="Courier New"/>
                  <a:ea typeface="Courier New"/>
                  <a:cs typeface="Courier New"/>
                  <a:sym typeface="Courier New"/>
                </a:rPr>
                <a:t>: </a:t>
              </a:r>
              <a:r>
                <a:rPr b="0" lang="en" sz="978">
                  <a:solidFill>
                    <a:srgbClr val="FB923C"/>
                  </a:solidFill>
                  <a:latin typeface="Courier New"/>
                  <a:ea typeface="Courier New"/>
                  <a:cs typeface="Courier New"/>
                  <a:sym typeface="Courier New"/>
                </a:rPr>
                <a:t>47</a:t>
              </a:r>
              <a:r>
                <a:rPr b="0" lang="en" sz="978">
                  <a:solidFill>
                    <a:srgbClr val="FFFFFF"/>
                  </a:solidFill>
                  <a:latin typeface="Courier New"/>
                  <a:ea typeface="Courier New"/>
                  <a:cs typeface="Courier New"/>
                  <a:sym typeface="Courier New"/>
                </a:rPr>
                <a:t>,</a:t>
              </a:r>
              <a:endParaRPr b="0" sz="978">
                <a:solidFill>
                  <a:srgbClr val="FFFFFF"/>
                </a:solidFill>
                <a:latin typeface="Courier New"/>
                <a:ea typeface="Courier New"/>
                <a:cs typeface="Courier New"/>
                <a:sym typeface="Courier New"/>
              </a:endParaRPr>
            </a:p>
            <a:p>
              <a:pPr indent="0" lvl="0" marL="114300" marR="0" rtl="0" algn="l">
                <a:spcBef>
                  <a:spcPts val="0"/>
                </a:spcBef>
                <a:spcAft>
                  <a:spcPts val="0"/>
                </a:spcAft>
                <a:buNone/>
              </a:pPr>
              <a:r>
                <a:rPr b="0" lang="en" sz="978">
                  <a:solidFill>
                    <a:srgbClr val="F472B6"/>
                  </a:solidFill>
                  <a:latin typeface="Courier New"/>
                  <a:ea typeface="Courier New"/>
                  <a:cs typeface="Courier New"/>
                  <a:sym typeface="Courier New"/>
                </a:rPr>
                <a:t>"timestamp"</a:t>
              </a:r>
              <a:r>
                <a:rPr b="0" lang="en" sz="978">
                  <a:solidFill>
                    <a:srgbClr val="FFFFFF"/>
                  </a:solidFill>
                  <a:latin typeface="Courier New"/>
                  <a:ea typeface="Courier New"/>
                  <a:cs typeface="Courier New"/>
                  <a:sym typeface="Courier New"/>
                </a:rPr>
                <a:t>: </a:t>
              </a:r>
              <a:r>
                <a:rPr b="0" lang="en" sz="978">
                  <a:solidFill>
                    <a:srgbClr val="FB923C"/>
                  </a:solidFill>
                  <a:latin typeface="Courier New"/>
                  <a:ea typeface="Courier New"/>
                  <a:cs typeface="Courier New"/>
                  <a:sym typeface="Courier New"/>
                </a:rPr>
                <a:t>1755008528</a:t>
              </a:r>
              <a:endParaRPr b="0" sz="978">
                <a:solidFill>
                  <a:srgbClr val="FFFFFF"/>
                </a:solidFill>
                <a:latin typeface="Courier New"/>
                <a:ea typeface="Courier New"/>
                <a:cs typeface="Courier New"/>
                <a:sym typeface="Courier New"/>
              </a:endParaRPr>
            </a:p>
            <a:p>
              <a:pPr indent="0" lvl="0" marL="0" rtl="0" algn="l">
                <a:spcBef>
                  <a:spcPts val="0"/>
                </a:spcBef>
                <a:spcAft>
                  <a:spcPts val="0"/>
                </a:spcAft>
                <a:buNone/>
              </a:pPr>
              <a:r>
                <a:rPr b="0" lang="en" sz="978">
                  <a:solidFill>
                    <a:srgbClr val="FFFFFF"/>
                  </a:solidFill>
                  <a:latin typeface="Courier New"/>
                  <a:ea typeface="Courier New"/>
                  <a:cs typeface="Courier New"/>
                  <a:sym typeface="Courier New"/>
                </a:rPr>
                <a:t>}</a:t>
              </a:r>
              <a:endParaRPr b="0" sz="978">
                <a:solidFill>
                  <a:srgbClr val="FFFFFF"/>
                </a:solidFill>
                <a:latin typeface="Courier New"/>
                <a:ea typeface="Courier New"/>
                <a:cs typeface="Courier New"/>
                <a:sym typeface="Courier New"/>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6" name="Google Shape;566;p31"/>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7" name="Google Shape;567;p31"/>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68" name="Google Shape;568;p31"/>
          <p:cNvPicPr preferRelativeResize="0"/>
          <p:nvPr/>
        </p:nvPicPr>
        <p:blipFill rotWithShape="1">
          <a:blip r:embed="rId3">
            <a:alphaModFix/>
          </a:blip>
          <a:srcRect b="0" l="0" r="0" t="0"/>
          <a:stretch/>
        </p:blipFill>
        <p:spPr>
          <a:xfrm>
            <a:off x="8191500" y="190500"/>
            <a:ext cx="495300" cy="495300"/>
          </a:xfrm>
          <a:prstGeom prst="roundRect">
            <a:avLst>
              <a:gd fmla="val 11538" name="adj"/>
            </a:avLst>
          </a:prstGeom>
          <a:noFill/>
          <a:ln>
            <a:noFill/>
          </a:ln>
        </p:spPr>
      </p:pic>
      <p:sp>
        <p:nvSpPr>
          <p:cNvPr id="569" name="Google Shape;569;p31"/>
          <p:cNvSpPr txBox="1"/>
          <p:nvPr/>
        </p:nvSpPr>
        <p:spPr>
          <a:xfrm>
            <a:off x="381000" y="304800"/>
            <a:ext cx="7620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Grid-RL Telemetry Data Journey</a:t>
            </a:r>
            <a:endParaRPr b="1" sz="2400">
              <a:solidFill>
                <a:srgbClr val="0F172A"/>
              </a:solidFill>
              <a:latin typeface="Inter"/>
              <a:ea typeface="Inter"/>
              <a:cs typeface="Inter"/>
              <a:sym typeface="Inter"/>
            </a:endParaRPr>
          </a:p>
          <a:p>
            <a:pPr indent="0" lvl="0" marL="0" rtl="0" algn="l">
              <a:spcBef>
                <a:spcPts val="300"/>
              </a:spcBef>
              <a:spcAft>
                <a:spcPts val="0"/>
              </a:spcAft>
              <a:buNone/>
            </a:pPr>
            <a:r>
              <a:rPr b="0" lang="en" sz="1000">
                <a:solidFill>
                  <a:srgbClr val="475569"/>
                </a:solidFill>
                <a:latin typeface="Inter"/>
                <a:ea typeface="Inter"/>
                <a:cs typeface="Inter"/>
                <a:sym typeface="Inter"/>
              </a:rPr>
              <a:t>Visualizing payload schema mutation from edge emission to central cloud enrichment, and back to closed-loop edge action.</a:t>
            </a:r>
            <a:endParaRPr b="0" sz="1000">
              <a:solidFill>
                <a:srgbClr val="475569"/>
              </a:solidFill>
              <a:latin typeface="Inter"/>
              <a:ea typeface="Inter"/>
              <a:cs typeface="Inter"/>
              <a:sym typeface="Inter"/>
            </a:endParaRPr>
          </a:p>
        </p:txBody>
      </p:sp>
      <p:grpSp>
        <p:nvGrpSpPr>
          <p:cNvPr id="570" name="Google Shape;570;p31"/>
          <p:cNvGrpSpPr/>
          <p:nvPr/>
        </p:nvGrpSpPr>
        <p:grpSpPr>
          <a:xfrm>
            <a:off x="381000" y="1095375"/>
            <a:ext cx="2628900" cy="3667200"/>
            <a:chOff x="0" y="0"/>
            <a:chExt cx="2628900" cy="3667200"/>
          </a:xfrm>
        </p:grpSpPr>
        <p:sp>
          <p:nvSpPr>
            <p:cNvPr id="571" name="Google Shape;571;p31"/>
            <p:cNvSpPr/>
            <p:nvPr/>
          </p:nvSpPr>
          <p:spPr>
            <a:xfrm>
              <a:off x="0" y="0"/>
              <a:ext cx="2628900" cy="3667200"/>
            </a:xfrm>
            <a:prstGeom prst="roundRect">
              <a:avLst>
                <a:gd fmla="val 289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31"/>
            <p:cNvSpPr/>
            <p:nvPr/>
          </p:nvSpPr>
          <p:spPr>
            <a:xfrm>
              <a:off x="0" y="0"/>
              <a:ext cx="2628900" cy="381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31"/>
            <p:cNvSpPr txBox="1"/>
            <p:nvPr/>
          </p:nvSpPr>
          <p:spPr>
            <a:xfrm>
              <a:off x="171450" y="152400"/>
              <a:ext cx="2286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284C7"/>
                  </a:solidFill>
                  <a:latin typeface="Inter"/>
                  <a:ea typeface="Inter"/>
                  <a:cs typeface="Inter"/>
                  <a:sym typeface="Inter"/>
                </a:rPr>
                <a:t>STAGE 1: DEVICE EMISSION</a:t>
              </a:r>
              <a:endParaRPr b="1" sz="850">
                <a:solidFill>
                  <a:srgbClr val="0284C7"/>
                </a:solidFill>
                <a:latin typeface="Inter"/>
                <a:ea typeface="Inter"/>
                <a:cs typeface="Inter"/>
                <a:sym typeface="Inter"/>
              </a:endParaRPr>
            </a:p>
            <a:p>
              <a:pPr indent="0" lvl="0" marL="0" rtl="0" algn="l">
                <a:spcBef>
                  <a:spcPts val="300"/>
                </a:spcBef>
                <a:spcAft>
                  <a:spcPts val="0"/>
                </a:spcAft>
                <a:buNone/>
              </a:pPr>
              <a:r>
                <a:rPr b="1" lang="en" sz="1300">
                  <a:solidFill>
                    <a:srgbClr val="0F172A"/>
                  </a:solidFill>
                  <a:latin typeface="Inter"/>
                  <a:ea typeface="Inter"/>
                  <a:cs typeface="Inter"/>
                  <a:sym typeface="Inter"/>
                </a:rPr>
                <a:t>Outbound Edge Payload</a:t>
              </a:r>
              <a:endParaRPr b="1" sz="1300">
                <a:solidFill>
                  <a:srgbClr val="0F172A"/>
                </a:solidFill>
                <a:latin typeface="Inter"/>
                <a:ea typeface="Inter"/>
                <a:cs typeface="Inter"/>
                <a:sym typeface="Inter"/>
              </a:endParaRPr>
            </a:p>
            <a:p>
              <a:pPr indent="0" lvl="0" marL="0" rtl="0" algn="l">
                <a:spcBef>
                  <a:spcPts val="0"/>
                </a:spcBef>
                <a:spcAft>
                  <a:spcPts val="0"/>
                </a:spcAft>
                <a:buNone/>
              </a:pPr>
              <a:r>
                <a:rPr b="1" lang="en" sz="950">
                  <a:solidFill>
                    <a:srgbClr val="475569"/>
                  </a:solidFill>
                  <a:latin typeface="Inter"/>
                  <a:ea typeface="Inter"/>
                  <a:cs typeface="Inter"/>
                  <a:sym typeface="Inter"/>
                </a:rPr>
                <a:t>10 fields</a:t>
              </a:r>
              <a:r>
                <a:rPr b="0" lang="en" sz="950">
                  <a:solidFill>
                    <a:srgbClr val="475569"/>
                  </a:solidFill>
                  <a:latin typeface="Inter"/>
                  <a:ea typeface="Inter"/>
                  <a:cs typeface="Inter"/>
                  <a:sym typeface="Inter"/>
                </a:rPr>
                <a:t> containing raw sensor telemetry, a sequence number, nonce, and HMAC security signature.</a:t>
              </a:r>
              <a:endParaRPr b="0" sz="950">
                <a:solidFill>
                  <a:srgbClr val="475569"/>
                </a:solidFill>
                <a:latin typeface="Inter"/>
                <a:ea typeface="Inter"/>
                <a:cs typeface="Inter"/>
                <a:sym typeface="Inter"/>
              </a:endParaRPr>
            </a:p>
            <a:p>
              <a:pPr indent="0" lvl="0" marL="0" rtl="0" algn="l">
                <a:spcBef>
                  <a:spcPts val="750"/>
                </a:spcBef>
                <a:spcAft>
                  <a:spcPts val="0"/>
                </a:spcAft>
                <a:buNone/>
              </a:pPr>
              <a:r>
                <a:t/>
              </a:r>
              <a:endParaRPr sz="800">
                <a:solidFill>
                  <a:srgbClr val="94A3B8"/>
                </a:solidFill>
                <a:highlight>
                  <a:schemeClr val="lt1"/>
                </a:highlight>
                <a:latin typeface="Courier New"/>
                <a:ea typeface="Courier New"/>
                <a:cs typeface="Courier New"/>
                <a:sym typeface="Courier New"/>
              </a:endParaRPr>
            </a:p>
          </p:txBody>
        </p:sp>
      </p:grpSp>
      <p:grpSp>
        <p:nvGrpSpPr>
          <p:cNvPr id="574" name="Google Shape;574;p31"/>
          <p:cNvGrpSpPr/>
          <p:nvPr/>
        </p:nvGrpSpPr>
        <p:grpSpPr>
          <a:xfrm>
            <a:off x="3257550" y="1095375"/>
            <a:ext cx="2628900" cy="3667200"/>
            <a:chOff x="0" y="0"/>
            <a:chExt cx="2628900" cy="3667200"/>
          </a:xfrm>
        </p:grpSpPr>
        <p:sp>
          <p:nvSpPr>
            <p:cNvPr id="575" name="Google Shape;575;p31"/>
            <p:cNvSpPr/>
            <p:nvPr/>
          </p:nvSpPr>
          <p:spPr>
            <a:xfrm>
              <a:off x="0" y="0"/>
              <a:ext cx="2628900" cy="3667200"/>
            </a:xfrm>
            <a:prstGeom prst="roundRect">
              <a:avLst>
                <a:gd fmla="val 289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31"/>
            <p:cNvSpPr/>
            <p:nvPr/>
          </p:nvSpPr>
          <p:spPr>
            <a:xfrm>
              <a:off x="0" y="0"/>
              <a:ext cx="2628900" cy="38100"/>
            </a:xfrm>
            <a:prstGeom prst="roundRect">
              <a:avLst>
                <a:gd fmla="val 50000" name="adj"/>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31"/>
            <p:cNvSpPr txBox="1"/>
            <p:nvPr/>
          </p:nvSpPr>
          <p:spPr>
            <a:xfrm>
              <a:off x="171450" y="152400"/>
              <a:ext cx="2286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284C7"/>
                  </a:solidFill>
                  <a:latin typeface="Inter"/>
                  <a:ea typeface="Inter"/>
                  <a:cs typeface="Inter"/>
                  <a:sym typeface="Inter"/>
                </a:rPr>
                <a:t>STAGE 2: CLOUD ENRICHMENT</a:t>
              </a:r>
              <a:endParaRPr b="1" sz="850">
                <a:solidFill>
                  <a:srgbClr val="0284C7"/>
                </a:solidFill>
                <a:latin typeface="Inter"/>
                <a:ea typeface="Inter"/>
                <a:cs typeface="Inter"/>
                <a:sym typeface="Inter"/>
              </a:endParaRPr>
            </a:p>
            <a:p>
              <a:pPr indent="0" lvl="0" marL="0" rtl="0" algn="l">
                <a:spcBef>
                  <a:spcPts val="300"/>
                </a:spcBef>
                <a:spcAft>
                  <a:spcPts val="0"/>
                </a:spcAft>
                <a:buNone/>
              </a:pPr>
              <a:r>
                <a:rPr b="1" lang="en" sz="1300">
                  <a:solidFill>
                    <a:srgbClr val="0F172A"/>
                  </a:solidFill>
                  <a:latin typeface="Inter"/>
                  <a:ea typeface="Inter"/>
                  <a:cs typeface="Inter"/>
                  <a:sym typeface="Inter"/>
                </a:rPr>
                <a:t>S3 Data Lake Record</a:t>
              </a:r>
              <a:endParaRPr b="1" sz="1300">
                <a:solidFill>
                  <a:srgbClr val="0F172A"/>
                </a:solidFill>
                <a:latin typeface="Inter"/>
                <a:ea typeface="Inter"/>
                <a:cs typeface="Inter"/>
                <a:sym typeface="Inter"/>
              </a:endParaRPr>
            </a:p>
            <a:p>
              <a:pPr indent="0" lvl="0" marL="0" rtl="0" algn="l">
                <a:spcBef>
                  <a:spcPts val="0"/>
                </a:spcBef>
                <a:spcAft>
                  <a:spcPts val="750"/>
                </a:spcAft>
                <a:buNone/>
              </a:pPr>
              <a:r>
                <a:rPr b="1" lang="en" sz="950">
                  <a:solidFill>
                    <a:srgbClr val="475569"/>
                  </a:solidFill>
                  <a:latin typeface="Inter"/>
                  <a:ea typeface="Inter"/>
                  <a:cs typeface="Inter"/>
                  <a:sym typeface="Inter"/>
                </a:rPr>
                <a:t>18 fields</a:t>
              </a:r>
              <a:r>
                <a:rPr b="0" lang="en" sz="950">
                  <a:solidFill>
                    <a:srgbClr val="475569"/>
                  </a:solidFill>
                  <a:latin typeface="Inter"/>
                  <a:ea typeface="Inter"/>
                  <a:cs typeface="Inter"/>
                  <a:sym typeface="Inter"/>
                </a:rPr>
                <a:t>. Telemetry payload is validated, merged with ML fault classification &amp; RL control decisions.</a:t>
              </a:r>
              <a:endParaRPr sz="700">
                <a:solidFill>
                  <a:srgbClr val="94A3B8"/>
                </a:solidFill>
                <a:highlight>
                  <a:srgbClr val="0F172A"/>
                </a:highlight>
                <a:latin typeface="Courier New"/>
                <a:ea typeface="Courier New"/>
                <a:cs typeface="Courier New"/>
                <a:sym typeface="Courier New"/>
              </a:endParaRPr>
            </a:p>
          </p:txBody>
        </p:sp>
      </p:grpSp>
      <p:grpSp>
        <p:nvGrpSpPr>
          <p:cNvPr id="578" name="Google Shape;578;p31"/>
          <p:cNvGrpSpPr/>
          <p:nvPr/>
        </p:nvGrpSpPr>
        <p:grpSpPr>
          <a:xfrm>
            <a:off x="6134100" y="1095375"/>
            <a:ext cx="2628900" cy="3667200"/>
            <a:chOff x="0" y="0"/>
            <a:chExt cx="2628900" cy="3667200"/>
          </a:xfrm>
        </p:grpSpPr>
        <p:sp>
          <p:nvSpPr>
            <p:cNvPr id="579" name="Google Shape;579;p31"/>
            <p:cNvSpPr/>
            <p:nvPr/>
          </p:nvSpPr>
          <p:spPr>
            <a:xfrm>
              <a:off x="0" y="0"/>
              <a:ext cx="2628900" cy="3667200"/>
            </a:xfrm>
            <a:prstGeom prst="roundRect">
              <a:avLst>
                <a:gd fmla="val 2898"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0" name="Google Shape;580;p31"/>
            <p:cNvSpPr/>
            <p:nvPr/>
          </p:nvSpPr>
          <p:spPr>
            <a:xfrm>
              <a:off x="0" y="0"/>
              <a:ext cx="2628900" cy="381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31"/>
            <p:cNvSpPr txBox="1"/>
            <p:nvPr/>
          </p:nvSpPr>
          <p:spPr>
            <a:xfrm>
              <a:off x="171450" y="152400"/>
              <a:ext cx="2286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EF4444"/>
                  </a:solidFill>
                  <a:latin typeface="Inter"/>
                  <a:ea typeface="Inter"/>
                  <a:cs typeface="Inter"/>
                  <a:sym typeface="Inter"/>
                </a:rPr>
                <a:t>STAGE 3: LOOP CLOSURE</a:t>
              </a:r>
              <a:endParaRPr b="1" sz="850">
                <a:solidFill>
                  <a:srgbClr val="EF4444"/>
                </a:solidFill>
                <a:latin typeface="Inter"/>
                <a:ea typeface="Inter"/>
                <a:cs typeface="Inter"/>
                <a:sym typeface="Inter"/>
              </a:endParaRPr>
            </a:p>
            <a:p>
              <a:pPr indent="0" lvl="0" marL="0" rtl="0" algn="l">
                <a:spcBef>
                  <a:spcPts val="300"/>
                </a:spcBef>
                <a:spcAft>
                  <a:spcPts val="0"/>
                </a:spcAft>
                <a:buNone/>
              </a:pPr>
              <a:r>
                <a:rPr b="1" lang="en" sz="1300">
                  <a:solidFill>
                    <a:srgbClr val="0F172A"/>
                  </a:solidFill>
                  <a:latin typeface="Inter"/>
                  <a:ea typeface="Inter"/>
                  <a:cs typeface="Inter"/>
                  <a:sym typeface="Inter"/>
                </a:rPr>
                <a:t>Shadow Response Delta</a:t>
              </a:r>
              <a:endParaRPr b="1" sz="1300">
                <a:solidFill>
                  <a:srgbClr val="0F172A"/>
                </a:solidFill>
                <a:latin typeface="Inter"/>
                <a:ea typeface="Inter"/>
                <a:cs typeface="Inter"/>
                <a:sym typeface="Inter"/>
              </a:endParaRPr>
            </a:p>
            <a:p>
              <a:pPr indent="0" lvl="0" marL="0" rtl="0" algn="l">
                <a:spcBef>
                  <a:spcPts val="0"/>
                </a:spcBef>
                <a:spcAft>
                  <a:spcPts val="0"/>
                </a:spcAft>
                <a:buNone/>
              </a:pPr>
              <a:r>
                <a:rPr b="0" lang="en" sz="950">
                  <a:solidFill>
                    <a:srgbClr val="475569"/>
                  </a:solidFill>
                  <a:latin typeface="Inter"/>
                  <a:ea typeface="Inter"/>
                  <a:cs typeface="Inter"/>
                  <a:sym typeface="Inter"/>
                </a:rPr>
                <a:t>Critical action payload received back at edge device to execute immediate physical grid stabilization.</a:t>
              </a:r>
              <a:endParaRPr b="0" sz="950">
                <a:solidFill>
                  <a:srgbClr val="475569"/>
                </a:solidFill>
                <a:latin typeface="Inter"/>
                <a:ea typeface="Inter"/>
                <a:cs typeface="Inter"/>
                <a:sym typeface="Inter"/>
              </a:endParaRPr>
            </a:p>
            <a:p>
              <a:pPr indent="0" lvl="0" marL="0" rtl="0" algn="l">
                <a:spcBef>
                  <a:spcPts val="1125"/>
                </a:spcBef>
                <a:spcAft>
                  <a:spcPts val="0"/>
                </a:spcAft>
                <a:buNone/>
              </a:pPr>
              <a:r>
                <a:rPr b="1" lang="en" sz="800">
                  <a:solidFill>
                    <a:srgbClr val="EF4444"/>
                  </a:solidFill>
                  <a:latin typeface="Inter"/>
                  <a:ea typeface="Inter"/>
                  <a:cs typeface="Inter"/>
                  <a:sym typeface="Inter"/>
                </a:rPr>
                <a:t>🔴 CRITICAL ACTION DIRECTIVE</a:t>
              </a:r>
              <a:endParaRPr b="1" sz="800">
                <a:solidFill>
                  <a:srgbClr val="EF4444"/>
                </a:solidFill>
                <a:latin typeface="Inter"/>
                <a:ea typeface="Inter"/>
                <a:cs typeface="Inter"/>
                <a:sym typeface="Inter"/>
              </a:endParaRPr>
            </a:p>
            <a:p>
              <a:pPr indent="0" lvl="0" marL="0" rtl="0" algn="l">
                <a:spcBef>
                  <a:spcPts val="750"/>
                </a:spcBef>
                <a:spcAft>
                  <a:spcPts val="0"/>
                </a:spcAft>
                <a:buNone/>
              </a:pPr>
              <a:r>
                <a:rPr lang="en" sz="850">
                  <a:solidFill>
                    <a:srgbClr val="475569"/>
                  </a:solidFill>
                  <a:highlight>
                    <a:srgbClr val="FFFFFF"/>
                  </a:highlight>
                  <a:latin typeface="Inter"/>
                  <a:ea typeface="Inter"/>
                  <a:cs typeface="Inter"/>
                  <a:sym typeface="Inter"/>
                </a:rPr>
                <a:t>Action Name &amp; ID</a:t>
              </a:r>
              <a:endParaRPr sz="850">
                <a:solidFill>
                  <a:srgbClr val="475569"/>
                </a:solidFill>
                <a:highlight>
                  <a:srgbClr val="FFFFFF"/>
                </a:highlight>
                <a:latin typeface="Inter"/>
                <a:ea typeface="Inter"/>
                <a:cs typeface="Inter"/>
                <a:sym typeface="Inter"/>
              </a:endParaRPr>
            </a:p>
            <a:p>
              <a:pPr indent="0" lvl="0" marL="0" rtl="0" algn="l">
                <a:spcBef>
                  <a:spcPts val="150"/>
                </a:spcBef>
                <a:spcAft>
                  <a:spcPts val="0"/>
                </a:spcAft>
                <a:buNone/>
              </a:pPr>
              <a:r>
                <a:rPr b="1" lang="en" sz="1150">
                  <a:solidFill>
                    <a:srgbClr val="0F172A"/>
                  </a:solidFill>
                  <a:highlight>
                    <a:srgbClr val="FFFFFF"/>
                  </a:highlight>
                  <a:latin typeface="Courier New"/>
                  <a:ea typeface="Courier New"/>
                  <a:cs typeface="Courier New"/>
                  <a:sym typeface="Courier New"/>
                </a:rPr>
                <a:t>switch_backup </a:t>
              </a:r>
              <a:r>
                <a:rPr b="1" lang="en" sz="950">
                  <a:solidFill>
                    <a:srgbClr val="EF4444"/>
                  </a:solidFill>
                  <a:latin typeface="Courier New"/>
                  <a:ea typeface="Courier New"/>
                  <a:cs typeface="Courier New"/>
                  <a:sym typeface="Courier New"/>
                </a:rPr>
                <a:t>(ID: 2)</a:t>
              </a:r>
              <a:endParaRPr b="1" sz="1150">
                <a:solidFill>
                  <a:srgbClr val="0F172A"/>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850">
                  <a:solidFill>
                    <a:srgbClr val="475569"/>
                  </a:solidFill>
                  <a:highlight>
                    <a:srgbClr val="FFFFFF"/>
                  </a:highlight>
                  <a:latin typeface="Inter"/>
                  <a:ea typeface="Inter"/>
                  <a:cs typeface="Inter"/>
                  <a:sym typeface="Inter"/>
                </a:rPr>
                <a:t>Target Confidence Level</a:t>
              </a:r>
              <a:endParaRPr sz="850">
                <a:solidFill>
                  <a:srgbClr val="475569"/>
                </a:solidFill>
                <a:highlight>
                  <a:srgbClr val="FFFFFF"/>
                </a:highlight>
                <a:latin typeface="Inter"/>
                <a:ea typeface="Inter"/>
                <a:cs typeface="Inter"/>
                <a:sym typeface="Inter"/>
              </a:endParaRPr>
            </a:p>
            <a:p>
              <a:pPr indent="0" lvl="0" marL="0" rtl="0" algn="l">
                <a:spcBef>
                  <a:spcPts val="150"/>
                </a:spcBef>
                <a:spcAft>
                  <a:spcPts val="0"/>
                </a:spcAft>
                <a:buNone/>
              </a:pPr>
              <a:r>
                <a:rPr b="1" lang="en" sz="1150">
                  <a:solidFill>
                    <a:srgbClr val="10B981"/>
                  </a:solidFill>
                  <a:latin typeface="Courier New"/>
                  <a:ea typeface="Courier New"/>
                  <a:cs typeface="Courier New"/>
                  <a:sym typeface="Courier New"/>
                </a:rPr>
                <a:t>94.21% </a:t>
              </a:r>
              <a:r>
                <a:rPr b="0" lang="en" sz="850">
                  <a:solidFill>
                    <a:srgbClr val="64748B"/>
                  </a:solidFill>
                  <a:highlight>
                    <a:srgbClr val="FFFFFF"/>
                  </a:highlight>
                  <a:latin typeface="Inter"/>
                  <a:ea typeface="Inter"/>
                  <a:cs typeface="Inter"/>
                  <a:sym typeface="Inter"/>
                </a:rPr>
                <a:t>(0.9421)</a:t>
              </a:r>
              <a:endParaRPr b="1" sz="1150">
                <a:solidFill>
                  <a:srgbClr val="10B981"/>
                </a:solidFill>
                <a:latin typeface="Courier New"/>
                <a:ea typeface="Courier New"/>
                <a:cs typeface="Courier New"/>
                <a:sym typeface="Courier New"/>
              </a:endParaRPr>
            </a:p>
            <a:p>
              <a:pPr indent="0" lvl="0" marL="0" rtl="0" algn="l">
                <a:spcBef>
                  <a:spcPts val="0"/>
                </a:spcBef>
                <a:spcAft>
                  <a:spcPts val="0"/>
                </a:spcAft>
                <a:buNone/>
              </a:pPr>
              <a:r>
                <a:rPr lang="en" sz="850">
                  <a:solidFill>
                    <a:srgbClr val="475569"/>
                  </a:solidFill>
                  <a:highlight>
                    <a:srgbClr val="FFFFFF"/>
                  </a:highlight>
                  <a:latin typeface="Inter"/>
                  <a:ea typeface="Inter"/>
                  <a:cs typeface="Inter"/>
                  <a:sym typeface="Inter"/>
                </a:rPr>
                <a:t>Fault Context &amp; Reading</a:t>
              </a:r>
              <a:endParaRPr sz="850">
                <a:solidFill>
                  <a:srgbClr val="475569"/>
                </a:solidFill>
                <a:highlight>
                  <a:srgbClr val="FFFFFF"/>
                </a:highlight>
                <a:latin typeface="Inter"/>
                <a:ea typeface="Inter"/>
                <a:cs typeface="Inter"/>
                <a:sym typeface="Inter"/>
              </a:endParaRPr>
            </a:p>
            <a:p>
              <a:pPr indent="0" lvl="0" marL="0" rtl="0" algn="l">
                <a:spcBef>
                  <a:spcPts val="150"/>
                </a:spcBef>
                <a:spcAft>
                  <a:spcPts val="0"/>
                </a:spcAft>
                <a:buNone/>
              </a:pPr>
              <a:r>
                <a:rPr b="0" lang="en" sz="950">
                  <a:solidFill>
                    <a:srgbClr val="0F172A"/>
                  </a:solidFill>
                  <a:highlight>
                    <a:srgbClr val="FFFFFF"/>
                  </a:highlight>
                  <a:latin typeface="Inter SemiBold"/>
                  <a:ea typeface="Inter SemiBold"/>
                  <a:cs typeface="Inter SemiBold"/>
                  <a:sym typeface="Inter SemiBold"/>
                </a:rPr>
                <a:t>voltage_sag </a:t>
              </a:r>
              <a:r>
                <a:rPr b="0" lang="en" sz="900">
                  <a:solidFill>
                    <a:srgbClr val="475569"/>
                  </a:solidFill>
                  <a:highlight>
                    <a:srgbClr val="FFFFFF"/>
                  </a:highlight>
                  <a:latin typeface="Courier New"/>
                  <a:ea typeface="Courier New"/>
                  <a:cs typeface="Courier New"/>
                  <a:sym typeface="Courier New"/>
                </a:rPr>
                <a:t>@ 362.4 V</a:t>
              </a:r>
              <a:endParaRPr b="0" sz="950">
                <a:solidFill>
                  <a:srgbClr val="0F172A"/>
                </a:solidFill>
                <a:highlight>
                  <a:srgbClr val="FFFFFF"/>
                </a:highlight>
                <a:latin typeface="Inter SemiBold"/>
                <a:ea typeface="Inter SemiBold"/>
                <a:cs typeface="Inter SemiBold"/>
                <a:sym typeface="Inter SemiBold"/>
              </a:endParaRPr>
            </a:p>
            <a:p>
              <a:pPr indent="0" lvl="0" marL="0" rtl="0" algn="l">
                <a:spcBef>
                  <a:spcPts val="0"/>
                </a:spcBef>
                <a:spcAft>
                  <a:spcPts val="0"/>
                </a:spcAft>
                <a:buNone/>
              </a:pPr>
              <a:r>
                <a:rPr lang="en" sz="850">
                  <a:solidFill>
                    <a:srgbClr val="475569"/>
                  </a:solidFill>
                  <a:highlight>
                    <a:srgbClr val="FFFFFF"/>
                  </a:highlight>
                  <a:latin typeface="Inter"/>
                  <a:ea typeface="Inter"/>
                  <a:cs typeface="Inter"/>
                  <a:sym typeface="Inter"/>
                </a:rPr>
                <a:t>Roundtrip Execution Time</a:t>
              </a:r>
              <a:endParaRPr sz="850">
                <a:solidFill>
                  <a:srgbClr val="475569"/>
                </a:solidFill>
                <a:highlight>
                  <a:srgbClr val="FFFFFF"/>
                </a:highlight>
                <a:latin typeface="Inter"/>
                <a:ea typeface="Inter"/>
                <a:cs typeface="Inter"/>
                <a:sym typeface="Inter"/>
              </a:endParaRPr>
            </a:p>
            <a:p>
              <a:pPr indent="0" lvl="0" marL="0" rtl="0" algn="l">
                <a:spcBef>
                  <a:spcPts val="150"/>
                </a:spcBef>
                <a:spcAft>
                  <a:spcPts val="0"/>
                </a:spcAft>
                <a:buNone/>
              </a:pPr>
              <a:r>
                <a:rPr b="0" lang="en" sz="900">
                  <a:solidFill>
                    <a:srgbClr val="0F172A"/>
                  </a:solidFill>
                  <a:highlight>
                    <a:srgbClr val="FFFFFF"/>
                  </a:highlight>
                  <a:latin typeface="Courier New"/>
                  <a:ea typeface="Courier New"/>
                  <a:cs typeface="Courier New"/>
                  <a:sym typeface="Courier New"/>
                </a:rPr>
                <a:t>2026-08-10T14:32:08.114Z</a:t>
              </a:r>
              <a:endParaRPr b="0" sz="900">
                <a:solidFill>
                  <a:srgbClr val="0F172A"/>
                </a:solidFill>
                <a:highlight>
                  <a:srgbClr val="FFFFFF"/>
                </a:highlight>
                <a:latin typeface="Courier New"/>
                <a:ea typeface="Courier New"/>
                <a:cs typeface="Courier New"/>
                <a:sym typeface="Courier New"/>
              </a:endParaRPr>
            </a:p>
          </p:txBody>
        </p:sp>
      </p:grpSp>
      <p:grpSp>
        <p:nvGrpSpPr>
          <p:cNvPr id="582" name="Google Shape;582;p31"/>
          <p:cNvGrpSpPr/>
          <p:nvPr/>
        </p:nvGrpSpPr>
        <p:grpSpPr>
          <a:xfrm>
            <a:off x="565563" y="2297900"/>
            <a:ext cx="2259787" cy="2171738"/>
            <a:chOff x="0" y="0"/>
            <a:chExt cx="4191000" cy="3238500"/>
          </a:xfrm>
        </p:grpSpPr>
        <p:pic>
          <p:nvPicPr>
            <p:cNvPr id="583" name="Google Shape;583;p31"/>
            <p:cNvPicPr preferRelativeResize="0"/>
            <p:nvPr/>
          </p:nvPicPr>
          <p:blipFill rotWithShape="1">
            <a:blip r:embed="rId4">
              <a:alphaModFix/>
            </a:blip>
            <a:srcRect b="0" l="0" r="0" t="0"/>
            <a:stretch/>
          </p:blipFill>
          <p:spPr>
            <a:xfrm>
              <a:off x="0" y="0"/>
              <a:ext cx="4191000" cy="3238500"/>
            </a:xfrm>
            <a:prstGeom prst="rect">
              <a:avLst/>
            </a:prstGeom>
            <a:noFill/>
            <a:ln>
              <a:noFill/>
            </a:ln>
          </p:spPr>
        </p:pic>
        <p:sp>
          <p:nvSpPr>
            <p:cNvPr id="584" name="Google Shape;584;p31"/>
            <p:cNvSpPr/>
            <p:nvPr/>
          </p:nvSpPr>
          <p:spPr>
            <a:xfrm>
              <a:off x="0" y="0"/>
              <a:ext cx="4191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5" name="Google Shape;585;p31"/>
            <p:cNvSpPr txBox="1"/>
            <p:nvPr/>
          </p:nvSpPr>
          <p:spPr>
            <a:xfrm>
              <a:off x="228600" y="190500"/>
              <a:ext cx="3733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rgbClr val="94A3B8"/>
                  </a:solidFill>
                  <a:latin typeface="Courier New"/>
                  <a:ea typeface="Courier New"/>
                  <a:cs typeface="Courier New"/>
                  <a:sym typeface="Courier New"/>
                </a:rPr>
                <a:t>// publish_to_iot.py</a:t>
              </a:r>
              <a:endParaRPr sz="800">
                <a:solidFill>
                  <a:srgbClr val="94A3B8"/>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94A3B8"/>
                  </a:solidFill>
                  <a:latin typeface="Courier New"/>
                  <a:ea typeface="Courier New"/>
                  <a:cs typeface="Courier New"/>
                  <a:sym typeface="Courier New"/>
                </a:rPr>
                <a:t>{</a:t>
              </a:r>
              <a:endParaRPr sz="800">
                <a:solidFill>
                  <a:srgbClr val="94A3B8"/>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"device_id"</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10B981"/>
                  </a:solidFill>
                  <a:latin typeface="Courier New"/>
                  <a:ea typeface="Courier New"/>
                  <a:cs typeface="Courier New"/>
                  <a:sym typeface="Courier New"/>
                </a:rPr>
                <a:t>"edge-device-002"</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"timestamp"</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10B981"/>
                  </a:solidFill>
                  <a:latin typeface="Courier New"/>
                  <a:ea typeface="Courier New"/>
                  <a:cs typeface="Courier New"/>
                  <a:sym typeface="Courier New"/>
                </a:rPr>
                <a:t>"2026-08-10T14:32:07Z"</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"voltage_v"</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FB923C"/>
                  </a:solidFill>
                  <a:latin typeface="Courier New"/>
                  <a:ea typeface="Courier New"/>
                  <a:cs typeface="Courier New"/>
                  <a:sym typeface="Courier New"/>
                </a:rPr>
                <a:t>362.4</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"current_a"</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FB923C"/>
                  </a:solidFill>
                  <a:latin typeface="Courier New"/>
                  <a:ea typeface="Courier New"/>
                  <a:cs typeface="Courier New"/>
                  <a:sym typeface="Courier New"/>
                </a:rPr>
                <a:t>78.6</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"frequency_hz"</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FB923C"/>
                  </a:solidFill>
                  <a:latin typeface="Courier New"/>
                  <a:ea typeface="Courier New"/>
                  <a:cs typeface="Courier New"/>
                  <a:sym typeface="Courier New"/>
                </a:rPr>
                <a:t>49.98</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"temperature_c"</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FB923C"/>
                  </a:solidFill>
                  <a:latin typeface="Courier New"/>
                  <a:ea typeface="Courier New"/>
                  <a:cs typeface="Courier New"/>
                  <a:sym typeface="Courier New"/>
                </a:rPr>
                <a:t>41.2</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"power_factor"</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FB923C"/>
                  </a:solidFill>
                  <a:latin typeface="Courier New"/>
                  <a:ea typeface="Courier New"/>
                  <a:cs typeface="Courier New"/>
                  <a:sym typeface="Courier New"/>
                </a:rPr>
                <a:t>0.947</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"seq"</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FB923C"/>
                  </a:solidFill>
                  <a:latin typeface="Courier New"/>
                  <a:ea typeface="Courier New"/>
                  <a:cs typeface="Courier New"/>
                  <a:sym typeface="Courier New"/>
                </a:rPr>
                <a:t>1755008527914</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"nonce"</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10B981"/>
                  </a:solidFill>
                  <a:latin typeface="Courier New"/>
                  <a:ea typeface="Courier New"/>
                  <a:cs typeface="Courier New"/>
                  <a:sym typeface="Courier New"/>
                </a:rPr>
                <a:t>"3f2a9d7c-88b1..."</a:t>
              </a:r>
              <a:r>
                <a:rPr lang="en" sz="800">
                  <a:solidFill>
                    <a:srgbClr val="94A3B8"/>
                  </a:solidFill>
                  <a:latin typeface="Courier New"/>
                  <a:ea typeface="Courier New"/>
                  <a:cs typeface="Courier New"/>
                  <a:sym typeface="Courier New"/>
                </a:rPr>
                <a:t>,</a:t>
              </a:r>
              <a:endParaRPr sz="800">
                <a:solidFill>
                  <a:srgbClr val="F472B6"/>
                </a:solidFill>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latin typeface="Courier New"/>
                  <a:ea typeface="Courier New"/>
                  <a:cs typeface="Courier New"/>
                  <a:sym typeface="Courier New"/>
                </a:rPr>
                <a:t>"signature"</a:t>
              </a:r>
              <a:r>
                <a:rPr lang="en" sz="800">
                  <a:solidFill>
                    <a:srgbClr val="94A3B8"/>
                  </a:solidFill>
                  <a:latin typeface="Courier New"/>
                  <a:ea typeface="Courier New"/>
                  <a:cs typeface="Courier New"/>
                  <a:sym typeface="Courier New"/>
                </a:rPr>
                <a:t>:</a:t>
              </a:r>
              <a:r>
                <a:rPr lang="en" sz="800">
                  <a:solidFill>
                    <a:srgbClr val="F472B6"/>
                  </a:solidFill>
                  <a:latin typeface="Courier New"/>
                  <a:ea typeface="Courier New"/>
                  <a:cs typeface="Courier New"/>
                  <a:sym typeface="Courier New"/>
                </a:rPr>
                <a:t> </a:t>
              </a:r>
              <a:r>
                <a:rPr lang="en" sz="800">
                  <a:solidFill>
                    <a:srgbClr val="10B981"/>
                  </a:solidFill>
                  <a:latin typeface="Courier New"/>
                  <a:ea typeface="Courier New"/>
                  <a:cs typeface="Courier New"/>
                  <a:sym typeface="Courier New"/>
                </a:rPr>
                <a:t>"7c2f9a1e4b6d..."</a:t>
              </a:r>
              <a:endParaRPr sz="800">
                <a:solidFill>
                  <a:srgbClr val="F472B6"/>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94A3B8"/>
                  </a:solidFill>
                  <a:latin typeface="Courier New"/>
                  <a:ea typeface="Courier New"/>
                  <a:cs typeface="Courier New"/>
                  <a:sym typeface="Courier New"/>
                </a:rPr>
                <a:t>}</a:t>
              </a:r>
              <a:endParaRPr sz="810">
                <a:solidFill>
                  <a:srgbClr val="FFFFFF"/>
                </a:solidFill>
                <a:latin typeface="Courier New"/>
                <a:ea typeface="Courier New"/>
                <a:cs typeface="Courier New"/>
                <a:sym typeface="Courier New"/>
              </a:endParaRPr>
            </a:p>
          </p:txBody>
        </p:sp>
      </p:grpSp>
      <p:grpSp>
        <p:nvGrpSpPr>
          <p:cNvPr id="586" name="Google Shape;586;p31"/>
          <p:cNvGrpSpPr/>
          <p:nvPr/>
        </p:nvGrpSpPr>
        <p:grpSpPr>
          <a:xfrm>
            <a:off x="3393275" y="2268125"/>
            <a:ext cx="2357438" cy="2171738"/>
            <a:chOff x="0" y="0"/>
            <a:chExt cx="4191000" cy="3238500"/>
          </a:xfrm>
        </p:grpSpPr>
        <p:pic>
          <p:nvPicPr>
            <p:cNvPr id="587" name="Google Shape;587;p31"/>
            <p:cNvPicPr preferRelativeResize="0"/>
            <p:nvPr/>
          </p:nvPicPr>
          <p:blipFill rotWithShape="1">
            <a:blip r:embed="rId4">
              <a:alphaModFix/>
            </a:blip>
            <a:srcRect b="0" l="0" r="0" t="0"/>
            <a:stretch/>
          </p:blipFill>
          <p:spPr>
            <a:xfrm>
              <a:off x="0" y="0"/>
              <a:ext cx="4191000" cy="3238500"/>
            </a:xfrm>
            <a:prstGeom prst="rect">
              <a:avLst/>
            </a:prstGeom>
            <a:noFill/>
            <a:ln>
              <a:noFill/>
            </a:ln>
          </p:spPr>
        </p:pic>
        <p:sp>
          <p:nvSpPr>
            <p:cNvPr id="588" name="Google Shape;588;p31"/>
            <p:cNvSpPr/>
            <p:nvPr/>
          </p:nvSpPr>
          <p:spPr>
            <a:xfrm>
              <a:off x="0" y="0"/>
              <a:ext cx="4191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9" name="Google Shape;589;p31"/>
            <p:cNvSpPr txBox="1"/>
            <p:nvPr/>
          </p:nvSpPr>
          <p:spPr>
            <a:xfrm>
              <a:off x="228600" y="190500"/>
              <a:ext cx="3733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rgbClr val="94A3B8"/>
                  </a:solidFill>
                  <a:highlight>
                    <a:srgbClr val="0F172A"/>
                  </a:highlight>
                  <a:latin typeface="Courier New"/>
                  <a:ea typeface="Courier New"/>
                  <a:cs typeface="Courier New"/>
                  <a:sym typeface="Courier New"/>
                </a:rPr>
                <a:t>// Enriched analytical record</a:t>
              </a:r>
              <a:endParaRPr sz="800">
                <a:solidFill>
                  <a:srgbClr val="94A3B8"/>
                </a:solidFill>
                <a:highlight>
                  <a:srgbClr val="0F172A"/>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94A3B8"/>
                  </a:solidFill>
                  <a:highlight>
                    <a:srgbClr val="0F172A"/>
                  </a:highlight>
                  <a:latin typeface="Courier New"/>
                  <a:ea typeface="Courier New"/>
                  <a:cs typeface="Courier New"/>
                  <a:sym typeface="Courier New"/>
                </a:rPr>
                <a:t>{</a:t>
              </a:r>
              <a:endParaRPr sz="800">
                <a:solidFill>
                  <a:srgbClr val="94A3B8"/>
                </a:solidFill>
                <a:highlight>
                  <a:srgbClr val="0F172A"/>
                </a:highlight>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highlight>
                    <a:srgbClr val="0F172A"/>
                  </a:highlight>
                  <a:latin typeface="Courier New"/>
                  <a:ea typeface="Courier New"/>
                  <a:cs typeface="Courier New"/>
                  <a:sym typeface="Courier New"/>
                </a:rPr>
                <a:t>"device_id"</a:t>
              </a:r>
              <a:r>
                <a:rPr lang="en" sz="800">
                  <a:solidFill>
                    <a:srgbClr val="94A3B8"/>
                  </a:solidFill>
                  <a:highlight>
                    <a:srgbClr val="0F172A"/>
                  </a:highlight>
                  <a:latin typeface="Courier New"/>
                  <a:ea typeface="Courier New"/>
                  <a:cs typeface="Courier New"/>
                  <a:sym typeface="Courier New"/>
                </a:rPr>
                <a:t>:</a:t>
              </a:r>
              <a:r>
                <a:rPr lang="en" sz="800">
                  <a:solidFill>
                    <a:srgbClr val="F472B6"/>
                  </a:solidFill>
                  <a:highlight>
                    <a:srgbClr val="0F172A"/>
                  </a:highlight>
                  <a:latin typeface="Courier New"/>
                  <a:ea typeface="Courier New"/>
                  <a:cs typeface="Courier New"/>
                  <a:sym typeface="Courier New"/>
                </a:rPr>
                <a:t> </a:t>
              </a:r>
              <a:r>
                <a:rPr lang="en" sz="800">
                  <a:solidFill>
                    <a:srgbClr val="10B981"/>
                  </a:solidFill>
                  <a:highlight>
                    <a:srgbClr val="0F172A"/>
                  </a:highlight>
                  <a:latin typeface="Courier New"/>
                  <a:ea typeface="Courier New"/>
                  <a:cs typeface="Courier New"/>
                  <a:sym typeface="Courier New"/>
                </a:rPr>
                <a:t>"edge-device-002"</a:t>
              </a:r>
              <a:r>
                <a:rPr lang="en" sz="800">
                  <a:solidFill>
                    <a:srgbClr val="94A3B8"/>
                  </a:solidFill>
                  <a:highlight>
                    <a:srgbClr val="0F172A"/>
                  </a:highlight>
                  <a:latin typeface="Courier New"/>
                  <a:ea typeface="Courier New"/>
                  <a:cs typeface="Courier New"/>
                  <a:sym typeface="Courier New"/>
                </a:rPr>
                <a:t>,</a:t>
              </a:r>
              <a:endParaRPr sz="800">
                <a:solidFill>
                  <a:srgbClr val="F472B6"/>
                </a:solidFill>
                <a:highlight>
                  <a:srgbClr val="0F172A"/>
                </a:highlight>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lang="en" sz="800">
                  <a:solidFill>
                    <a:srgbClr val="F472B6"/>
                  </a:solidFill>
                  <a:highlight>
                    <a:srgbClr val="0F172A"/>
                  </a:highlight>
                  <a:latin typeface="Courier New"/>
                  <a:ea typeface="Courier New"/>
                  <a:cs typeface="Courier New"/>
                  <a:sym typeface="Courier New"/>
                </a:rPr>
                <a:t>"voltage_v"</a:t>
              </a:r>
              <a:r>
                <a:rPr lang="en" sz="800">
                  <a:solidFill>
                    <a:srgbClr val="94A3B8"/>
                  </a:solidFill>
                  <a:highlight>
                    <a:srgbClr val="0F172A"/>
                  </a:highlight>
                  <a:latin typeface="Courier New"/>
                  <a:ea typeface="Courier New"/>
                  <a:cs typeface="Courier New"/>
                  <a:sym typeface="Courier New"/>
                </a:rPr>
                <a:t>:</a:t>
              </a:r>
              <a:r>
                <a:rPr lang="en" sz="800">
                  <a:solidFill>
                    <a:srgbClr val="F472B6"/>
                  </a:solidFill>
                  <a:highlight>
                    <a:srgbClr val="0F172A"/>
                  </a:highlight>
                  <a:latin typeface="Courier New"/>
                  <a:ea typeface="Courier New"/>
                  <a:cs typeface="Courier New"/>
                  <a:sym typeface="Courier New"/>
                </a:rPr>
                <a:t> </a:t>
              </a:r>
              <a:r>
                <a:rPr lang="en" sz="800">
                  <a:solidFill>
                    <a:srgbClr val="FB923C"/>
                  </a:solidFill>
                  <a:highlight>
                    <a:srgbClr val="0F172A"/>
                  </a:highlight>
                  <a:latin typeface="Courier New"/>
                  <a:ea typeface="Courier New"/>
                  <a:cs typeface="Courier New"/>
                  <a:sym typeface="Courier New"/>
                </a:rPr>
                <a:t>362.4</a:t>
              </a:r>
              <a:r>
                <a:rPr lang="en" sz="800">
                  <a:solidFill>
                    <a:srgbClr val="94A3B8"/>
                  </a:solidFill>
                  <a:highlight>
                    <a:srgbClr val="0F172A"/>
                  </a:highlight>
                  <a:latin typeface="Courier New"/>
                  <a:ea typeface="Courier New"/>
                  <a:cs typeface="Courier New"/>
                  <a:sym typeface="Courier New"/>
                </a:rPr>
                <a:t>,</a:t>
              </a:r>
              <a:endParaRPr sz="800">
                <a:solidFill>
                  <a:srgbClr val="F472B6"/>
                </a:solidFill>
                <a:highlight>
                  <a:srgbClr val="0F172A"/>
                </a:highlight>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b="1" lang="en" sz="800">
                  <a:solidFill>
                    <a:srgbClr val="94A3B8"/>
                  </a:solidFill>
                  <a:highlight>
                    <a:srgbClr val="0F172A"/>
                  </a:highlight>
                  <a:latin typeface="Courier New"/>
                  <a:ea typeface="Courier New"/>
                  <a:cs typeface="Courier New"/>
                  <a:sym typeface="Courier New"/>
                </a:rPr>
                <a:t>"fault_type": </a:t>
              </a:r>
              <a:r>
                <a:rPr b="1" lang="en" sz="800">
                  <a:solidFill>
                    <a:srgbClr val="10B981"/>
                  </a:solidFill>
                  <a:highlight>
                    <a:srgbClr val="0F172A"/>
                  </a:highlight>
                  <a:latin typeface="Courier New"/>
                  <a:ea typeface="Courier New"/>
                  <a:cs typeface="Courier New"/>
                  <a:sym typeface="Courier New"/>
                </a:rPr>
                <a:t>"voltage_sag"</a:t>
              </a:r>
              <a:r>
                <a:rPr b="1" lang="en" sz="800">
                  <a:solidFill>
                    <a:srgbClr val="94A3B8"/>
                  </a:solidFill>
                  <a:highlight>
                    <a:srgbClr val="0F172A"/>
                  </a:highlight>
                  <a:latin typeface="Courier New"/>
                  <a:ea typeface="Courier New"/>
                  <a:cs typeface="Courier New"/>
                  <a:sym typeface="Courier New"/>
                </a:rPr>
                <a:t>,</a:t>
              </a:r>
              <a:endParaRPr b="1" sz="800">
                <a:solidFill>
                  <a:srgbClr val="94A3B8"/>
                </a:solidFill>
                <a:highlight>
                  <a:srgbClr val="0F172A"/>
                </a:highlight>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b="1" lang="en" sz="800">
                  <a:solidFill>
                    <a:srgbClr val="94A3B8"/>
                  </a:solidFill>
                  <a:highlight>
                    <a:srgbClr val="0F172A"/>
                  </a:highlight>
                  <a:latin typeface="Courier New"/>
                  <a:ea typeface="Courier New"/>
                  <a:cs typeface="Courier New"/>
                  <a:sym typeface="Courier New"/>
                </a:rPr>
                <a:t>"action": </a:t>
              </a:r>
              <a:r>
                <a:rPr b="1" lang="en" sz="800">
                  <a:solidFill>
                    <a:srgbClr val="FB923C"/>
                  </a:solidFill>
                  <a:highlight>
                    <a:srgbClr val="0F172A"/>
                  </a:highlight>
                  <a:latin typeface="Courier New"/>
                  <a:ea typeface="Courier New"/>
                  <a:cs typeface="Courier New"/>
                  <a:sym typeface="Courier New"/>
                </a:rPr>
                <a:t>2</a:t>
              </a:r>
              <a:r>
                <a:rPr b="1" lang="en" sz="800">
                  <a:solidFill>
                    <a:srgbClr val="94A3B8"/>
                  </a:solidFill>
                  <a:highlight>
                    <a:srgbClr val="0F172A"/>
                  </a:highlight>
                  <a:latin typeface="Courier New"/>
                  <a:ea typeface="Courier New"/>
                  <a:cs typeface="Courier New"/>
                  <a:sym typeface="Courier New"/>
                </a:rPr>
                <a:t>,</a:t>
              </a:r>
              <a:endParaRPr b="1" sz="800">
                <a:solidFill>
                  <a:srgbClr val="94A3B8"/>
                </a:solidFill>
                <a:highlight>
                  <a:srgbClr val="0F172A"/>
                </a:highlight>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b="1" lang="en" sz="800">
                  <a:solidFill>
                    <a:srgbClr val="94A3B8"/>
                  </a:solidFill>
                  <a:highlight>
                    <a:srgbClr val="0F172A"/>
                  </a:highlight>
                  <a:latin typeface="Courier New"/>
                  <a:ea typeface="Courier New"/>
                  <a:cs typeface="Courier New"/>
                  <a:sym typeface="Courier New"/>
                </a:rPr>
                <a:t>"action_name": </a:t>
              </a:r>
              <a:r>
                <a:rPr b="1" lang="en" sz="800">
                  <a:solidFill>
                    <a:srgbClr val="10B981"/>
                  </a:solidFill>
                  <a:highlight>
                    <a:srgbClr val="0F172A"/>
                  </a:highlight>
                  <a:latin typeface="Courier New"/>
                  <a:ea typeface="Courier New"/>
                  <a:cs typeface="Courier New"/>
                  <a:sym typeface="Courier New"/>
                </a:rPr>
                <a:t>"switch_backup"</a:t>
              </a:r>
              <a:r>
                <a:rPr b="1" lang="en" sz="800">
                  <a:solidFill>
                    <a:srgbClr val="94A3B8"/>
                  </a:solidFill>
                  <a:highlight>
                    <a:srgbClr val="0F172A"/>
                  </a:highlight>
                  <a:latin typeface="Courier New"/>
                  <a:ea typeface="Courier New"/>
                  <a:cs typeface="Courier New"/>
                  <a:sym typeface="Courier New"/>
                </a:rPr>
                <a:t>,</a:t>
              </a:r>
              <a:endParaRPr b="1" sz="800">
                <a:solidFill>
                  <a:srgbClr val="94A3B8"/>
                </a:solidFill>
                <a:highlight>
                  <a:srgbClr val="0F172A"/>
                </a:highlight>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b="1" lang="en" sz="800">
                  <a:solidFill>
                    <a:srgbClr val="94A3B8"/>
                  </a:solidFill>
                  <a:highlight>
                    <a:srgbClr val="0F172A"/>
                  </a:highlight>
                  <a:latin typeface="Courier New"/>
                  <a:ea typeface="Courier New"/>
                  <a:cs typeface="Courier New"/>
                  <a:sym typeface="Courier New"/>
                </a:rPr>
                <a:t>"confidence": </a:t>
              </a:r>
              <a:r>
                <a:rPr b="1" lang="en" sz="800">
                  <a:solidFill>
                    <a:srgbClr val="FB923C"/>
                  </a:solidFill>
                  <a:highlight>
                    <a:srgbClr val="0F172A"/>
                  </a:highlight>
                  <a:latin typeface="Courier New"/>
                  <a:ea typeface="Courier New"/>
                  <a:cs typeface="Courier New"/>
                  <a:sym typeface="Courier New"/>
                </a:rPr>
                <a:t>0.9421</a:t>
              </a:r>
              <a:r>
                <a:rPr b="1" lang="en" sz="800">
                  <a:solidFill>
                    <a:srgbClr val="94A3B8"/>
                  </a:solidFill>
                  <a:highlight>
                    <a:srgbClr val="0F172A"/>
                  </a:highlight>
                  <a:latin typeface="Courier New"/>
                  <a:ea typeface="Courier New"/>
                  <a:cs typeface="Courier New"/>
                  <a:sym typeface="Courier New"/>
                </a:rPr>
                <a:t>,</a:t>
              </a:r>
              <a:endParaRPr b="1" sz="800">
                <a:solidFill>
                  <a:srgbClr val="94A3B8"/>
                </a:solidFill>
                <a:highlight>
                  <a:srgbClr val="0F172A"/>
                </a:highlight>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b="1" lang="en" sz="800">
                  <a:solidFill>
                    <a:srgbClr val="94A3B8"/>
                  </a:solidFill>
                  <a:highlight>
                    <a:srgbClr val="0F172A"/>
                  </a:highlight>
                  <a:latin typeface="Courier New"/>
                  <a:ea typeface="Courier New"/>
                  <a:cs typeface="Courier New"/>
                  <a:sym typeface="Courier New"/>
                </a:rPr>
                <a:t>"signature_valid": </a:t>
              </a:r>
              <a:r>
                <a:rPr b="1" lang="en" sz="800">
                  <a:solidFill>
                    <a:srgbClr val="FB923C"/>
                  </a:solidFill>
                  <a:highlight>
                    <a:srgbClr val="0F172A"/>
                  </a:highlight>
                  <a:latin typeface="Courier New"/>
                  <a:ea typeface="Courier New"/>
                  <a:cs typeface="Courier New"/>
                  <a:sym typeface="Courier New"/>
                </a:rPr>
                <a:t>true</a:t>
              </a:r>
              <a:r>
                <a:rPr b="1" lang="en" sz="800">
                  <a:solidFill>
                    <a:srgbClr val="94A3B8"/>
                  </a:solidFill>
                  <a:highlight>
                    <a:srgbClr val="0F172A"/>
                  </a:highlight>
                  <a:latin typeface="Courier New"/>
                  <a:ea typeface="Courier New"/>
                  <a:cs typeface="Courier New"/>
                  <a:sym typeface="Courier New"/>
                </a:rPr>
                <a:t>,</a:t>
              </a:r>
              <a:endParaRPr b="1" sz="800">
                <a:solidFill>
                  <a:srgbClr val="94A3B8"/>
                </a:solidFill>
                <a:highlight>
                  <a:srgbClr val="0F172A"/>
                </a:highlight>
                <a:latin typeface="Courier New"/>
                <a:ea typeface="Courier New"/>
                <a:cs typeface="Courier New"/>
                <a:sym typeface="Courier New"/>
              </a:endParaRPr>
            </a:p>
            <a:p>
              <a:pPr indent="0" lvl="0" marL="95250" rtl="0" algn="l">
                <a:spcBef>
                  <a:spcPts val="0"/>
                </a:spcBef>
                <a:spcAft>
                  <a:spcPts val="0"/>
                </a:spcAft>
                <a:buClr>
                  <a:schemeClr val="dk1"/>
                </a:buClr>
                <a:buSzPts val="1100"/>
                <a:buFont typeface="Arial"/>
                <a:buNone/>
              </a:pPr>
              <a:r>
                <a:rPr b="1" lang="en" sz="800">
                  <a:solidFill>
                    <a:srgbClr val="94A3B8"/>
                  </a:solidFill>
                  <a:highlight>
                    <a:srgbClr val="0F172A"/>
                  </a:highlight>
                  <a:latin typeface="Courier New"/>
                  <a:ea typeface="Courier New"/>
                  <a:cs typeface="Courier New"/>
                  <a:sym typeface="Courier New"/>
                </a:rPr>
                <a:t>"processed_at": </a:t>
              </a:r>
              <a:r>
                <a:rPr b="1" lang="en" sz="800">
                  <a:solidFill>
                    <a:srgbClr val="10B981"/>
                  </a:solidFill>
                  <a:highlight>
                    <a:srgbClr val="0F172A"/>
                  </a:highlight>
                  <a:latin typeface="Courier New"/>
                  <a:ea typeface="Courier New"/>
                  <a:cs typeface="Courier New"/>
                  <a:sym typeface="Courier New"/>
                </a:rPr>
                <a:t>"2026-08-10..."</a:t>
              </a:r>
              <a:endParaRPr b="1" sz="800">
                <a:solidFill>
                  <a:srgbClr val="94A3B8"/>
                </a:solidFill>
                <a:highlight>
                  <a:srgbClr val="0F172A"/>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94A3B8"/>
                  </a:solidFill>
                  <a:highlight>
                    <a:srgbClr val="0F172A"/>
                  </a:highlight>
                  <a:latin typeface="Courier New"/>
                  <a:ea typeface="Courier New"/>
                  <a:cs typeface="Courier New"/>
                  <a:sym typeface="Courier New"/>
                </a:rPr>
                <a:t>}</a:t>
              </a:r>
              <a:endParaRPr sz="800">
                <a:solidFill>
                  <a:srgbClr val="94A3B8"/>
                </a:solidFill>
                <a:highlight>
                  <a:srgbClr val="0F172A"/>
                </a:highlight>
                <a:latin typeface="Courier New"/>
                <a:ea typeface="Courier New"/>
                <a:cs typeface="Courier New"/>
                <a:sym typeface="Courier New"/>
              </a:endParaRPr>
            </a:p>
            <a:p>
              <a:pPr indent="0" lvl="0" marL="0" rtl="0" algn="l">
                <a:spcBef>
                  <a:spcPts val="300"/>
                </a:spcBef>
                <a:spcAft>
                  <a:spcPts val="0"/>
                </a:spcAft>
                <a:buClr>
                  <a:schemeClr val="dk1"/>
                </a:buClr>
                <a:buSzPts val="1100"/>
                <a:buFont typeface="Arial"/>
                <a:buNone/>
              </a:pPr>
              <a:r>
                <a:rPr lang="en" sz="700">
                  <a:solidFill>
                    <a:srgbClr val="94A3B8"/>
                  </a:solidFill>
                  <a:highlight>
                    <a:srgbClr val="0F172A"/>
                  </a:highlight>
                  <a:latin typeface="Courier New"/>
                  <a:ea typeface="Courier New"/>
                  <a:cs typeface="Courier New"/>
                  <a:sym typeface="Courier New"/>
                </a:rPr>
                <a:t>/* Original 10 + 8 analytical fields */</a:t>
              </a:r>
              <a:endParaRPr sz="700">
                <a:solidFill>
                  <a:srgbClr val="94A3B8"/>
                </a:solidFill>
                <a:highlight>
                  <a:srgbClr val="0F172A"/>
                </a:highlight>
                <a:latin typeface="Courier New"/>
                <a:ea typeface="Courier New"/>
                <a:cs typeface="Courier New"/>
                <a:sym typeface="Courier New"/>
              </a:endParaRPr>
            </a:p>
            <a:p>
              <a:pPr indent="0" lvl="0" marL="0" rtl="0" algn="l">
                <a:spcBef>
                  <a:spcPts val="0"/>
                </a:spcBef>
                <a:spcAft>
                  <a:spcPts val="0"/>
                </a:spcAft>
                <a:buNone/>
              </a:pPr>
              <a:r>
                <a:t/>
              </a:r>
              <a:endParaRPr sz="978">
                <a:solidFill>
                  <a:srgbClr val="FFFFFF"/>
                </a:solidFill>
                <a:latin typeface="Courier New"/>
                <a:ea typeface="Courier New"/>
                <a:cs typeface="Courier New"/>
                <a:sym typeface="Courier New"/>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32"/>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5" name="Google Shape;595;p32"/>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6" name="Google Shape;596;p32"/>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97" name="Google Shape;597;p32"/>
          <p:cNvPicPr preferRelativeResize="0"/>
          <p:nvPr/>
        </p:nvPicPr>
        <p:blipFill rotWithShape="1">
          <a:blip r:embed="rId3">
            <a:alphaModFix/>
          </a:blip>
          <a:srcRect b="0" l="0" r="0" t="0"/>
          <a:stretch/>
        </p:blipFill>
        <p:spPr>
          <a:xfrm>
            <a:off x="8191500" y="190500"/>
            <a:ext cx="504900" cy="504900"/>
          </a:xfrm>
          <a:prstGeom prst="rect">
            <a:avLst/>
          </a:prstGeom>
          <a:noFill/>
          <a:ln>
            <a:noFill/>
          </a:ln>
        </p:spPr>
      </p:pic>
      <p:sp>
        <p:nvSpPr>
          <p:cNvPr id="598" name="Google Shape;598;p32"/>
          <p:cNvSpPr txBox="1"/>
          <p:nvPr/>
        </p:nvSpPr>
        <p:spPr>
          <a:xfrm>
            <a:off x="381000" y="3048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Cyber Attack Simulation &amp; Defenses</a:t>
            </a:r>
            <a:endParaRPr b="1" sz="2400">
              <a:solidFill>
                <a:srgbClr val="0F172A"/>
              </a:solidFill>
              <a:latin typeface="Inter"/>
              <a:ea typeface="Inter"/>
              <a:cs typeface="Inter"/>
              <a:sym typeface="Inter"/>
            </a:endParaRPr>
          </a:p>
          <a:p>
            <a:pPr indent="0" lvl="0" marL="0" rtl="0" algn="l">
              <a:spcBef>
                <a:spcPts val="300"/>
              </a:spcBef>
              <a:spcAft>
                <a:spcPts val="0"/>
              </a:spcAft>
              <a:buNone/>
            </a:pPr>
            <a:r>
              <a:rPr b="0" lang="en" sz="975">
                <a:solidFill>
                  <a:srgbClr val="475569"/>
                </a:solidFill>
                <a:latin typeface="Inter"/>
                <a:ea typeface="Inter"/>
                <a:cs typeface="Inter"/>
                <a:sym typeface="Inter"/>
              </a:rPr>
              <a:t>The robust cybersecurity architecture systematically rejects cyber-physical attacks, validating system constraints in real time.</a:t>
            </a:r>
            <a:endParaRPr b="0" sz="975">
              <a:solidFill>
                <a:srgbClr val="475569"/>
              </a:solidFill>
              <a:latin typeface="Inter"/>
              <a:ea typeface="Inter"/>
              <a:cs typeface="Inter"/>
              <a:sym typeface="Inter"/>
            </a:endParaRPr>
          </a:p>
        </p:txBody>
      </p:sp>
      <p:grpSp>
        <p:nvGrpSpPr>
          <p:cNvPr id="599" name="Google Shape;599;p32"/>
          <p:cNvGrpSpPr/>
          <p:nvPr/>
        </p:nvGrpSpPr>
        <p:grpSpPr>
          <a:xfrm>
            <a:off x="381000" y="1143000"/>
            <a:ext cx="4000500" cy="1571700"/>
            <a:chOff x="381000" y="1143000"/>
            <a:chExt cx="4000500" cy="1571700"/>
          </a:xfrm>
        </p:grpSpPr>
        <p:sp>
          <p:nvSpPr>
            <p:cNvPr id="600" name="Google Shape;600;p32"/>
            <p:cNvSpPr/>
            <p:nvPr/>
          </p:nvSpPr>
          <p:spPr>
            <a:xfrm>
              <a:off x="381000" y="1143000"/>
              <a:ext cx="4000500" cy="15717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1" name="Google Shape;601;p32"/>
            <p:cNvSpPr/>
            <p:nvPr/>
          </p:nvSpPr>
          <p:spPr>
            <a:xfrm>
              <a:off x="381000" y="1143000"/>
              <a:ext cx="38100" cy="15717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2" name="Google Shape;602;p32"/>
            <p:cNvSpPr/>
            <p:nvPr/>
          </p:nvSpPr>
          <p:spPr>
            <a:xfrm>
              <a:off x="595217" y="1311211"/>
              <a:ext cx="142428" cy="174051"/>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3" name="Google Shape;603;p32"/>
            <p:cNvSpPr txBox="1"/>
            <p:nvPr/>
          </p:nvSpPr>
          <p:spPr>
            <a:xfrm>
              <a:off x="838200" y="1285875"/>
              <a:ext cx="3352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25">
                  <a:solidFill>
                    <a:srgbClr val="0F172A"/>
                  </a:solidFill>
                  <a:latin typeface="Inter SemiBold"/>
                  <a:ea typeface="Inter SemiBold"/>
                  <a:cs typeface="Inter SemiBold"/>
                  <a:sym typeface="Inter SemiBold"/>
                </a:rPr>
                <a:t>Replay &amp; Tamper Defense </a:t>
              </a:r>
              <a:r>
                <a:rPr b="1" lang="en" sz="750">
                  <a:solidFill>
                    <a:srgbClr val="FFFFFF"/>
                  </a:solidFill>
                  <a:latin typeface="Inter"/>
                  <a:ea typeface="Inter"/>
                  <a:cs typeface="Inter"/>
                  <a:sym typeface="Inter"/>
                </a:rPr>
                <a:t>HTTP 403</a:t>
              </a:r>
              <a:endParaRPr b="0" sz="112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975">
                  <a:solidFill>
                    <a:srgbClr val="475569"/>
                  </a:solidFill>
                  <a:latin typeface="Inter"/>
                  <a:ea typeface="Inter"/>
                  <a:cs typeface="Inter"/>
                  <a:sym typeface="Inter"/>
                </a:rPr>
                <a:t>• Replay attacks and timestamp manipulations are rejected if packet age exceeds 60 seconds.</a:t>
              </a:r>
              <a:endParaRPr b="0" sz="975">
                <a:solidFill>
                  <a:srgbClr val="475569"/>
                </a:solidFill>
                <a:latin typeface="Inter"/>
                <a:ea typeface="Inter"/>
                <a:cs typeface="Inter"/>
                <a:sym typeface="Inter"/>
              </a:endParaRPr>
            </a:p>
            <a:p>
              <a:pPr indent="0" lvl="0" marL="0" rtl="0" algn="l">
                <a:spcBef>
                  <a:spcPts val="600"/>
                </a:spcBef>
                <a:spcAft>
                  <a:spcPts val="0"/>
                </a:spcAft>
                <a:buNone/>
              </a:pPr>
              <a:r>
                <a:rPr b="0" lang="en" sz="975">
                  <a:solidFill>
                    <a:srgbClr val="475569"/>
                  </a:solidFill>
                  <a:latin typeface="Inter"/>
                  <a:ea typeface="Inter"/>
                  <a:cs typeface="Inter"/>
                  <a:sym typeface="Inter"/>
                </a:rPr>
                <a:t>• Packet tampering fails the HMAC cryptographic signature check, triggering connection drops.</a:t>
              </a:r>
              <a:endParaRPr b="0" sz="975">
                <a:solidFill>
                  <a:srgbClr val="475569"/>
                </a:solidFill>
                <a:latin typeface="Inter"/>
                <a:ea typeface="Inter"/>
                <a:cs typeface="Inter"/>
                <a:sym typeface="Inter"/>
              </a:endParaRPr>
            </a:p>
          </p:txBody>
        </p:sp>
      </p:grpSp>
      <p:grpSp>
        <p:nvGrpSpPr>
          <p:cNvPr id="604" name="Google Shape;604;p32"/>
          <p:cNvGrpSpPr/>
          <p:nvPr/>
        </p:nvGrpSpPr>
        <p:grpSpPr>
          <a:xfrm>
            <a:off x="4762500" y="1143000"/>
            <a:ext cx="4000500" cy="1571700"/>
            <a:chOff x="4762500" y="1143000"/>
            <a:chExt cx="4000500" cy="1571700"/>
          </a:xfrm>
        </p:grpSpPr>
        <p:sp>
          <p:nvSpPr>
            <p:cNvPr id="605" name="Google Shape;605;p32"/>
            <p:cNvSpPr/>
            <p:nvPr/>
          </p:nvSpPr>
          <p:spPr>
            <a:xfrm>
              <a:off x="4762500" y="1143000"/>
              <a:ext cx="4000500" cy="15717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6" name="Google Shape;606;p32"/>
            <p:cNvSpPr/>
            <p:nvPr/>
          </p:nvSpPr>
          <p:spPr>
            <a:xfrm>
              <a:off x="4762500" y="1143000"/>
              <a:ext cx="38100" cy="15717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7" name="Google Shape;607;p32"/>
            <p:cNvSpPr/>
            <p:nvPr/>
          </p:nvSpPr>
          <p:spPr>
            <a:xfrm>
              <a:off x="4976717" y="1311211"/>
              <a:ext cx="142428" cy="174051"/>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8" name="Google Shape;608;p32"/>
            <p:cNvSpPr txBox="1"/>
            <p:nvPr/>
          </p:nvSpPr>
          <p:spPr>
            <a:xfrm>
              <a:off x="5219700" y="1285875"/>
              <a:ext cx="3352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25">
                  <a:solidFill>
                    <a:srgbClr val="0F172A"/>
                  </a:solidFill>
                  <a:latin typeface="Inter SemiBold"/>
                  <a:ea typeface="Inter SemiBold"/>
                  <a:cs typeface="Inter SemiBold"/>
                  <a:sym typeface="Inter SemiBold"/>
                </a:rPr>
                <a:t>Injection &amp; Poisoning </a:t>
              </a:r>
              <a:r>
                <a:rPr b="1" lang="en" sz="750">
                  <a:solidFill>
                    <a:srgbClr val="FFFFFF"/>
                  </a:solidFill>
                  <a:latin typeface="Inter"/>
                  <a:ea typeface="Inter"/>
                  <a:cs typeface="Inter"/>
                  <a:sym typeface="Inter"/>
                </a:rPr>
                <a:t>HTTP 422</a:t>
              </a:r>
              <a:endParaRPr b="0" sz="112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975">
                  <a:solidFill>
                    <a:srgbClr val="475569"/>
                  </a:solidFill>
                  <a:latin typeface="Inter"/>
                  <a:ea typeface="Inter"/>
                  <a:cs typeface="Inter"/>
                  <a:sym typeface="Inter"/>
                </a:rPr>
                <a:t>• False data injection and poisoning with physics-impossible values are strictly blocked.</a:t>
              </a:r>
              <a:endParaRPr b="0" sz="975">
                <a:solidFill>
                  <a:srgbClr val="475569"/>
                </a:solidFill>
                <a:latin typeface="Inter"/>
                <a:ea typeface="Inter"/>
                <a:cs typeface="Inter"/>
                <a:sym typeface="Inter"/>
              </a:endParaRPr>
            </a:p>
            <a:p>
              <a:pPr indent="0" lvl="0" marL="0" rtl="0" algn="l">
                <a:spcBef>
                  <a:spcPts val="600"/>
                </a:spcBef>
                <a:spcAft>
                  <a:spcPts val="0"/>
                </a:spcAft>
                <a:buNone/>
              </a:pPr>
              <a:r>
                <a:rPr b="0" lang="en" sz="975">
                  <a:solidFill>
                    <a:srgbClr val="475569"/>
                  </a:solidFill>
                  <a:latin typeface="Inter"/>
                  <a:ea typeface="Inter"/>
                  <a:cs typeface="Inter"/>
                  <a:sym typeface="Inter"/>
                </a:rPr>
                <a:t>• </a:t>
              </a:r>
              <a:r>
                <a:rPr lang="en" sz="975">
                  <a:solidFill>
                    <a:srgbClr val="475569"/>
                  </a:solidFill>
                  <a:latin typeface="Inter"/>
                  <a:ea typeface="Inter"/>
                  <a:cs typeface="Inter"/>
                  <a:sym typeface="Inter"/>
                </a:rPr>
                <a:t>Layers</a:t>
              </a:r>
              <a:r>
                <a:rPr b="0" lang="en" sz="975">
                  <a:solidFill>
                    <a:srgbClr val="475569"/>
                  </a:solidFill>
                  <a:latin typeface="Inter"/>
                  <a:ea typeface="Inter"/>
                  <a:cs typeface="Inter"/>
                  <a:sym typeface="Inter"/>
                </a:rPr>
                <a:t>way physical bounds checks ensure invalid data states are never written to the database.</a:t>
              </a:r>
              <a:endParaRPr b="0" sz="975">
                <a:solidFill>
                  <a:srgbClr val="475569"/>
                </a:solidFill>
                <a:latin typeface="Inter"/>
                <a:ea typeface="Inter"/>
                <a:cs typeface="Inter"/>
                <a:sym typeface="Inter"/>
              </a:endParaRPr>
            </a:p>
          </p:txBody>
        </p:sp>
      </p:grpSp>
      <p:grpSp>
        <p:nvGrpSpPr>
          <p:cNvPr id="609" name="Google Shape;609;p32"/>
          <p:cNvGrpSpPr/>
          <p:nvPr/>
        </p:nvGrpSpPr>
        <p:grpSpPr>
          <a:xfrm>
            <a:off x="381000" y="2905125"/>
            <a:ext cx="4000500" cy="1571700"/>
            <a:chOff x="381000" y="2905125"/>
            <a:chExt cx="4000500" cy="1571700"/>
          </a:xfrm>
        </p:grpSpPr>
        <p:sp>
          <p:nvSpPr>
            <p:cNvPr id="610" name="Google Shape;610;p32"/>
            <p:cNvSpPr/>
            <p:nvPr/>
          </p:nvSpPr>
          <p:spPr>
            <a:xfrm>
              <a:off x="381000" y="2905125"/>
              <a:ext cx="4000500" cy="15717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1" name="Google Shape;611;p32"/>
            <p:cNvSpPr/>
            <p:nvPr/>
          </p:nvSpPr>
          <p:spPr>
            <a:xfrm>
              <a:off x="381000" y="2905125"/>
              <a:ext cx="38100" cy="15717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32"/>
            <p:cNvSpPr/>
            <p:nvPr/>
          </p:nvSpPr>
          <p:spPr>
            <a:xfrm>
              <a:off x="595217" y="3073337"/>
              <a:ext cx="142428" cy="174051"/>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3" name="Google Shape;613;p32"/>
            <p:cNvSpPr txBox="1"/>
            <p:nvPr/>
          </p:nvSpPr>
          <p:spPr>
            <a:xfrm>
              <a:off x="838200" y="3048000"/>
              <a:ext cx="3352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25">
                  <a:solidFill>
                    <a:srgbClr val="0F172A"/>
                  </a:solidFill>
                  <a:latin typeface="Inter SemiBold"/>
                  <a:ea typeface="Inter SemiBold"/>
                  <a:cs typeface="Inter SemiBold"/>
                  <a:sym typeface="Inter SemiBold"/>
                </a:rPr>
                <a:t>DoS Flood Protection </a:t>
              </a:r>
              <a:r>
                <a:rPr b="1" lang="en" sz="750">
                  <a:solidFill>
                    <a:srgbClr val="FFFFFF"/>
                  </a:solidFill>
                  <a:latin typeface="Inter"/>
                  <a:ea typeface="Inter"/>
                  <a:cs typeface="Inter"/>
                  <a:sym typeface="Inter"/>
                </a:rPr>
                <a:t>HTTP 422</a:t>
              </a:r>
              <a:endParaRPr b="0" sz="112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975">
                  <a:solidFill>
                    <a:srgbClr val="475569"/>
                  </a:solidFill>
                  <a:latin typeface="Inter"/>
                  <a:ea typeface="Inter"/>
                  <a:cs typeface="Inter"/>
                  <a:sym typeface="Inter"/>
                </a:rPr>
                <a:t>• Denial of Service (DoS) floods automatically trigger API and ingestion rate-limiting thresholds.</a:t>
              </a:r>
              <a:endParaRPr b="0" sz="975">
                <a:solidFill>
                  <a:srgbClr val="475569"/>
                </a:solidFill>
                <a:latin typeface="Inter"/>
                <a:ea typeface="Inter"/>
                <a:cs typeface="Inter"/>
                <a:sym typeface="Inter"/>
              </a:endParaRPr>
            </a:p>
            <a:p>
              <a:pPr indent="0" lvl="0" marL="0" rtl="0" algn="l">
                <a:spcBef>
                  <a:spcPts val="600"/>
                </a:spcBef>
                <a:spcAft>
                  <a:spcPts val="0"/>
                </a:spcAft>
                <a:buNone/>
              </a:pPr>
              <a:r>
                <a:rPr b="0" lang="en" sz="975">
                  <a:solidFill>
                    <a:srgbClr val="475569"/>
                  </a:solidFill>
                  <a:latin typeface="Inter"/>
                  <a:ea typeface="Inter"/>
                  <a:cs typeface="Inter"/>
                  <a:sym typeface="Inter"/>
                </a:rPr>
                <a:t>• Throttles excessive packet bursts to guarantee high-availability access for trusted nodes.</a:t>
              </a:r>
              <a:endParaRPr b="0" sz="975">
                <a:solidFill>
                  <a:srgbClr val="475569"/>
                </a:solidFill>
                <a:latin typeface="Inter"/>
                <a:ea typeface="Inter"/>
                <a:cs typeface="Inter"/>
                <a:sym typeface="Inter"/>
              </a:endParaRPr>
            </a:p>
          </p:txBody>
        </p:sp>
      </p:grpSp>
      <p:grpSp>
        <p:nvGrpSpPr>
          <p:cNvPr id="614" name="Google Shape;614;p32"/>
          <p:cNvGrpSpPr/>
          <p:nvPr/>
        </p:nvGrpSpPr>
        <p:grpSpPr>
          <a:xfrm>
            <a:off x="4762500" y="2905125"/>
            <a:ext cx="4000500" cy="1571700"/>
            <a:chOff x="4762500" y="2905125"/>
            <a:chExt cx="4000500" cy="1571700"/>
          </a:xfrm>
        </p:grpSpPr>
        <p:sp>
          <p:nvSpPr>
            <p:cNvPr id="615" name="Google Shape;615;p32"/>
            <p:cNvSpPr/>
            <p:nvPr/>
          </p:nvSpPr>
          <p:spPr>
            <a:xfrm>
              <a:off x="4762500" y="2905125"/>
              <a:ext cx="4000500" cy="15717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32"/>
            <p:cNvSpPr/>
            <p:nvPr/>
          </p:nvSpPr>
          <p:spPr>
            <a:xfrm>
              <a:off x="4762500" y="2905125"/>
              <a:ext cx="38100" cy="15717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32"/>
            <p:cNvSpPr/>
            <p:nvPr/>
          </p:nvSpPr>
          <p:spPr>
            <a:xfrm>
              <a:off x="4976717" y="3073337"/>
              <a:ext cx="142428" cy="174051"/>
            </a:xfrm>
            <a:custGeom>
              <a:rect b="b" l="l" r="r" t="t"/>
              <a:pathLst>
                <a:path extrusionOk="0" h="120000" w="120000">
                  <a:moveTo>
                    <a:pt x="60000" y="0"/>
                  </a:moveTo>
                  <a:lnTo>
                    <a:pt x="0" y="21818"/>
                  </a:lnTo>
                  <a:lnTo>
                    <a:pt x="0" y="54545"/>
                  </a:lnTo>
                  <a:cubicBezTo>
                    <a:pt x="0" y="84818"/>
                    <a:pt x="25600" y="113127"/>
                    <a:pt x="60000" y="120000"/>
                  </a:cubicBezTo>
                  <a:cubicBezTo>
                    <a:pt x="94400" y="113127"/>
                    <a:pt x="120000" y="84818"/>
                    <a:pt x="120000" y="54545"/>
                  </a:cubicBezTo>
                  <a:lnTo>
                    <a:pt x="120000" y="21818"/>
                  </a:lnTo>
                  <a:lnTo>
                    <a:pt x="60000" y="0"/>
                  </a:lnTo>
                  <a:close/>
                  <a:moveTo>
                    <a:pt x="60000" y="11891"/>
                  </a:moveTo>
                  <a:lnTo>
                    <a:pt x="106667" y="28855"/>
                  </a:lnTo>
                  <a:lnTo>
                    <a:pt x="106667" y="54545"/>
                  </a:lnTo>
                  <a:cubicBezTo>
                    <a:pt x="106667" y="78218"/>
                    <a:pt x="87867" y="100145"/>
                    <a:pt x="60000" y="108109"/>
                  </a:cubicBezTo>
                  <a:cubicBezTo>
                    <a:pt x="32133" y="100145"/>
                    <a:pt x="13333" y="78218"/>
                    <a:pt x="13333" y="54545"/>
                  </a:cubicBezTo>
                  <a:lnTo>
                    <a:pt x="13333" y="28855"/>
                  </a:lnTo>
                  <a:lnTo>
                    <a:pt x="60000" y="11891"/>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8" name="Google Shape;618;p32"/>
            <p:cNvSpPr txBox="1"/>
            <p:nvPr/>
          </p:nvSpPr>
          <p:spPr>
            <a:xfrm>
              <a:off x="5219700" y="3048000"/>
              <a:ext cx="3352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25">
                  <a:solidFill>
                    <a:srgbClr val="0F172A"/>
                  </a:solidFill>
                  <a:latin typeface="Inter SemiBold"/>
                  <a:ea typeface="Inter SemiBold"/>
                  <a:cs typeface="Inter SemiBold"/>
                  <a:sym typeface="Inter SemiBold"/>
                </a:rPr>
                <a:t>Impersonation &amp; Adversarial </a:t>
              </a:r>
              <a:r>
                <a:rPr b="1" lang="en" sz="750">
                  <a:solidFill>
                    <a:srgbClr val="FFFFFF"/>
                  </a:solidFill>
                  <a:latin typeface="Inter"/>
                  <a:ea typeface="Inter"/>
                  <a:cs typeface="Inter"/>
                  <a:sym typeface="Inter"/>
                </a:rPr>
                <a:t>SECURE </a:t>
              </a:r>
              <a:r>
                <a:rPr b="1" lang="en" sz="750">
                  <a:solidFill>
                    <a:srgbClr val="FFFFFF"/>
                  </a:solidFill>
                  <a:latin typeface="Inter"/>
                  <a:ea typeface="Inter"/>
                  <a:cs typeface="Inter"/>
                  <a:sym typeface="Inter"/>
                </a:rPr>
                <a:t>Layers</a:t>
              </a:r>
              <a:endParaRPr b="0" sz="112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975">
                  <a:solidFill>
                    <a:srgbClr val="475569"/>
                  </a:solidFill>
                  <a:latin typeface="Inter"/>
                  <a:ea typeface="Inter"/>
                  <a:cs typeface="Inter"/>
                  <a:sym typeface="Inter"/>
                </a:rPr>
                <a:t>• Device impersonation attempts are blocked at AWS IoT Core due to missing or invalid mTLS certificates.</a:t>
              </a:r>
              <a:endParaRPr b="0" sz="975">
                <a:solidFill>
                  <a:srgbClr val="475569"/>
                </a:solidFill>
                <a:latin typeface="Inter"/>
                <a:ea typeface="Inter"/>
                <a:cs typeface="Inter"/>
                <a:sym typeface="Inter"/>
              </a:endParaRPr>
            </a:p>
            <a:p>
              <a:pPr indent="0" lvl="0" marL="0" rtl="0" algn="l">
                <a:spcBef>
                  <a:spcPts val="600"/>
                </a:spcBef>
                <a:spcAft>
                  <a:spcPts val="0"/>
                </a:spcAft>
                <a:buNone/>
              </a:pPr>
              <a:r>
                <a:rPr b="0" lang="en" sz="975">
                  <a:solidFill>
                    <a:srgbClr val="475569"/>
                  </a:solidFill>
                  <a:latin typeface="Inter"/>
                  <a:ea typeface="Inter"/>
                  <a:cs typeface="Inter"/>
                  <a:sym typeface="Inter"/>
                </a:rPr>
                <a:t>• Adversarial inputs causing impossible voltage jumps are immediately isolated by a delta-V anomaly check.</a:t>
              </a:r>
              <a:endParaRPr b="0" sz="975">
                <a:solidFill>
                  <a:srgbClr val="475569"/>
                </a:solidFill>
                <a:latin typeface="Inter"/>
                <a:ea typeface="Inter"/>
                <a:cs typeface="Inter"/>
                <a:sym typeface="Inte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3"/>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33"/>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25" name="Google Shape;625;p33"/>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sp>
        <p:nvSpPr>
          <p:cNvPr id="626" name="Google Shape;626;p33"/>
          <p:cNvSpPr txBox="1"/>
          <p:nvPr/>
        </p:nvSpPr>
        <p:spPr>
          <a:xfrm>
            <a:off x="381000" y="30480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Real-time Fault Detection &amp; RL Response</a:t>
            </a:r>
            <a:endParaRPr b="1" sz="2400">
              <a:solidFill>
                <a:srgbClr val="0F172A"/>
              </a:solidFill>
              <a:latin typeface="Inter"/>
              <a:ea typeface="Inter"/>
              <a:cs typeface="Inter"/>
              <a:sym typeface="Inter"/>
            </a:endParaRPr>
          </a:p>
          <a:p>
            <a:pPr indent="0" lvl="0" marL="0" rtl="0" algn="l">
              <a:spcBef>
                <a:spcPts val="300"/>
              </a:spcBef>
              <a:spcAft>
                <a:spcPts val="0"/>
              </a:spcAft>
              <a:buNone/>
            </a:pPr>
            <a:r>
              <a:rPr b="0" lang="en" sz="975">
                <a:solidFill>
                  <a:srgbClr val="475569"/>
                </a:solidFill>
                <a:latin typeface="Inter"/>
                <a:ea typeface="Inter"/>
                <a:cs typeface="Inter"/>
                <a:sym typeface="Inter"/>
              </a:rPr>
              <a:t>Voltage sag detected at reading 21 — RL agent responds with switch_backup in under 1 second</a:t>
            </a:r>
            <a:endParaRPr b="0" sz="975">
              <a:solidFill>
                <a:srgbClr val="475569"/>
              </a:solidFill>
              <a:latin typeface="Inter"/>
              <a:ea typeface="Inter"/>
              <a:cs typeface="Inter"/>
              <a:sym typeface="Inter"/>
            </a:endParaRPr>
          </a:p>
        </p:txBody>
      </p:sp>
      <p:pic>
        <p:nvPicPr>
          <p:cNvPr id="627" name="Google Shape;627;p33"/>
          <p:cNvPicPr preferRelativeResize="0"/>
          <p:nvPr/>
        </p:nvPicPr>
        <p:blipFill>
          <a:blip r:embed="rId4">
            <a:alphaModFix/>
          </a:blip>
          <a:stretch>
            <a:fillRect/>
          </a:stretch>
        </p:blipFill>
        <p:spPr>
          <a:xfrm>
            <a:off x="407563" y="1066800"/>
            <a:ext cx="8328873" cy="3603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3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3" name="Google Shape;633;p34"/>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34"/>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35" name="Google Shape;635;p34"/>
          <p:cNvPicPr preferRelativeResize="0"/>
          <p:nvPr/>
        </p:nvPicPr>
        <p:blipFill rotWithShape="1">
          <a:blip r:embed="rId3">
            <a:alphaModFix/>
          </a:blip>
          <a:srcRect b="0" l="0" r="0" t="0"/>
          <a:stretch/>
        </p:blipFill>
        <p:spPr>
          <a:xfrm>
            <a:off x="9525" y="9525"/>
            <a:ext cx="8972700" cy="4972200"/>
          </a:xfrm>
          <a:prstGeom prst="rect">
            <a:avLst/>
          </a:prstGeom>
          <a:noFill/>
          <a:ln>
            <a:noFill/>
          </a:ln>
        </p:spPr>
      </p:pic>
      <p:pic>
        <p:nvPicPr>
          <p:cNvPr id="636" name="Google Shape;636;p34"/>
          <p:cNvPicPr preferRelativeResize="0"/>
          <p:nvPr/>
        </p:nvPicPr>
        <p:blipFill rotWithShape="1">
          <a:blip r:embed="rId4">
            <a:alphaModFix/>
          </a:blip>
          <a:srcRect b="0" l="0" r="0" t="0"/>
          <a:stretch/>
        </p:blipFill>
        <p:spPr>
          <a:xfrm>
            <a:off x="8191500" y="190500"/>
            <a:ext cx="495300" cy="495300"/>
          </a:xfrm>
          <a:prstGeom prst="rect">
            <a:avLst/>
          </a:prstGeom>
          <a:noFill/>
          <a:ln>
            <a:noFill/>
          </a:ln>
        </p:spPr>
      </p:pic>
      <p:sp>
        <p:nvSpPr>
          <p:cNvPr id="637" name="Google Shape;637;p34"/>
          <p:cNvSpPr txBox="1"/>
          <p:nvPr/>
        </p:nvSpPr>
        <p:spPr>
          <a:xfrm>
            <a:off x="381000" y="333375"/>
            <a:ext cx="762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Simulation Testing &amp; Environments</a:t>
            </a:r>
            <a:endParaRPr b="1" sz="2400">
              <a:solidFill>
                <a:srgbClr val="0F172A"/>
              </a:solidFill>
              <a:latin typeface="Inter"/>
              <a:ea typeface="Inter"/>
              <a:cs typeface="Inter"/>
              <a:sym typeface="Inter"/>
            </a:endParaRPr>
          </a:p>
        </p:txBody>
      </p:sp>
      <p:grpSp>
        <p:nvGrpSpPr>
          <p:cNvPr id="638" name="Google Shape;638;p34"/>
          <p:cNvGrpSpPr/>
          <p:nvPr/>
        </p:nvGrpSpPr>
        <p:grpSpPr>
          <a:xfrm>
            <a:off x="381000" y="1095375"/>
            <a:ext cx="2667000" cy="1571700"/>
            <a:chOff x="0" y="0"/>
            <a:chExt cx="2667000" cy="1571700"/>
          </a:xfrm>
        </p:grpSpPr>
        <p:sp>
          <p:nvSpPr>
            <p:cNvPr id="639" name="Google Shape;639;p34"/>
            <p:cNvSpPr/>
            <p:nvPr/>
          </p:nvSpPr>
          <p:spPr>
            <a:xfrm>
              <a:off x="0" y="0"/>
              <a:ext cx="2667000" cy="15717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0" name="Google Shape;640;p34"/>
            <p:cNvSpPr/>
            <p:nvPr/>
          </p:nvSpPr>
          <p:spPr>
            <a:xfrm>
              <a:off x="0" y="0"/>
              <a:ext cx="26670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1" name="Google Shape;641;p34"/>
            <p:cNvSpPr txBox="1"/>
            <p:nvPr/>
          </p:nvSpPr>
          <p:spPr>
            <a:xfrm>
              <a:off x="190500" y="152400"/>
              <a:ext cx="22860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94">
                  <a:solidFill>
                    <a:srgbClr val="0369A1"/>
                  </a:solidFill>
                  <a:latin typeface="Inter SemiBold"/>
                  <a:ea typeface="Inter SemiBold"/>
                  <a:cs typeface="Inter SemiBold"/>
                  <a:sym typeface="Inter SemiBold"/>
                </a:rPr>
                <a:t>Baseline Environment</a:t>
              </a:r>
              <a:endParaRPr b="0" sz="694">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1041">
                  <a:solidFill>
                    <a:srgbClr val="0F172A"/>
                  </a:solidFill>
                  <a:latin typeface="Inter SemiBold"/>
                  <a:ea typeface="Inter SemiBold"/>
                  <a:cs typeface="Inter SemiBold"/>
                  <a:sym typeface="Inter SemiBold"/>
                </a:rPr>
                <a:t>Device-001</a:t>
              </a:r>
              <a:endParaRPr b="0" sz="1041">
                <a:solidFill>
                  <a:srgbClr val="0F172A"/>
                </a:solidFill>
                <a:latin typeface="Inter SemiBold"/>
                <a:ea typeface="Inter SemiBold"/>
                <a:cs typeface="Inter SemiBold"/>
                <a:sym typeface="Inter SemiBold"/>
              </a:endParaRPr>
            </a:p>
            <a:p>
              <a:pPr indent="0" lvl="0" marL="0" rtl="0" algn="l">
                <a:spcBef>
                  <a:spcPts val="450"/>
                </a:spcBef>
                <a:spcAft>
                  <a:spcPts val="0"/>
                </a:spcAft>
                <a:buNone/>
              </a:pPr>
              <a:r>
                <a:rPr b="0" lang="en" sz="2636">
                  <a:solidFill>
                    <a:srgbClr val="0284C7"/>
                  </a:solidFill>
                  <a:latin typeface="Inter ExtraBold"/>
                  <a:ea typeface="Inter ExtraBold"/>
                  <a:cs typeface="Inter ExtraBold"/>
                  <a:sym typeface="Inter ExtraBold"/>
                </a:rPr>
                <a:t>10% </a:t>
              </a:r>
              <a:r>
                <a:rPr b="0" lang="en" sz="971">
                  <a:solidFill>
                    <a:srgbClr val="475569"/>
                  </a:solidFill>
                  <a:latin typeface="Inter SemiBold"/>
                  <a:ea typeface="Inter SemiBold"/>
                  <a:cs typeface="Inter SemiBold"/>
                  <a:sym typeface="Inter SemiBold"/>
                </a:rPr>
                <a:t>Fault Rate</a:t>
              </a:r>
              <a:endParaRPr b="0" sz="2636">
                <a:solidFill>
                  <a:srgbClr val="0284C7"/>
                </a:solidFill>
                <a:latin typeface="Inter ExtraBold"/>
                <a:ea typeface="Inter ExtraBold"/>
                <a:cs typeface="Inter ExtraBold"/>
                <a:sym typeface="Inter ExtraBold"/>
              </a:endParaRPr>
            </a:p>
            <a:p>
              <a:pPr indent="0" lvl="0" marL="0" rtl="0" algn="l">
                <a:spcBef>
                  <a:spcPts val="450"/>
                </a:spcBef>
                <a:spcAft>
                  <a:spcPts val="0"/>
                </a:spcAft>
                <a:buNone/>
              </a:pPr>
              <a:r>
                <a:rPr b="0" lang="en" sz="902">
                  <a:solidFill>
                    <a:srgbClr val="475569"/>
                  </a:solidFill>
                  <a:latin typeface="Inter"/>
                  <a:ea typeface="Inter"/>
                  <a:cs typeface="Inter"/>
                  <a:sym typeface="Inter"/>
                </a:rPr>
                <a:t>Runs baseline configurations with unique credential certificates under Happy/Normal thread environments.</a:t>
              </a:r>
              <a:endParaRPr b="0" sz="902">
                <a:solidFill>
                  <a:srgbClr val="475569"/>
                </a:solidFill>
                <a:latin typeface="Inter"/>
                <a:ea typeface="Inter"/>
                <a:cs typeface="Inter"/>
                <a:sym typeface="Inter"/>
              </a:endParaRPr>
            </a:p>
          </p:txBody>
        </p:sp>
      </p:grpSp>
      <p:grpSp>
        <p:nvGrpSpPr>
          <p:cNvPr id="642" name="Google Shape;642;p34"/>
          <p:cNvGrpSpPr/>
          <p:nvPr/>
        </p:nvGrpSpPr>
        <p:grpSpPr>
          <a:xfrm>
            <a:off x="3238500" y="1095375"/>
            <a:ext cx="2667000" cy="1571700"/>
            <a:chOff x="0" y="0"/>
            <a:chExt cx="2667000" cy="1571700"/>
          </a:xfrm>
        </p:grpSpPr>
        <p:sp>
          <p:nvSpPr>
            <p:cNvPr id="643" name="Google Shape;643;p34"/>
            <p:cNvSpPr/>
            <p:nvPr/>
          </p:nvSpPr>
          <p:spPr>
            <a:xfrm>
              <a:off x="0" y="0"/>
              <a:ext cx="2667000" cy="15717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34"/>
            <p:cNvSpPr/>
            <p:nvPr/>
          </p:nvSpPr>
          <p:spPr>
            <a:xfrm>
              <a:off x="0" y="0"/>
              <a:ext cx="2667000" cy="381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34"/>
            <p:cNvSpPr txBox="1"/>
            <p:nvPr/>
          </p:nvSpPr>
          <p:spPr>
            <a:xfrm>
              <a:off x="190500" y="152400"/>
              <a:ext cx="22860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94">
                  <a:solidFill>
                    <a:srgbClr val="0369A1"/>
                  </a:solidFill>
                  <a:latin typeface="Inter SemiBold"/>
                  <a:ea typeface="Inter SemiBold"/>
                  <a:cs typeface="Inter SemiBold"/>
                  <a:sym typeface="Inter SemiBold"/>
                </a:rPr>
                <a:t>Telemetry Stress</a:t>
              </a:r>
              <a:endParaRPr b="0" sz="694">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1041">
                  <a:solidFill>
                    <a:srgbClr val="0F172A"/>
                  </a:solidFill>
                  <a:latin typeface="Inter SemiBold"/>
                  <a:ea typeface="Inter SemiBold"/>
                  <a:cs typeface="Inter SemiBold"/>
                  <a:sym typeface="Inter SemiBold"/>
                </a:rPr>
                <a:t>Device-002</a:t>
              </a:r>
              <a:endParaRPr b="0" sz="1041">
                <a:solidFill>
                  <a:srgbClr val="0F172A"/>
                </a:solidFill>
                <a:latin typeface="Inter SemiBold"/>
                <a:ea typeface="Inter SemiBold"/>
                <a:cs typeface="Inter SemiBold"/>
                <a:sym typeface="Inter SemiBold"/>
              </a:endParaRPr>
            </a:p>
            <a:p>
              <a:pPr indent="0" lvl="0" marL="0" rtl="0" algn="l">
                <a:spcBef>
                  <a:spcPts val="450"/>
                </a:spcBef>
                <a:spcAft>
                  <a:spcPts val="0"/>
                </a:spcAft>
                <a:buNone/>
              </a:pPr>
              <a:r>
                <a:rPr b="0" lang="en" sz="2636">
                  <a:solidFill>
                    <a:srgbClr val="0284C7"/>
                  </a:solidFill>
                  <a:latin typeface="Inter ExtraBold"/>
                  <a:ea typeface="Inter ExtraBold"/>
                  <a:cs typeface="Inter ExtraBold"/>
                  <a:sym typeface="Inter ExtraBold"/>
                </a:rPr>
                <a:t>20% </a:t>
              </a:r>
              <a:r>
                <a:rPr b="0" lang="en" sz="971">
                  <a:solidFill>
                    <a:srgbClr val="475569"/>
                  </a:solidFill>
                  <a:latin typeface="Inter SemiBold"/>
                  <a:ea typeface="Inter SemiBold"/>
                  <a:cs typeface="Inter SemiBold"/>
                  <a:sym typeface="Inter SemiBold"/>
                </a:rPr>
                <a:t>Fault Rate</a:t>
              </a:r>
              <a:endParaRPr b="0" sz="2636">
                <a:solidFill>
                  <a:srgbClr val="0284C7"/>
                </a:solidFill>
                <a:latin typeface="Inter ExtraBold"/>
                <a:ea typeface="Inter ExtraBold"/>
                <a:cs typeface="Inter ExtraBold"/>
                <a:sym typeface="Inter ExtraBold"/>
              </a:endParaRPr>
            </a:p>
            <a:p>
              <a:pPr indent="0" lvl="0" marL="0" rtl="0" algn="l">
                <a:spcBef>
                  <a:spcPts val="450"/>
                </a:spcBef>
                <a:spcAft>
                  <a:spcPts val="0"/>
                </a:spcAft>
                <a:buNone/>
              </a:pPr>
              <a:r>
                <a:rPr b="0" lang="en" sz="902">
                  <a:solidFill>
                    <a:srgbClr val="475569"/>
                  </a:solidFill>
                  <a:latin typeface="Inter"/>
                  <a:ea typeface="Inter"/>
                  <a:cs typeface="Inter"/>
                  <a:sym typeface="Inter"/>
                </a:rPr>
                <a:t>Simulates noisy sensors and telemetry variations using dedicated unique credentials.</a:t>
              </a:r>
              <a:endParaRPr b="0" sz="902">
                <a:solidFill>
                  <a:srgbClr val="475569"/>
                </a:solidFill>
                <a:latin typeface="Inter"/>
                <a:ea typeface="Inter"/>
                <a:cs typeface="Inter"/>
                <a:sym typeface="Inter"/>
              </a:endParaRPr>
            </a:p>
          </p:txBody>
        </p:sp>
      </p:grpSp>
      <p:grpSp>
        <p:nvGrpSpPr>
          <p:cNvPr id="646" name="Google Shape;646;p34"/>
          <p:cNvGrpSpPr/>
          <p:nvPr/>
        </p:nvGrpSpPr>
        <p:grpSpPr>
          <a:xfrm>
            <a:off x="6096000" y="1095375"/>
            <a:ext cx="2667000" cy="1571700"/>
            <a:chOff x="0" y="0"/>
            <a:chExt cx="2667000" cy="1571700"/>
          </a:xfrm>
        </p:grpSpPr>
        <p:sp>
          <p:nvSpPr>
            <p:cNvPr id="647" name="Google Shape;647;p34"/>
            <p:cNvSpPr/>
            <p:nvPr/>
          </p:nvSpPr>
          <p:spPr>
            <a:xfrm>
              <a:off x="0" y="0"/>
              <a:ext cx="2667000" cy="15717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8" name="Google Shape;648;p34"/>
            <p:cNvSpPr/>
            <p:nvPr/>
          </p:nvSpPr>
          <p:spPr>
            <a:xfrm>
              <a:off x="0" y="0"/>
              <a:ext cx="2667000" cy="381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9" name="Google Shape;649;p34"/>
            <p:cNvSpPr txBox="1"/>
            <p:nvPr/>
          </p:nvSpPr>
          <p:spPr>
            <a:xfrm>
              <a:off x="190500" y="152400"/>
              <a:ext cx="22860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94">
                  <a:solidFill>
                    <a:srgbClr val="0369A1"/>
                  </a:solidFill>
                  <a:latin typeface="Inter SemiBold"/>
                  <a:ea typeface="Inter SemiBold"/>
                  <a:cs typeface="Inter SemiBold"/>
                  <a:sym typeface="Inter SemiBold"/>
                </a:rPr>
                <a:t>Network Impairment</a:t>
              </a:r>
              <a:endParaRPr b="0" sz="694">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1041">
                  <a:solidFill>
                    <a:srgbClr val="0F172A"/>
                  </a:solidFill>
                  <a:latin typeface="Inter SemiBold"/>
                  <a:ea typeface="Inter SemiBold"/>
                  <a:cs typeface="Inter SemiBold"/>
                  <a:sym typeface="Inter SemiBold"/>
                </a:rPr>
                <a:t>Device-003</a:t>
              </a:r>
              <a:endParaRPr b="0" sz="1041">
                <a:solidFill>
                  <a:srgbClr val="0F172A"/>
                </a:solidFill>
                <a:latin typeface="Inter SemiBold"/>
                <a:ea typeface="Inter SemiBold"/>
                <a:cs typeface="Inter SemiBold"/>
                <a:sym typeface="Inter SemiBold"/>
              </a:endParaRPr>
            </a:p>
            <a:p>
              <a:pPr indent="0" lvl="0" marL="0" rtl="0" algn="l">
                <a:spcBef>
                  <a:spcPts val="450"/>
                </a:spcBef>
                <a:spcAft>
                  <a:spcPts val="0"/>
                </a:spcAft>
                <a:buNone/>
              </a:pPr>
              <a:r>
                <a:rPr b="0" lang="en" sz="2636">
                  <a:solidFill>
                    <a:srgbClr val="0284C7"/>
                  </a:solidFill>
                  <a:latin typeface="Inter ExtraBold"/>
                  <a:ea typeface="Inter ExtraBold"/>
                  <a:cs typeface="Inter ExtraBold"/>
                  <a:sym typeface="Inter ExtraBold"/>
                </a:rPr>
                <a:t>30% </a:t>
              </a:r>
              <a:r>
                <a:rPr b="0" lang="en" sz="971">
                  <a:solidFill>
                    <a:srgbClr val="475569"/>
                  </a:solidFill>
                  <a:latin typeface="Inter SemiBold"/>
                  <a:ea typeface="Inter SemiBold"/>
                  <a:cs typeface="Inter SemiBold"/>
                  <a:sym typeface="Inter SemiBold"/>
                </a:rPr>
                <a:t>Fault Rate</a:t>
              </a:r>
              <a:endParaRPr b="0" sz="2636">
                <a:solidFill>
                  <a:srgbClr val="0284C7"/>
                </a:solidFill>
                <a:latin typeface="Inter ExtraBold"/>
                <a:ea typeface="Inter ExtraBold"/>
                <a:cs typeface="Inter ExtraBold"/>
                <a:sym typeface="Inter ExtraBold"/>
              </a:endParaRPr>
            </a:p>
            <a:p>
              <a:pPr indent="0" lvl="0" marL="0" rtl="0" algn="l">
                <a:spcBef>
                  <a:spcPts val="450"/>
                </a:spcBef>
                <a:spcAft>
                  <a:spcPts val="0"/>
                </a:spcAft>
                <a:buNone/>
              </a:pPr>
              <a:r>
                <a:rPr b="0" lang="en" sz="902">
                  <a:solidFill>
                    <a:srgbClr val="475569"/>
                  </a:solidFill>
                  <a:latin typeface="Inter"/>
                  <a:ea typeface="Inter"/>
                  <a:cs typeface="Inter"/>
                  <a:sym typeface="Inter"/>
                </a:rPr>
                <a:t>Tests duplicate packets, latency drops, and heavy transmission noise with custom certificates.</a:t>
              </a:r>
              <a:endParaRPr b="0" sz="902">
                <a:solidFill>
                  <a:srgbClr val="475569"/>
                </a:solidFill>
                <a:latin typeface="Inter"/>
                <a:ea typeface="Inter"/>
                <a:cs typeface="Inter"/>
                <a:sym typeface="Inter"/>
              </a:endParaRPr>
            </a:p>
          </p:txBody>
        </p:sp>
      </p:grpSp>
      <p:grpSp>
        <p:nvGrpSpPr>
          <p:cNvPr id="650" name="Google Shape;650;p34"/>
          <p:cNvGrpSpPr/>
          <p:nvPr/>
        </p:nvGrpSpPr>
        <p:grpSpPr>
          <a:xfrm>
            <a:off x="381000" y="2952750"/>
            <a:ext cx="8382000" cy="1809600"/>
            <a:chOff x="0" y="0"/>
            <a:chExt cx="8382000" cy="1809600"/>
          </a:xfrm>
        </p:grpSpPr>
        <p:sp>
          <p:nvSpPr>
            <p:cNvPr id="651" name="Google Shape;651;p34"/>
            <p:cNvSpPr/>
            <p:nvPr/>
          </p:nvSpPr>
          <p:spPr>
            <a:xfrm>
              <a:off x="0" y="0"/>
              <a:ext cx="8382000" cy="1809600"/>
            </a:xfrm>
            <a:prstGeom prst="rect">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2" name="Google Shape;652;p34"/>
            <p:cNvSpPr/>
            <p:nvPr/>
          </p:nvSpPr>
          <p:spPr>
            <a:xfrm>
              <a:off x="0" y="0"/>
              <a:ext cx="57300" cy="18096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3" name="Google Shape;653;p34"/>
            <p:cNvSpPr txBox="1"/>
            <p:nvPr/>
          </p:nvSpPr>
          <p:spPr>
            <a:xfrm>
              <a:off x="285750" y="190500"/>
              <a:ext cx="3714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21 Scenarios &amp; 5 Simulator Modes</a:t>
              </a:r>
              <a:endParaRPr b="0" sz="750">
                <a:solidFill>
                  <a:srgbClr val="0369A1"/>
                </a:solidFill>
                <a:latin typeface="Inter SemiBold"/>
                <a:ea typeface="Inter SemiBold"/>
                <a:cs typeface="Inter SemiBold"/>
                <a:sym typeface="Inter SemiBold"/>
              </a:endParaRPr>
            </a:p>
            <a:p>
              <a:pPr indent="0" lvl="0" marL="0" rtl="0" algn="l">
                <a:spcBef>
                  <a:spcPts val="600"/>
                </a:spcBef>
                <a:spcAft>
                  <a:spcPts val="0"/>
                </a:spcAft>
                <a:buNone/>
              </a:pPr>
              <a:r>
                <a:rPr b="0" lang="en" sz="1125">
                  <a:solidFill>
                    <a:srgbClr val="0F172A"/>
                  </a:solidFill>
                  <a:latin typeface="Inter SemiBold"/>
                  <a:ea typeface="Inter SemiBold"/>
                  <a:cs typeface="Inter SemiBold"/>
                  <a:sym typeface="Inter SemiBold"/>
                </a:rPr>
                <a:t>Comprehensive Scenario Suites</a:t>
              </a:r>
              <a:endParaRPr b="0" sz="1125">
                <a:solidFill>
                  <a:srgbClr val="0F172A"/>
                </a:solidFill>
                <a:latin typeface="Inter SemiBold"/>
                <a:ea typeface="Inter SemiBold"/>
                <a:cs typeface="Inter SemiBold"/>
                <a:sym typeface="Inter SemiBold"/>
              </a:endParaRPr>
            </a:p>
            <a:p>
              <a:pPr indent="0" lvl="0" marL="0" rtl="0" algn="l">
                <a:spcBef>
                  <a:spcPts val="450"/>
                </a:spcBef>
                <a:spcAft>
                  <a:spcPts val="0"/>
                </a:spcAft>
                <a:buNone/>
              </a:pPr>
              <a:r>
                <a:rPr b="0" lang="en" sz="975">
                  <a:solidFill>
                    <a:srgbClr val="475569"/>
                  </a:solidFill>
                  <a:latin typeface="Inter"/>
                  <a:ea typeface="Inter"/>
                  <a:cs typeface="Inter"/>
                  <a:sym typeface="Inter"/>
                </a:rPr>
                <a:t>Simulation testing is executed across five distinct edge simulator modes: </a:t>
              </a:r>
              <a:r>
                <a:rPr b="0" lang="en" sz="975">
                  <a:solidFill>
                    <a:srgbClr val="0F172A"/>
                  </a:solidFill>
                  <a:latin typeface="Inter SemiBold"/>
                  <a:ea typeface="Inter SemiBold"/>
                  <a:cs typeface="Inter SemiBold"/>
                  <a:sym typeface="Inter SemiBold"/>
                </a:rPr>
                <a:t>Happy, Noisy, Network, Attack,</a:t>
              </a:r>
              <a:r>
                <a:rPr b="0" lang="en" sz="975">
                  <a:solidFill>
                    <a:srgbClr val="475569"/>
                  </a:solidFill>
                  <a:latin typeface="Inter"/>
                  <a:ea typeface="Inter"/>
                  <a:cs typeface="Inter"/>
                  <a:sym typeface="Inter"/>
                </a:rPr>
                <a:t> and </a:t>
              </a:r>
              <a:r>
                <a:rPr b="0" lang="en" sz="975">
                  <a:solidFill>
                    <a:srgbClr val="0F172A"/>
                  </a:solidFill>
                  <a:latin typeface="Inter SemiBold"/>
                  <a:ea typeface="Inter SemiBold"/>
                  <a:cs typeface="Inter SemiBold"/>
                  <a:sym typeface="Inter SemiBold"/>
                </a:rPr>
                <a:t>Chaos</a:t>
              </a:r>
              <a:r>
                <a:rPr b="0" lang="en" sz="975">
                  <a:solidFill>
                    <a:srgbClr val="475569"/>
                  </a:solidFill>
                  <a:latin typeface="Inter"/>
                  <a:ea typeface="Inter"/>
                  <a:cs typeface="Inter"/>
                  <a:sym typeface="Inter"/>
                </a:rPr>
                <a:t>. These scenarios run concurrently over multi-device threading to validate runtime security.</a:t>
              </a:r>
              <a:endParaRPr b="0" sz="975">
                <a:solidFill>
                  <a:srgbClr val="475569"/>
                </a:solidFill>
                <a:latin typeface="Inter"/>
                <a:ea typeface="Inter"/>
                <a:cs typeface="Inter"/>
                <a:sym typeface="Inter"/>
              </a:endParaRPr>
            </a:p>
          </p:txBody>
        </p:sp>
        <p:cxnSp>
          <p:nvCxnSpPr>
            <p:cNvPr id="654" name="Google Shape;654;p34"/>
            <p:cNvCxnSpPr/>
            <p:nvPr/>
          </p:nvCxnSpPr>
          <p:spPr>
            <a:xfrm>
              <a:off x="4191000" y="190500"/>
              <a:ext cx="0" cy="142890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655" name="Google Shape;655;p34"/>
            <p:cNvSpPr txBox="1"/>
            <p:nvPr/>
          </p:nvSpPr>
          <p:spPr>
            <a:xfrm>
              <a:off x="4429125" y="190500"/>
              <a:ext cx="36672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369A1"/>
                  </a:solidFill>
                  <a:latin typeface="Inter SemiBold"/>
                  <a:ea typeface="Inter SemiBold"/>
                  <a:cs typeface="Inter SemiBold"/>
                  <a:sym typeface="Inter SemiBold"/>
                </a:rPr>
                <a:t>Resilience &amp; Grid Protection</a:t>
              </a:r>
              <a:endParaRPr b="0" sz="750">
                <a:solidFill>
                  <a:srgbClr val="0369A1"/>
                </a:solidFill>
                <a:latin typeface="Inter SemiBold"/>
                <a:ea typeface="Inter SemiBold"/>
                <a:cs typeface="Inter SemiBold"/>
                <a:sym typeface="Inter SemiBold"/>
              </a:endParaRPr>
            </a:p>
            <a:p>
              <a:pPr indent="0" lvl="0" marL="0" rtl="0" algn="l">
                <a:spcBef>
                  <a:spcPts val="600"/>
                </a:spcBef>
                <a:spcAft>
                  <a:spcPts val="0"/>
                </a:spcAft>
                <a:buNone/>
              </a:pPr>
              <a:r>
                <a:rPr b="0" lang="en" sz="1125">
                  <a:solidFill>
                    <a:srgbClr val="0F172A"/>
                  </a:solidFill>
                  <a:latin typeface="Inter SemiBold"/>
                  <a:ea typeface="Inter SemiBold"/>
                  <a:cs typeface="Inter SemiBold"/>
                  <a:sym typeface="Inter SemiBold"/>
                </a:rPr>
                <a:t>Fault Injection Verification</a:t>
              </a:r>
              <a:endParaRPr b="0" sz="1125">
                <a:solidFill>
                  <a:srgbClr val="0F172A"/>
                </a:solidFill>
                <a:latin typeface="Inter SemiBold"/>
                <a:ea typeface="Inter SemiBold"/>
                <a:cs typeface="Inter SemiBold"/>
                <a:sym typeface="Inter SemiBold"/>
              </a:endParaRPr>
            </a:p>
            <a:p>
              <a:pPr indent="0" lvl="0" marL="0" rtl="0" algn="l">
                <a:spcBef>
                  <a:spcPts val="450"/>
                </a:spcBef>
                <a:spcAft>
                  <a:spcPts val="0"/>
                </a:spcAft>
                <a:buNone/>
              </a:pPr>
              <a:r>
                <a:rPr b="0" lang="en" sz="975">
                  <a:solidFill>
                    <a:srgbClr val="475569"/>
                  </a:solidFill>
                  <a:latin typeface="Inter"/>
                  <a:ea typeface="Inter"/>
                  <a:cs typeface="Inter"/>
                  <a:sym typeface="Inter"/>
                </a:rPr>
                <a:t>Verifies defense logic against normal states, noisy sensors, duplicate packets, and </a:t>
              </a:r>
              <a:r>
                <a:rPr b="0" lang="en" sz="975">
                  <a:solidFill>
                    <a:srgbClr val="0F172A"/>
                  </a:solidFill>
                  <a:latin typeface="Inter SemiBold"/>
                  <a:ea typeface="Inter SemiBold"/>
                  <a:cs typeface="Inter SemiBold"/>
                  <a:sym typeface="Inter SemiBold"/>
                </a:rPr>
                <a:t>seven specific grid faults</a:t>
              </a:r>
              <a:r>
                <a:rPr b="0" lang="en" sz="975">
                  <a:solidFill>
                    <a:srgbClr val="475569"/>
                  </a:solidFill>
                  <a:latin typeface="Inter"/>
                  <a:ea typeface="Inter"/>
                  <a:cs typeface="Inter"/>
                  <a:sym typeface="Inter"/>
                </a:rPr>
                <a:t>, including severe voltage sags, overcurrents, and telemetry disruption events.</a:t>
              </a:r>
              <a:endParaRPr b="0" sz="975">
                <a:solidFill>
                  <a:srgbClr val="475569"/>
                </a:solidFill>
                <a:latin typeface="Inter"/>
                <a:ea typeface="Inter"/>
                <a:cs typeface="Inter"/>
                <a:sym typeface="Inte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grpSp>
        <p:nvGrpSpPr>
          <p:cNvPr id="660" name="Google Shape;660;p35"/>
          <p:cNvGrpSpPr/>
          <p:nvPr/>
        </p:nvGrpSpPr>
        <p:grpSpPr>
          <a:xfrm>
            <a:off x="0" y="0"/>
            <a:ext cx="9144000" cy="5143500"/>
            <a:chOff x="0" y="0"/>
            <a:chExt cx="9144000" cy="5143500"/>
          </a:xfrm>
        </p:grpSpPr>
        <p:sp>
          <p:nvSpPr>
            <p:cNvPr id="661" name="Google Shape;661;p3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62" name="Google Shape;662;p35"/>
            <p:cNvGrpSpPr/>
            <p:nvPr/>
          </p:nvGrpSpPr>
          <p:grpSpPr>
            <a:xfrm>
              <a:off x="0" y="0"/>
              <a:ext cx="9144000" cy="76350"/>
              <a:chOff x="0" y="0"/>
              <a:chExt cx="9144000" cy="76350"/>
            </a:xfrm>
          </p:grpSpPr>
          <p:sp>
            <p:nvSpPr>
              <p:cNvPr id="663" name="Google Shape;663;p35"/>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4" name="Google Shape;664;p35"/>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665" name="Google Shape;665;p35"/>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grpSp>
      <p:sp>
        <p:nvSpPr>
          <p:cNvPr id="666" name="Google Shape;666;p35"/>
          <p:cNvSpPr txBox="1"/>
          <p:nvPr/>
        </p:nvSpPr>
        <p:spPr>
          <a:xfrm>
            <a:off x="381000" y="3810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Project Summary &amp; Highlights</a:t>
            </a:r>
            <a:endParaRPr b="1" sz="2400">
              <a:solidFill>
                <a:srgbClr val="0F172A"/>
              </a:solidFill>
              <a:latin typeface="Inter"/>
              <a:ea typeface="Inter"/>
              <a:cs typeface="Inter"/>
              <a:sym typeface="Inter"/>
            </a:endParaRPr>
          </a:p>
        </p:txBody>
      </p:sp>
      <p:sp>
        <p:nvSpPr>
          <p:cNvPr id="667" name="Google Shape;667;p35"/>
          <p:cNvSpPr txBox="1"/>
          <p:nvPr/>
        </p:nvSpPr>
        <p:spPr>
          <a:xfrm>
            <a:off x="381000" y="904875"/>
            <a:ext cx="8382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25">
                <a:solidFill>
                  <a:srgbClr val="475569"/>
                </a:solidFill>
                <a:latin typeface="Inter"/>
                <a:ea typeface="Inter"/>
                <a:cs typeface="Inter"/>
                <a:sym typeface="Inter"/>
              </a:rPr>
              <a:t>GridGuard-RL demonstrates a highly scalable and resilient approach to autonomous grid control.</a:t>
            </a:r>
            <a:endParaRPr b="0" sz="1125">
              <a:solidFill>
                <a:srgbClr val="475569"/>
              </a:solidFill>
              <a:latin typeface="Inter"/>
              <a:ea typeface="Inter"/>
              <a:cs typeface="Inter"/>
              <a:sym typeface="Inter"/>
            </a:endParaRPr>
          </a:p>
        </p:txBody>
      </p:sp>
      <p:grpSp>
        <p:nvGrpSpPr>
          <p:cNvPr id="668" name="Google Shape;668;p35"/>
          <p:cNvGrpSpPr/>
          <p:nvPr/>
        </p:nvGrpSpPr>
        <p:grpSpPr>
          <a:xfrm>
            <a:off x="381000" y="1476375"/>
            <a:ext cx="3619500" cy="2667000"/>
            <a:chOff x="0" y="0"/>
            <a:chExt cx="3619500" cy="2667000"/>
          </a:xfrm>
        </p:grpSpPr>
        <p:sp>
          <p:nvSpPr>
            <p:cNvPr id="669" name="Google Shape;669;p35"/>
            <p:cNvSpPr/>
            <p:nvPr/>
          </p:nvSpPr>
          <p:spPr>
            <a:xfrm>
              <a:off x="0" y="0"/>
              <a:ext cx="3619500" cy="2667000"/>
            </a:xfrm>
            <a:prstGeom prst="roundRect">
              <a:avLst>
                <a:gd fmla="val 0" name="adj"/>
              </a:avLst>
            </a:prstGeom>
            <a:solidFill>
              <a:srgbClr val="F4F6F8"/>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35"/>
            <p:cNvSpPr/>
            <p:nvPr/>
          </p:nvSpPr>
          <p:spPr>
            <a:xfrm>
              <a:off x="0" y="0"/>
              <a:ext cx="36195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1" name="Google Shape;671;p35"/>
            <p:cNvSpPr txBox="1"/>
            <p:nvPr/>
          </p:nvSpPr>
          <p:spPr>
            <a:xfrm>
              <a:off x="190500" y="238125"/>
              <a:ext cx="3238500" cy="2190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300">
                  <a:solidFill>
                    <a:srgbClr val="0284C7"/>
                  </a:solidFill>
                  <a:latin typeface="Inter"/>
                  <a:ea typeface="Inter"/>
                  <a:cs typeface="Inter"/>
                  <a:sym typeface="Inter"/>
                </a:rPr>
                <a:t>&lt; 1s</a:t>
              </a:r>
              <a:endParaRPr b="1" sz="6300">
                <a:solidFill>
                  <a:srgbClr val="0284C7"/>
                </a:solidFill>
                <a:latin typeface="Inter"/>
                <a:ea typeface="Inter"/>
                <a:cs typeface="Inter"/>
                <a:sym typeface="Inter"/>
              </a:endParaRPr>
            </a:p>
            <a:p>
              <a:pPr indent="0" lvl="0" marL="0" rtl="0" algn="ctr">
                <a:spcBef>
                  <a:spcPts val="1125"/>
                </a:spcBef>
                <a:spcAft>
                  <a:spcPts val="0"/>
                </a:spcAft>
                <a:buNone/>
              </a:pPr>
              <a:r>
                <a:rPr b="0" lang="en" sz="900">
                  <a:solidFill>
                    <a:srgbClr val="0369A1"/>
                  </a:solidFill>
                  <a:latin typeface="Inter SemiBold"/>
                  <a:ea typeface="Inter SemiBold"/>
                  <a:cs typeface="Inter SemiBold"/>
                  <a:sym typeface="Inter SemiBold"/>
                </a:rPr>
                <a:t>Device Shadow Latency</a:t>
              </a:r>
              <a:endParaRPr b="0" sz="900">
                <a:solidFill>
                  <a:srgbClr val="0369A1"/>
                </a:solidFill>
                <a:latin typeface="Inter SemiBold"/>
                <a:ea typeface="Inter SemiBold"/>
                <a:cs typeface="Inter SemiBold"/>
                <a:sym typeface="Inter SemiBold"/>
              </a:endParaRPr>
            </a:p>
            <a:p>
              <a:pPr indent="0" lvl="0" marL="0" rtl="0" algn="ctr">
                <a:spcBef>
                  <a:spcPts val="750"/>
                </a:spcBef>
                <a:spcAft>
                  <a:spcPts val="0"/>
                </a:spcAft>
                <a:buNone/>
              </a:pPr>
              <a:r>
                <a:rPr b="0" lang="en" sz="1013">
                  <a:solidFill>
                    <a:srgbClr val="475569"/>
                  </a:solidFill>
                  <a:latin typeface="Inter"/>
                  <a:ea typeface="Inter"/>
                  <a:cs typeface="Inter"/>
                  <a:sym typeface="Inter"/>
                </a:rPr>
                <a:t>Achieving safe, automated decision-making with a Device Shadow round-trip latency of under one second.</a:t>
              </a:r>
              <a:endParaRPr b="0" sz="1013">
                <a:solidFill>
                  <a:srgbClr val="475569"/>
                </a:solidFill>
                <a:latin typeface="Inter"/>
                <a:ea typeface="Inter"/>
                <a:cs typeface="Inter"/>
                <a:sym typeface="Inter"/>
              </a:endParaRPr>
            </a:p>
          </p:txBody>
        </p:sp>
      </p:grpSp>
      <p:sp>
        <p:nvSpPr>
          <p:cNvPr id="672" name="Google Shape;672;p35"/>
          <p:cNvSpPr/>
          <p:nvPr/>
        </p:nvSpPr>
        <p:spPr>
          <a:xfrm>
            <a:off x="4381500" y="1476375"/>
            <a:ext cx="19200" cy="26670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73" name="Google Shape;673;p35"/>
          <p:cNvGrpSpPr/>
          <p:nvPr/>
        </p:nvGrpSpPr>
        <p:grpSpPr>
          <a:xfrm>
            <a:off x="4762500" y="1476375"/>
            <a:ext cx="1905000" cy="1238400"/>
            <a:chOff x="0" y="0"/>
            <a:chExt cx="1905000" cy="1238400"/>
          </a:xfrm>
        </p:grpSpPr>
        <p:sp>
          <p:nvSpPr>
            <p:cNvPr id="674" name="Google Shape;674;p35"/>
            <p:cNvSpPr/>
            <p:nvPr/>
          </p:nvSpPr>
          <p:spPr>
            <a:xfrm>
              <a:off x="0" y="0"/>
              <a:ext cx="1905000" cy="12384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5" name="Google Shape;675;p35"/>
            <p:cNvSpPr/>
            <p:nvPr/>
          </p:nvSpPr>
          <p:spPr>
            <a:xfrm>
              <a:off x="0" y="0"/>
              <a:ext cx="38100" cy="12384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6" name="Google Shape;676;p35"/>
            <p:cNvSpPr txBox="1"/>
            <p:nvPr/>
          </p:nvSpPr>
          <p:spPr>
            <a:xfrm>
              <a:off x="142875" y="142875"/>
              <a:ext cx="1619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50">
                  <a:solidFill>
                    <a:srgbClr val="0284C7"/>
                  </a:solidFill>
                  <a:latin typeface="Inter"/>
                  <a:ea typeface="Inter"/>
                  <a:cs typeface="Inter"/>
                  <a:sym typeface="Inter"/>
                </a:rPr>
                <a:t>500K</a:t>
              </a:r>
              <a:endParaRPr b="1" sz="1950">
                <a:solidFill>
                  <a:srgbClr val="0284C7"/>
                </a:solidFill>
                <a:latin typeface="Inter"/>
                <a:ea typeface="Inter"/>
                <a:cs typeface="Inter"/>
                <a:sym typeface="Inter"/>
              </a:endParaRPr>
            </a:p>
            <a:p>
              <a:pPr indent="0" lvl="0" marL="0" rtl="0" algn="l">
                <a:spcBef>
                  <a:spcPts val="150"/>
                </a:spcBef>
                <a:spcAft>
                  <a:spcPts val="0"/>
                </a:spcAft>
                <a:buNone/>
              </a:pPr>
              <a:r>
                <a:rPr b="0" lang="en" sz="825">
                  <a:solidFill>
                    <a:srgbClr val="0369A1"/>
                  </a:solidFill>
                  <a:latin typeface="Inter SemiBold"/>
                  <a:ea typeface="Inter SemiBold"/>
                  <a:cs typeface="Inter SemiBold"/>
                  <a:sym typeface="Inter SemiBold"/>
                </a:rPr>
                <a:t>Training Samples</a:t>
              </a:r>
              <a:endParaRPr b="0" sz="825">
                <a:solidFill>
                  <a:srgbClr val="0369A1"/>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Trained across 500 episodes to ensure robust, safe policy generation.</a:t>
              </a:r>
              <a:endParaRPr b="0" sz="825">
                <a:solidFill>
                  <a:srgbClr val="475569"/>
                </a:solidFill>
                <a:latin typeface="Inter"/>
                <a:ea typeface="Inter"/>
                <a:cs typeface="Inter"/>
                <a:sym typeface="Inter"/>
              </a:endParaRPr>
            </a:p>
          </p:txBody>
        </p:sp>
      </p:grpSp>
      <p:grpSp>
        <p:nvGrpSpPr>
          <p:cNvPr id="677" name="Google Shape;677;p35"/>
          <p:cNvGrpSpPr/>
          <p:nvPr/>
        </p:nvGrpSpPr>
        <p:grpSpPr>
          <a:xfrm>
            <a:off x="6858000" y="1476375"/>
            <a:ext cx="1905000" cy="1238400"/>
            <a:chOff x="0" y="0"/>
            <a:chExt cx="1905000" cy="1238400"/>
          </a:xfrm>
        </p:grpSpPr>
        <p:sp>
          <p:nvSpPr>
            <p:cNvPr id="678" name="Google Shape;678;p35"/>
            <p:cNvSpPr/>
            <p:nvPr/>
          </p:nvSpPr>
          <p:spPr>
            <a:xfrm>
              <a:off x="0" y="0"/>
              <a:ext cx="1905000" cy="12384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9" name="Google Shape;679;p35"/>
            <p:cNvSpPr/>
            <p:nvPr/>
          </p:nvSpPr>
          <p:spPr>
            <a:xfrm>
              <a:off x="0" y="0"/>
              <a:ext cx="38100" cy="12384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35"/>
            <p:cNvSpPr txBox="1"/>
            <p:nvPr/>
          </p:nvSpPr>
          <p:spPr>
            <a:xfrm>
              <a:off x="142875" y="142875"/>
              <a:ext cx="1619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50">
                  <a:solidFill>
                    <a:srgbClr val="0284C7"/>
                  </a:solidFill>
                  <a:latin typeface="Inter"/>
                  <a:ea typeface="Inter"/>
                  <a:cs typeface="Inter"/>
                  <a:sym typeface="Inter"/>
                </a:rPr>
                <a:t>5 </a:t>
              </a:r>
              <a:r>
                <a:rPr b="1" lang="en" sz="1950">
                  <a:solidFill>
                    <a:srgbClr val="0284C7"/>
                  </a:solidFill>
                  <a:latin typeface="Inter"/>
                  <a:ea typeface="Inter"/>
                  <a:cs typeface="Inter"/>
                  <a:sym typeface="Inter"/>
                </a:rPr>
                <a:t>Layers</a:t>
              </a:r>
              <a:endParaRPr b="1" sz="1950">
                <a:solidFill>
                  <a:srgbClr val="0284C7"/>
                </a:solidFill>
                <a:latin typeface="Inter"/>
                <a:ea typeface="Inter"/>
                <a:cs typeface="Inter"/>
                <a:sym typeface="Inter"/>
              </a:endParaRPr>
            </a:p>
            <a:p>
              <a:pPr indent="0" lvl="0" marL="0" rtl="0" algn="l">
                <a:spcBef>
                  <a:spcPts val="150"/>
                </a:spcBef>
                <a:spcAft>
                  <a:spcPts val="0"/>
                </a:spcAft>
                <a:buNone/>
              </a:pPr>
              <a:r>
                <a:rPr b="0" lang="en" sz="825">
                  <a:solidFill>
                    <a:srgbClr val="0369A1"/>
                  </a:solidFill>
                  <a:latin typeface="Inter SemiBold"/>
                  <a:ea typeface="Inter SemiBold"/>
                  <a:cs typeface="Inter SemiBold"/>
                  <a:sym typeface="Inter SemiBold"/>
                </a:rPr>
                <a:t>Security Layers</a:t>
              </a:r>
              <a:endParaRPr b="0" sz="825">
                <a:solidFill>
                  <a:srgbClr val="0369A1"/>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Multi-layer mechanisms defending against 8 active attack types.</a:t>
              </a:r>
              <a:endParaRPr b="0" sz="825">
                <a:solidFill>
                  <a:srgbClr val="475569"/>
                </a:solidFill>
                <a:latin typeface="Inter"/>
                <a:ea typeface="Inter"/>
                <a:cs typeface="Inter"/>
                <a:sym typeface="Inter"/>
              </a:endParaRPr>
            </a:p>
          </p:txBody>
        </p:sp>
      </p:grpSp>
      <p:grpSp>
        <p:nvGrpSpPr>
          <p:cNvPr id="681" name="Google Shape;681;p35"/>
          <p:cNvGrpSpPr/>
          <p:nvPr/>
        </p:nvGrpSpPr>
        <p:grpSpPr>
          <a:xfrm>
            <a:off x="4762500" y="2905125"/>
            <a:ext cx="1905000" cy="1238400"/>
            <a:chOff x="0" y="0"/>
            <a:chExt cx="1905000" cy="1238400"/>
          </a:xfrm>
        </p:grpSpPr>
        <p:sp>
          <p:nvSpPr>
            <p:cNvPr id="682" name="Google Shape;682;p35"/>
            <p:cNvSpPr/>
            <p:nvPr/>
          </p:nvSpPr>
          <p:spPr>
            <a:xfrm>
              <a:off x="0" y="0"/>
              <a:ext cx="1905000" cy="12384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35"/>
            <p:cNvSpPr/>
            <p:nvPr/>
          </p:nvSpPr>
          <p:spPr>
            <a:xfrm>
              <a:off x="0" y="0"/>
              <a:ext cx="38100" cy="12384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4" name="Google Shape;684;p35"/>
            <p:cNvSpPr txBox="1"/>
            <p:nvPr/>
          </p:nvSpPr>
          <p:spPr>
            <a:xfrm>
              <a:off x="142875" y="142875"/>
              <a:ext cx="1619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50">
                  <a:solidFill>
                    <a:srgbClr val="0284C7"/>
                  </a:solidFill>
                  <a:latin typeface="Inter"/>
                  <a:ea typeface="Inter"/>
                  <a:cs typeface="Inter"/>
                  <a:sym typeface="Inter"/>
                </a:rPr>
                <a:t>21</a:t>
              </a:r>
              <a:endParaRPr b="1" sz="1950">
                <a:solidFill>
                  <a:srgbClr val="0284C7"/>
                </a:solidFill>
                <a:latin typeface="Inter"/>
                <a:ea typeface="Inter"/>
                <a:cs typeface="Inter"/>
                <a:sym typeface="Inter"/>
              </a:endParaRPr>
            </a:p>
            <a:p>
              <a:pPr indent="0" lvl="0" marL="0" rtl="0" algn="l">
                <a:spcBef>
                  <a:spcPts val="150"/>
                </a:spcBef>
                <a:spcAft>
                  <a:spcPts val="0"/>
                </a:spcAft>
                <a:buNone/>
              </a:pPr>
              <a:r>
                <a:rPr b="0" lang="en" sz="825">
                  <a:solidFill>
                    <a:srgbClr val="0369A1"/>
                  </a:solidFill>
                  <a:latin typeface="Inter SemiBold"/>
                  <a:ea typeface="Inter SemiBold"/>
                  <a:cs typeface="Inter SemiBold"/>
                  <a:sym typeface="Inter SemiBold"/>
                </a:rPr>
                <a:t>Test Scenarios</a:t>
              </a:r>
              <a:endParaRPr b="0" sz="825">
                <a:solidFill>
                  <a:srgbClr val="0369A1"/>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Extensively evaluated to prove system resilience under diverse faults.</a:t>
              </a:r>
              <a:endParaRPr b="0" sz="825">
                <a:solidFill>
                  <a:srgbClr val="475569"/>
                </a:solidFill>
                <a:latin typeface="Inter"/>
                <a:ea typeface="Inter"/>
                <a:cs typeface="Inter"/>
                <a:sym typeface="Inter"/>
              </a:endParaRPr>
            </a:p>
          </p:txBody>
        </p:sp>
      </p:grpSp>
      <p:grpSp>
        <p:nvGrpSpPr>
          <p:cNvPr id="685" name="Google Shape;685;p35"/>
          <p:cNvGrpSpPr/>
          <p:nvPr/>
        </p:nvGrpSpPr>
        <p:grpSpPr>
          <a:xfrm>
            <a:off x="6858000" y="2905125"/>
            <a:ext cx="1905000" cy="1238400"/>
            <a:chOff x="0" y="0"/>
            <a:chExt cx="1905000" cy="1238400"/>
          </a:xfrm>
        </p:grpSpPr>
        <p:sp>
          <p:nvSpPr>
            <p:cNvPr id="686" name="Google Shape;686;p35"/>
            <p:cNvSpPr/>
            <p:nvPr/>
          </p:nvSpPr>
          <p:spPr>
            <a:xfrm>
              <a:off x="0" y="0"/>
              <a:ext cx="1905000" cy="12384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7" name="Google Shape;687;p35"/>
            <p:cNvSpPr/>
            <p:nvPr/>
          </p:nvSpPr>
          <p:spPr>
            <a:xfrm>
              <a:off x="0" y="0"/>
              <a:ext cx="38100" cy="12384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35"/>
            <p:cNvSpPr txBox="1"/>
            <p:nvPr/>
          </p:nvSpPr>
          <p:spPr>
            <a:xfrm>
              <a:off x="142875" y="142875"/>
              <a:ext cx="1619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50">
                  <a:solidFill>
                    <a:srgbClr val="0284C7"/>
                  </a:solidFill>
                  <a:latin typeface="Inter"/>
                  <a:ea typeface="Inter"/>
                  <a:cs typeface="Inter"/>
                  <a:sym typeface="Inter"/>
                </a:rPr>
                <a:t>3-Min</a:t>
              </a:r>
              <a:endParaRPr b="1" sz="1950">
                <a:solidFill>
                  <a:srgbClr val="0284C7"/>
                </a:solidFill>
                <a:latin typeface="Inter"/>
                <a:ea typeface="Inter"/>
                <a:cs typeface="Inter"/>
                <a:sym typeface="Inter"/>
              </a:endParaRPr>
            </a:p>
            <a:p>
              <a:pPr indent="0" lvl="0" marL="0" rtl="0" algn="l">
                <a:spcBef>
                  <a:spcPts val="150"/>
                </a:spcBef>
                <a:spcAft>
                  <a:spcPts val="0"/>
                </a:spcAft>
                <a:buNone/>
              </a:pPr>
              <a:r>
                <a:rPr b="0" lang="en" sz="825">
                  <a:solidFill>
                    <a:srgbClr val="0369A1"/>
                  </a:solidFill>
                  <a:latin typeface="Inter SemiBold"/>
                  <a:ea typeface="Inter SemiBold"/>
                  <a:cs typeface="Inter SemiBold"/>
                  <a:sym typeface="Inter SemiBold"/>
                </a:rPr>
                <a:t>Terraform Setup</a:t>
              </a:r>
              <a:endParaRPr b="0" sz="825">
                <a:solidFill>
                  <a:srgbClr val="0369A1"/>
                </a:solidFill>
                <a:latin typeface="Inter SemiBold"/>
                <a:ea typeface="Inter SemiBold"/>
                <a:cs typeface="Inter SemiBold"/>
                <a:sym typeface="Inter SemiBold"/>
              </a:endParaRPr>
            </a:p>
            <a:p>
              <a:pPr indent="0" lvl="0" marL="0" rtl="0" algn="l">
                <a:spcBef>
                  <a:spcPts val="450"/>
                </a:spcBef>
                <a:spcAft>
                  <a:spcPts val="0"/>
                </a:spcAft>
                <a:buNone/>
              </a:pPr>
              <a:r>
                <a:rPr b="0" lang="en" sz="825">
                  <a:solidFill>
                    <a:srgbClr val="475569"/>
                  </a:solidFill>
                  <a:latin typeface="Inter"/>
                  <a:ea typeface="Inter"/>
                  <a:cs typeface="Inter"/>
                  <a:sym typeface="Inter"/>
                </a:rPr>
                <a:t>Fully reproducible deploy managing 8 AWS services &amp; SageMaker.</a:t>
              </a:r>
              <a:endParaRPr b="0" sz="825">
                <a:solidFill>
                  <a:srgbClr val="475569"/>
                </a:solidFill>
                <a:latin typeface="Inter"/>
                <a:ea typeface="Inter"/>
                <a:cs typeface="Inter"/>
                <a:sym typeface="Inte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grpSp>
        <p:nvGrpSpPr>
          <p:cNvPr id="693" name="Google Shape;693;p36"/>
          <p:cNvGrpSpPr/>
          <p:nvPr/>
        </p:nvGrpSpPr>
        <p:grpSpPr>
          <a:xfrm>
            <a:off x="0" y="0"/>
            <a:ext cx="9144000" cy="5143500"/>
            <a:chOff x="0" y="0"/>
            <a:chExt cx="9144000" cy="5143500"/>
          </a:xfrm>
        </p:grpSpPr>
        <p:sp>
          <p:nvSpPr>
            <p:cNvPr id="694" name="Google Shape;694;p3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95" name="Google Shape;695;p36"/>
            <p:cNvGrpSpPr/>
            <p:nvPr/>
          </p:nvGrpSpPr>
          <p:grpSpPr>
            <a:xfrm>
              <a:off x="0" y="0"/>
              <a:ext cx="9144000" cy="76350"/>
              <a:chOff x="0" y="0"/>
              <a:chExt cx="9144000" cy="76350"/>
            </a:xfrm>
          </p:grpSpPr>
          <p:sp>
            <p:nvSpPr>
              <p:cNvPr id="696" name="Google Shape;696;p36"/>
              <p:cNvSpPr/>
              <p:nvPr/>
            </p:nvSpPr>
            <p:spPr>
              <a:xfrm>
                <a:off x="0" y="0"/>
                <a:ext cx="9144000" cy="57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7" name="Google Shape;697;p36"/>
              <p:cNvSpPr/>
              <p:nvPr/>
            </p:nvSpPr>
            <p:spPr>
              <a:xfrm>
                <a:off x="0" y="57150"/>
                <a:ext cx="1143000" cy="19200"/>
              </a:xfrm>
              <a:prstGeom prst="rect">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698" name="Google Shape;698;p36"/>
            <p:cNvPicPr preferRelativeResize="0"/>
            <p:nvPr/>
          </p:nvPicPr>
          <p:blipFill rotWithShape="1">
            <a:blip r:embed="rId3">
              <a:alphaModFix/>
            </a:blip>
            <a:srcRect b="0" l="0" r="0" t="0"/>
            <a:stretch/>
          </p:blipFill>
          <p:spPr>
            <a:xfrm>
              <a:off x="8191500" y="190500"/>
              <a:ext cx="495300" cy="495300"/>
            </a:xfrm>
            <a:prstGeom prst="rect">
              <a:avLst/>
            </a:prstGeom>
            <a:noFill/>
            <a:ln>
              <a:noFill/>
            </a:ln>
          </p:spPr>
        </p:pic>
      </p:grpSp>
      <p:sp>
        <p:nvSpPr>
          <p:cNvPr id="699" name="Google Shape;699;p36"/>
          <p:cNvSpPr txBox="1"/>
          <p:nvPr/>
        </p:nvSpPr>
        <p:spPr>
          <a:xfrm>
            <a:off x="381000" y="3810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Infrastructure &amp; Automatic Deployment</a:t>
            </a:r>
            <a:endParaRPr b="1" sz="2400">
              <a:solidFill>
                <a:srgbClr val="0F172A"/>
              </a:solidFill>
              <a:latin typeface="Inter"/>
              <a:ea typeface="Inter"/>
              <a:cs typeface="Inter"/>
              <a:sym typeface="Inter"/>
            </a:endParaRPr>
          </a:p>
        </p:txBody>
      </p:sp>
      <p:sp>
        <p:nvSpPr>
          <p:cNvPr id="700" name="Google Shape;700;p36"/>
          <p:cNvSpPr txBox="1"/>
          <p:nvPr/>
        </p:nvSpPr>
        <p:spPr>
          <a:xfrm>
            <a:off x="381000" y="1143000"/>
            <a:ext cx="39054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0284C7"/>
                </a:solidFill>
                <a:latin typeface="Inter SemiBold"/>
                <a:ea typeface="Inter SemiBold"/>
                <a:cs typeface="Inter SemiBold"/>
                <a:sym typeface="Inter SemiBold"/>
              </a:rPr>
              <a:t>Automated IaC Provisioning</a:t>
            </a:r>
            <a:br>
              <a:rPr b="0" lang="en" sz="1050">
                <a:solidFill>
                  <a:srgbClr val="475569"/>
                </a:solidFill>
                <a:latin typeface="Inter"/>
                <a:ea typeface="Inter"/>
                <a:cs typeface="Inter"/>
                <a:sym typeface="Inter"/>
              </a:rPr>
            </a:br>
            <a:r>
              <a:rPr b="0" lang="en" sz="1050">
                <a:solidFill>
                  <a:srgbClr val="475569"/>
                </a:solidFill>
                <a:latin typeface="Inter"/>
                <a:ea typeface="Inter"/>
                <a:cs typeface="Inter"/>
                <a:sym typeface="Inter"/>
              </a:rPr>
              <a:t>The entire infrastructure is automated using Terraform Infrastructure-as-Code, enabling rapid, reproducible, and self-documenting deployments.</a:t>
            </a:r>
            <a:endParaRPr b="0" sz="1050">
              <a:solidFill>
                <a:srgbClr val="475569"/>
              </a:solidFill>
              <a:latin typeface="Inter"/>
              <a:ea typeface="Inter"/>
              <a:cs typeface="Inter"/>
              <a:sym typeface="Inter"/>
            </a:endParaRPr>
          </a:p>
          <a:p>
            <a:pPr indent="0" lvl="0" marL="0" rtl="0" algn="l">
              <a:spcBef>
                <a:spcPts val="1500"/>
              </a:spcBef>
              <a:spcAft>
                <a:spcPts val="0"/>
              </a:spcAft>
              <a:buNone/>
            </a:pPr>
            <a:r>
              <a:rPr b="0" lang="en" sz="1050">
                <a:solidFill>
                  <a:srgbClr val="0284C7"/>
                </a:solidFill>
                <a:latin typeface="Inter SemiBold"/>
                <a:ea typeface="Inter SemiBold"/>
                <a:cs typeface="Inter SemiBold"/>
                <a:sym typeface="Inter SemiBold"/>
              </a:rPr>
              <a:t>Highly Secure Network &amp; S3 Storage</a:t>
            </a:r>
            <a:br>
              <a:rPr b="0" lang="en" sz="1050">
                <a:solidFill>
                  <a:srgbClr val="475569"/>
                </a:solidFill>
                <a:latin typeface="Inter"/>
                <a:ea typeface="Inter"/>
                <a:cs typeface="Inter"/>
                <a:sym typeface="Inter"/>
              </a:rPr>
            </a:br>
            <a:r>
              <a:rPr b="0" lang="en" sz="1050">
                <a:solidFill>
                  <a:srgbClr val="475569"/>
                </a:solidFill>
                <a:latin typeface="Inter"/>
                <a:ea typeface="Inter"/>
                <a:cs typeface="Inter"/>
                <a:sym typeface="Inter"/>
              </a:rPr>
              <a:t>Provisions a robust VPC with public and private subnets across two Availability Zones, featuring private endpoints for S3 and Secrets Manager. Storage is secured with native AES256 encryption.</a:t>
            </a:r>
            <a:endParaRPr b="0" sz="1050">
              <a:solidFill>
                <a:srgbClr val="475569"/>
              </a:solidFill>
              <a:latin typeface="Inter"/>
              <a:ea typeface="Inter"/>
              <a:cs typeface="Inter"/>
              <a:sym typeface="Inter"/>
            </a:endParaRPr>
          </a:p>
          <a:p>
            <a:pPr indent="0" lvl="0" marL="0" rtl="0" algn="l">
              <a:spcBef>
                <a:spcPts val="1500"/>
              </a:spcBef>
              <a:spcAft>
                <a:spcPts val="0"/>
              </a:spcAft>
              <a:buNone/>
            </a:pPr>
            <a:r>
              <a:rPr b="0" lang="en" sz="1050">
                <a:solidFill>
                  <a:srgbClr val="0284C7"/>
                </a:solidFill>
                <a:latin typeface="Inter SemiBold"/>
                <a:ea typeface="Inter SemiBold"/>
                <a:cs typeface="Inter SemiBold"/>
                <a:sym typeface="Inter SemiBold"/>
              </a:rPr>
              <a:t>Seamless Lambda &amp; Monitoring Deploys</a:t>
            </a:r>
            <a:br>
              <a:rPr b="0" lang="en" sz="1050">
                <a:solidFill>
                  <a:srgbClr val="475569"/>
                </a:solidFill>
                <a:latin typeface="Inter"/>
                <a:ea typeface="Inter"/>
                <a:cs typeface="Inter"/>
                <a:sym typeface="Inter"/>
              </a:rPr>
            </a:br>
            <a:r>
              <a:rPr b="0" lang="en" sz="1050">
                <a:solidFill>
                  <a:srgbClr val="475569"/>
                </a:solidFill>
                <a:latin typeface="Inter"/>
                <a:ea typeface="Inter"/>
                <a:cs typeface="Inter"/>
                <a:sym typeface="Inter"/>
              </a:rPr>
              <a:t>Automatically packages Lambda from source, configures SNS real-time alerts, and sets up least-privilege IAM roles. Security is strictly enforced via IAM and Secrets Manager.</a:t>
            </a:r>
            <a:endParaRPr b="0" sz="1050">
              <a:solidFill>
                <a:srgbClr val="475569"/>
              </a:solidFill>
              <a:latin typeface="Inter"/>
              <a:ea typeface="Inter"/>
              <a:cs typeface="Inter"/>
              <a:sym typeface="Inter"/>
            </a:endParaRPr>
          </a:p>
        </p:txBody>
      </p:sp>
      <p:grpSp>
        <p:nvGrpSpPr>
          <p:cNvPr id="701" name="Google Shape;701;p36"/>
          <p:cNvGrpSpPr/>
          <p:nvPr/>
        </p:nvGrpSpPr>
        <p:grpSpPr>
          <a:xfrm>
            <a:off x="4572000" y="1143000"/>
            <a:ext cx="4191000" cy="2352600"/>
            <a:chOff x="0" y="0"/>
            <a:chExt cx="4191000" cy="2352600"/>
          </a:xfrm>
        </p:grpSpPr>
        <p:sp>
          <p:nvSpPr>
            <p:cNvPr id="702" name="Google Shape;702;p36"/>
            <p:cNvSpPr/>
            <p:nvPr/>
          </p:nvSpPr>
          <p:spPr>
            <a:xfrm>
              <a:off x="0" y="0"/>
              <a:ext cx="4191000" cy="2352600"/>
            </a:xfrm>
            <a:prstGeom prst="roundRect">
              <a:avLst>
                <a:gd fmla="val 2429" name="adj"/>
              </a:avLst>
            </a:prstGeom>
            <a:solidFill>
              <a:srgbClr val="0F172A"/>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3" name="Google Shape;703;p36"/>
            <p:cNvSpPr/>
            <p:nvPr/>
          </p:nvSpPr>
          <p:spPr>
            <a:xfrm>
              <a:off x="0" y="0"/>
              <a:ext cx="4191000" cy="266700"/>
            </a:xfrm>
            <a:custGeom>
              <a:rect b="b" l="l" r="r" t="t"/>
              <a:pathLst>
                <a:path extrusionOk="0" h="120000" w="120000">
                  <a:moveTo>
                    <a:pt x="0" y="25714"/>
                  </a:moveTo>
                  <a:cubicBezTo>
                    <a:pt x="0" y="11513"/>
                    <a:pt x="733" y="0"/>
                    <a:pt x="1636" y="0"/>
                  </a:cubicBezTo>
                  <a:lnTo>
                    <a:pt x="118364" y="0"/>
                  </a:lnTo>
                  <a:cubicBezTo>
                    <a:pt x="119268" y="3"/>
                    <a:pt x="120000" y="11515"/>
                    <a:pt x="120000" y="25714"/>
                  </a:cubicBezTo>
                  <a:lnTo>
                    <a:pt x="120000" y="120000"/>
                  </a:lnTo>
                  <a:lnTo>
                    <a:pt x="0" y="120000"/>
                  </a:lnTo>
                  <a:close/>
                </a:path>
              </a:pathLst>
            </a:cu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36"/>
            <p:cNvSpPr/>
            <p:nvPr/>
          </p:nvSpPr>
          <p:spPr>
            <a:xfrm>
              <a:off x="104775" y="85725"/>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5" name="Google Shape;705;p36"/>
            <p:cNvSpPr/>
            <p:nvPr/>
          </p:nvSpPr>
          <p:spPr>
            <a:xfrm>
              <a:off x="257175" y="85725"/>
              <a:ext cx="95400" cy="95400"/>
            </a:xfrm>
            <a:prstGeom prst="ellipse">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6" name="Google Shape;706;p36"/>
            <p:cNvSpPr/>
            <p:nvPr/>
          </p:nvSpPr>
          <p:spPr>
            <a:xfrm>
              <a:off x="409575" y="85725"/>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36"/>
            <p:cNvSpPr txBox="1"/>
            <p:nvPr/>
          </p:nvSpPr>
          <p:spPr>
            <a:xfrm>
              <a:off x="762000" y="0"/>
              <a:ext cx="2667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825">
                  <a:solidFill>
                    <a:srgbClr val="94A3B8"/>
                  </a:solidFill>
                  <a:latin typeface="Arial"/>
                  <a:ea typeface="Arial"/>
                  <a:cs typeface="Arial"/>
                  <a:sym typeface="Arial"/>
                </a:rPr>
                <a:t>terminal - terraform deploy</a:t>
              </a:r>
              <a:endParaRPr sz="825">
                <a:solidFill>
                  <a:srgbClr val="94A3B8"/>
                </a:solidFill>
                <a:latin typeface="Arial"/>
                <a:ea typeface="Arial"/>
                <a:cs typeface="Arial"/>
                <a:sym typeface="Arial"/>
              </a:endParaRPr>
            </a:p>
          </p:txBody>
        </p:sp>
        <p:sp>
          <p:nvSpPr>
            <p:cNvPr id="708" name="Google Shape;708;p36"/>
            <p:cNvSpPr txBox="1"/>
            <p:nvPr/>
          </p:nvSpPr>
          <p:spPr>
            <a:xfrm>
              <a:off x="152400" y="381000"/>
              <a:ext cx="38862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25">
                  <a:solidFill>
                    <a:srgbClr val="38BDF8"/>
                  </a:solidFill>
                  <a:latin typeface="Arial"/>
                  <a:ea typeface="Arial"/>
                  <a:cs typeface="Arial"/>
                  <a:sym typeface="Arial"/>
                </a:rPr>
                <a:t>$ terraform init</a:t>
              </a:r>
              <a:endParaRPr sz="825">
                <a:solidFill>
                  <a:srgbClr val="38BDF8"/>
                </a:solidFill>
                <a:latin typeface="Arial"/>
                <a:ea typeface="Arial"/>
                <a:cs typeface="Arial"/>
                <a:sym typeface="Arial"/>
              </a:endParaRPr>
            </a:p>
            <a:p>
              <a:pPr indent="0" lvl="0" marL="0" rtl="0" algn="l">
                <a:spcBef>
                  <a:spcPts val="150"/>
                </a:spcBef>
                <a:spcAft>
                  <a:spcPts val="0"/>
                </a:spcAft>
                <a:buNone/>
              </a:pPr>
              <a:r>
                <a:rPr lang="en" sz="825">
                  <a:solidFill>
                    <a:srgbClr val="94A3B8"/>
                  </a:solidFill>
                  <a:latin typeface="Arial"/>
                  <a:ea typeface="Arial"/>
                  <a:cs typeface="Arial"/>
                  <a:sym typeface="Arial"/>
                </a:rPr>
                <a:t>Initializing provider plugins...</a:t>
              </a:r>
              <a:endParaRPr sz="825">
                <a:solidFill>
                  <a:srgbClr val="94A3B8"/>
                </a:solidFill>
                <a:latin typeface="Arial"/>
                <a:ea typeface="Arial"/>
                <a:cs typeface="Arial"/>
                <a:sym typeface="Arial"/>
              </a:endParaRPr>
            </a:p>
            <a:p>
              <a:pPr indent="0" lvl="0" marL="0" rtl="0" algn="l">
                <a:spcBef>
                  <a:spcPts val="150"/>
                </a:spcBef>
                <a:spcAft>
                  <a:spcPts val="0"/>
                </a:spcAft>
                <a:buNone/>
              </a:pPr>
              <a:r>
                <a:rPr lang="en" sz="825">
                  <a:solidFill>
                    <a:srgbClr val="94A3B8"/>
                  </a:solidFill>
                  <a:latin typeface="Arial"/>
                  <a:ea typeface="Arial"/>
                  <a:cs typeface="Arial"/>
                  <a:sym typeface="Arial"/>
                </a:rPr>
                <a:t>- Reusing previous version of hashicorp/aws</a:t>
              </a:r>
              <a:endParaRPr sz="825">
                <a:solidFill>
                  <a:srgbClr val="94A3B8"/>
                </a:solidFill>
                <a:latin typeface="Arial"/>
                <a:ea typeface="Arial"/>
                <a:cs typeface="Arial"/>
                <a:sym typeface="Arial"/>
              </a:endParaRPr>
            </a:p>
            <a:p>
              <a:pPr indent="0" lvl="0" marL="0" rtl="0" algn="l">
                <a:spcBef>
                  <a:spcPts val="600"/>
                </a:spcBef>
                <a:spcAft>
                  <a:spcPts val="0"/>
                </a:spcAft>
                <a:buNone/>
              </a:pPr>
              <a:r>
                <a:rPr lang="en" sz="825">
                  <a:solidFill>
                    <a:srgbClr val="38BDF8"/>
                  </a:solidFill>
                  <a:latin typeface="Arial"/>
                  <a:ea typeface="Arial"/>
                  <a:cs typeface="Arial"/>
                  <a:sym typeface="Arial"/>
                </a:rPr>
                <a:t>$ terraform apply -auto-approve</a:t>
              </a:r>
              <a:endParaRPr sz="825">
                <a:solidFill>
                  <a:srgbClr val="38BDF8"/>
                </a:solidFill>
                <a:latin typeface="Arial"/>
                <a:ea typeface="Arial"/>
                <a:cs typeface="Arial"/>
                <a:sym typeface="Arial"/>
              </a:endParaRPr>
            </a:p>
            <a:p>
              <a:pPr indent="0" lvl="0" marL="0" rtl="0" algn="l">
                <a:spcBef>
                  <a:spcPts val="150"/>
                </a:spcBef>
                <a:spcAft>
                  <a:spcPts val="0"/>
                </a:spcAft>
                <a:buNone/>
              </a:pPr>
              <a:r>
                <a:rPr lang="en" sz="825">
                  <a:solidFill>
                    <a:srgbClr val="E2E8F0"/>
                  </a:solidFill>
                  <a:latin typeface="Arial"/>
                  <a:ea typeface="Arial"/>
                  <a:cs typeface="Arial"/>
                  <a:sym typeface="Arial"/>
                </a:rPr>
                <a:t>aws_vpc.main: Creating... [0s elapsed]</a:t>
              </a:r>
              <a:endParaRPr sz="825">
                <a:solidFill>
                  <a:srgbClr val="E2E8F0"/>
                </a:solidFill>
                <a:latin typeface="Arial"/>
                <a:ea typeface="Arial"/>
                <a:cs typeface="Arial"/>
                <a:sym typeface="Arial"/>
              </a:endParaRPr>
            </a:p>
            <a:p>
              <a:pPr indent="0" lvl="0" marL="0" rtl="0" algn="l">
                <a:spcBef>
                  <a:spcPts val="150"/>
                </a:spcBef>
                <a:spcAft>
                  <a:spcPts val="0"/>
                </a:spcAft>
                <a:buNone/>
              </a:pPr>
              <a:r>
                <a:rPr lang="en" sz="825">
                  <a:solidFill>
                    <a:srgbClr val="E2E8F0"/>
                  </a:solidFill>
                  <a:latin typeface="Arial"/>
                  <a:ea typeface="Arial"/>
                  <a:cs typeface="Arial"/>
                  <a:sym typeface="Arial"/>
                </a:rPr>
                <a:t>aws_subnet.private_a: Creating... [2s elapsed]</a:t>
              </a:r>
              <a:endParaRPr sz="825">
                <a:solidFill>
                  <a:srgbClr val="E2E8F0"/>
                </a:solidFill>
                <a:latin typeface="Arial"/>
                <a:ea typeface="Arial"/>
                <a:cs typeface="Arial"/>
                <a:sym typeface="Arial"/>
              </a:endParaRPr>
            </a:p>
            <a:p>
              <a:pPr indent="0" lvl="0" marL="0" rtl="0" algn="l">
                <a:spcBef>
                  <a:spcPts val="150"/>
                </a:spcBef>
                <a:spcAft>
                  <a:spcPts val="0"/>
                </a:spcAft>
                <a:buNone/>
              </a:pPr>
              <a:r>
                <a:rPr lang="en" sz="825">
                  <a:solidFill>
                    <a:srgbClr val="E2E8F0"/>
                  </a:solidFill>
                  <a:latin typeface="Arial"/>
                  <a:ea typeface="Arial"/>
                  <a:cs typeface="Arial"/>
                  <a:sym typeface="Arial"/>
                </a:rPr>
                <a:t>aws_iam_role.lambda_execution: Creating... [4s elapsed]</a:t>
              </a:r>
              <a:endParaRPr sz="825">
                <a:solidFill>
                  <a:srgbClr val="E2E8F0"/>
                </a:solidFill>
                <a:latin typeface="Arial"/>
                <a:ea typeface="Arial"/>
                <a:cs typeface="Arial"/>
                <a:sym typeface="Arial"/>
              </a:endParaRPr>
            </a:p>
            <a:p>
              <a:pPr indent="0" lvl="0" marL="0" rtl="0" algn="l">
                <a:spcBef>
                  <a:spcPts val="600"/>
                </a:spcBef>
                <a:spcAft>
                  <a:spcPts val="0"/>
                </a:spcAft>
                <a:buNone/>
              </a:pPr>
              <a:r>
                <a:rPr lang="en" sz="825">
                  <a:solidFill>
                    <a:srgbClr val="10B981"/>
                  </a:solidFill>
                  <a:latin typeface="Arial"/>
                  <a:ea typeface="Arial"/>
                  <a:cs typeface="Arial"/>
                  <a:sym typeface="Arial"/>
                </a:rPr>
                <a:t>Apply complete! Resources: 24 added, 0 changed.</a:t>
              </a:r>
              <a:endParaRPr sz="825">
                <a:solidFill>
                  <a:srgbClr val="10B981"/>
                </a:solidFill>
                <a:latin typeface="Arial"/>
                <a:ea typeface="Arial"/>
                <a:cs typeface="Arial"/>
                <a:sym typeface="Arial"/>
              </a:endParaRPr>
            </a:p>
            <a:p>
              <a:pPr indent="0" lvl="0" marL="0" rtl="0" algn="l">
                <a:spcBef>
                  <a:spcPts val="150"/>
                </a:spcBef>
                <a:spcAft>
                  <a:spcPts val="0"/>
                </a:spcAft>
                <a:buNone/>
              </a:pPr>
              <a:r>
                <a:rPr lang="en" sz="825">
                  <a:solidFill>
                    <a:srgbClr val="0284C7"/>
                  </a:solidFill>
                  <a:latin typeface="Arial"/>
                  <a:ea typeface="Arial"/>
                  <a:cs typeface="Arial"/>
                  <a:sym typeface="Arial"/>
                </a:rPr>
                <a:t>Time elapsed: 2m 54s</a:t>
              </a:r>
              <a:endParaRPr sz="825">
                <a:solidFill>
                  <a:srgbClr val="0284C7"/>
                </a:solidFill>
                <a:latin typeface="Arial"/>
                <a:ea typeface="Arial"/>
                <a:cs typeface="Arial"/>
                <a:sym typeface="Arial"/>
              </a:endParaRPr>
            </a:p>
          </p:txBody>
        </p:sp>
      </p:grpSp>
      <p:sp>
        <p:nvSpPr>
          <p:cNvPr id="709" name="Google Shape;709;p36"/>
          <p:cNvSpPr txBox="1"/>
          <p:nvPr/>
        </p:nvSpPr>
        <p:spPr>
          <a:xfrm>
            <a:off x="4572000" y="3638550"/>
            <a:ext cx="4191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5">
                <a:solidFill>
                  <a:srgbClr val="0369A1"/>
                </a:solidFill>
                <a:latin typeface="Inter SemiBold"/>
                <a:ea typeface="Inter SemiBold"/>
                <a:cs typeface="Inter SemiBold"/>
                <a:sym typeface="Inter SemiBold"/>
              </a:rPr>
              <a:t>Standard Terraform Deployment</a:t>
            </a:r>
            <a:endParaRPr b="0" sz="825">
              <a:solidFill>
                <a:srgbClr val="0369A1"/>
              </a:solidFill>
              <a:latin typeface="Inter SemiBold"/>
              <a:ea typeface="Inter SemiBold"/>
              <a:cs typeface="Inter SemiBold"/>
              <a:sym typeface="Inter SemiBold"/>
            </a:endParaRPr>
          </a:p>
          <a:p>
            <a:pPr indent="0" lvl="0" marL="0" rtl="0" algn="l">
              <a:spcBef>
                <a:spcPts val="300"/>
              </a:spcBef>
              <a:spcAft>
                <a:spcPts val="0"/>
              </a:spcAft>
              <a:buNone/>
            </a:pPr>
            <a:r>
              <a:rPr b="0" lang="en" sz="975">
                <a:solidFill>
                  <a:srgbClr val="475569"/>
                </a:solidFill>
                <a:latin typeface="Inter"/>
                <a:ea typeface="Inter"/>
                <a:cs typeface="Inter"/>
                <a:sym typeface="Inter"/>
              </a:rPr>
              <a:t>The complete stack, including standard CloudWatch dashboards and alarms, deploys in approximately three minutes using standard initialization and apply commands.</a:t>
            </a:r>
            <a:endParaRPr b="0" sz="975">
              <a:solidFill>
                <a:srgbClr val="475569"/>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grpSp>
        <p:nvGrpSpPr>
          <p:cNvPr id="714" name="Google Shape;714;p37"/>
          <p:cNvGrpSpPr/>
          <p:nvPr/>
        </p:nvGrpSpPr>
        <p:grpSpPr>
          <a:xfrm>
            <a:off x="0" y="0"/>
            <a:ext cx="9144000" cy="5143500"/>
            <a:chOff x="0" y="0"/>
            <a:chExt cx="9144000" cy="5143500"/>
          </a:xfrm>
        </p:grpSpPr>
        <p:sp>
          <p:nvSpPr>
            <p:cNvPr id="715" name="Google Shape;715;p37"/>
            <p:cNvSpPr/>
            <p:nvPr/>
          </p:nvSpPr>
          <p:spPr>
            <a:xfrm>
              <a:off x="0" y="0"/>
              <a:ext cx="9144000" cy="5143500"/>
            </a:xfrm>
            <a:prstGeom prst="rect">
              <a:avLst/>
            </a:prstGeom>
            <a:solidFill>
              <a:srgbClr val="F4F6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6" name="Google Shape;716;p37"/>
            <p:cNvSpPr/>
            <p:nvPr/>
          </p:nvSpPr>
          <p:spPr>
            <a:xfrm>
              <a:off x="0" y="0"/>
              <a:ext cx="190500" cy="51435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7" name="Google Shape;717;p37"/>
            <p:cNvSpPr/>
            <p:nvPr/>
          </p:nvSpPr>
          <p:spPr>
            <a:xfrm>
              <a:off x="190500" y="0"/>
              <a:ext cx="38100" cy="51435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18" name="Google Shape;718;p37"/>
          <p:cNvSpPr txBox="1"/>
          <p:nvPr/>
        </p:nvSpPr>
        <p:spPr>
          <a:xfrm>
            <a:off x="571500" y="428625"/>
            <a:ext cx="8191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F172A"/>
                </a:solidFill>
                <a:latin typeface="Inter"/>
                <a:ea typeface="Inter"/>
                <a:cs typeface="Inter"/>
                <a:sym typeface="Inter"/>
              </a:rPr>
              <a:t>Research Angles &amp; Advanced Topics</a:t>
            </a:r>
            <a:endParaRPr b="1" sz="2400">
              <a:solidFill>
                <a:srgbClr val="0F172A"/>
              </a:solidFill>
              <a:latin typeface="Inter"/>
              <a:ea typeface="Inter"/>
              <a:cs typeface="Inter"/>
              <a:sym typeface="Inter"/>
            </a:endParaRPr>
          </a:p>
          <a:p>
            <a:pPr indent="0" lvl="0" marL="0" rtl="0" algn="l">
              <a:spcBef>
                <a:spcPts val="750"/>
              </a:spcBef>
              <a:spcAft>
                <a:spcPts val="0"/>
              </a:spcAft>
              <a:buNone/>
            </a:pPr>
            <a:r>
              <a:rPr b="0" lang="en" sz="1088">
                <a:solidFill>
                  <a:srgbClr val="475569"/>
                </a:solidFill>
                <a:latin typeface="Inter"/>
                <a:ea typeface="Inter"/>
                <a:cs typeface="Inter"/>
                <a:sym typeface="Inter"/>
              </a:rPr>
              <a:t>Future research must address emerging vulnerabilities and advanced defense mechanisms.</a:t>
            </a:r>
            <a:endParaRPr b="0" sz="1088">
              <a:solidFill>
                <a:srgbClr val="475569"/>
              </a:solidFill>
              <a:latin typeface="Inter"/>
              <a:ea typeface="Inter"/>
              <a:cs typeface="Inter"/>
              <a:sym typeface="Inter"/>
            </a:endParaRPr>
          </a:p>
        </p:txBody>
      </p:sp>
      <p:grpSp>
        <p:nvGrpSpPr>
          <p:cNvPr id="719" name="Google Shape;719;p37"/>
          <p:cNvGrpSpPr/>
          <p:nvPr/>
        </p:nvGrpSpPr>
        <p:grpSpPr>
          <a:xfrm>
            <a:off x="571500" y="1714500"/>
            <a:ext cx="8191500" cy="2857500"/>
            <a:chOff x="571500" y="1714500"/>
            <a:chExt cx="8191500" cy="2857500"/>
          </a:xfrm>
        </p:grpSpPr>
        <p:grpSp>
          <p:nvGrpSpPr>
            <p:cNvPr id="720" name="Google Shape;720;p37"/>
            <p:cNvGrpSpPr/>
            <p:nvPr/>
          </p:nvGrpSpPr>
          <p:grpSpPr>
            <a:xfrm>
              <a:off x="571500" y="1714500"/>
              <a:ext cx="1485900" cy="2857500"/>
              <a:chOff x="0" y="0"/>
              <a:chExt cx="1485900" cy="2857500"/>
            </a:xfrm>
          </p:grpSpPr>
          <p:sp>
            <p:nvSpPr>
              <p:cNvPr id="721" name="Google Shape;721;p37"/>
              <p:cNvSpPr/>
              <p:nvPr/>
            </p:nvSpPr>
            <p:spPr>
              <a:xfrm>
                <a:off x="0" y="0"/>
                <a:ext cx="1485900" cy="28575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37"/>
              <p:cNvSpPr/>
              <p:nvPr/>
            </p:nvSpPr>
            <p:spPr>
              <a:xfrm>
                <a:off x="0" y="0"/>
                <a:ext cx="14859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p37"/>
              <p:cNvSpPr txBox="1"/>
              <p:nvPr/>
            </p:nvSpPr>
            <p:spPr>
              <a:xfrm>
                <a:off x="114300" y="190500"/>
                <a:ext cx="12573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75">
                    <a:solidFill>
                      <a:srgbClr val="0284C7"/>
                    </a:solidFill>
                    <a:latin typeface="Inter SemiBold"/>
                    <a:ea typeface="Inter SemiBold"/>
                    <a:cs typeface="Inter SemiBold"/>
                    <a:sym typeface="Inter SemiBold"/>
                  </a:rPr>
                  <a:t>01 / SUPPLY CHAIN</a:t>
                </a:r>
                <a:endParaRPr b="0" sz="675">
                  <a:solidFill>
                    <a:srgbClr val="0284C7"/>
                  </a:solidFill>
                  <a:latin typeface="Inter SemiBold"/>
                  <a:ea typeface="Inter SemiBold"/>
                  <a:cs typeface="Inter SemiBold"/>
                  <a:sym typeface="Inter SemiBold"/>
                </a:endParaRPr>
              </a:p>
              <a:p>
                <a:pPr indent="0" lvl="0" marL="0" rtl="0" algn="l">
                  <a:spcBef>
                    <a:spcPts val="900"/>
                  </a:spcBef>
                  <a:spcAft>
                    <a:spcPts val="0"/>
                  </a:spcAft>
                  <a:buNone/>
                </a:pPr>
                <a:r>
                  <a:rPr b="0" lang="en" sz="975">
                    <a:solidFill>
                      <a:srgbClr val="0F172A"/>
                    </a:solidFill>
                    <a:latin typeface="Inter SemiBold"/>
                    <a:ea typeface="Inter SemiBold"/>
                    <a:cs typeface="Inter SemiBold"/>
                    <a:sym typeface="Inter SemiBold"/>
                  </a:rPr>
                  <a:t>Mitigating Attacks</a:t>
                </a:r>
                <a:endParaRPr b="0" sz="97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863">
                    <a:solidFill>
                      <a:srgbClr val="475569"/>
                    </a:solidFill>
                    <a:latin typeface="Inter"/>
                    <a:ea typeface="Inter"/>
                    <a:cs typeface="Inter"/>
                    <a:sym typeface="Inter"/>
                  </a:rPr>
                  <a:t>Mitigating supply chain attacks where counterfeit sensors slowly poison RL training.</a:t>
                </a:r>
                <a:endParaRPr b="0" sz="863">
                  <a:solidFill>
                    <a:srgbClr val="475569"/>
                  </a:solidFill>
                  <a:latin typeface="Inter"/>
                  <a:ea typeface="Inter"/>
                  <a:cs typeface="Inter"/>
                  <a:sym typeface="Inter"/>
                </a:endParaRPr>
              </a:p>
            </p:txBody>
          </p:sp>
        </p:grpSp>
        <p:grpSp>
          <p:nvGrpSpPr>
            <p:cNvPr id="724" name="Google Shape;724;p37"/>
            <p:cNvGrpSpPr/>
            <p:nvPr/>
          </p:nvGrpSpPr>
          <p:grpSpPr>
            <a:xfrm>
              <a:off x="2247900" y="1714500"/>
              <a:ext cx="1485900" cy="2857500"/>
              <a:chOff x="0" y="0"/>
              <a:chExt cx="1485900" cy="2857500"/>
            </a:xfrm>
          </p:grpSpPr>
          <p:sp>
            <p:nvSpPr>
              <p:cNvPr id="725" name="Google Shape;725;p37"/>
              <p:cNvSpPr/>
              <p:nvPr/>
            </p:nvSpPr>
            <p:spPr>
              <a:xfrm>
                <a:off x="0" y="0"/>
                <a:ext cx="1485900" cy="28575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6" name="Google Shape;726;p37"/>
              <p:cNvSpPr/>
              <p:nvPr/>
            </p:nvSpPr>
            <p:spPr>
              <a:xfrm>
                <a:off x="0" y="0"/>
                <a:ext cx="14859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37"/>
              <p:cNvSpPr txBox="1"/>
              <p:nvPr/>
            </p:nvSpPr>
            <p:spPr>
              <a:xfrm>
                <a:off x="114300" y="190500"/>
                <a:ext cx="12573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75">
                    <a:solidFill>
                      <a:srgbClr val="0284C7"/>
                    </a:solidFill>
                    <a:latin typeface="Inter SemiBold"/>
                    <a:ea typeface="Inter SemiBold"/>
                    <a:cs typeface="Inter SemiBold"/>
                    <a:sym typeface="Inter SemiBold"/>
                  </a:rPr>
                  <a:t>02 / ADVERSARIAL</a:t>
                </a:r>
                <a:endParaRPr b="0" sz="675">
                  <a:solidFill>
                    <a:srgbClr val="0284C7"/>
                  </a:solidFill>
                  <a:latin typeface="Inter SemiBold"/>
                  <a:ea typeface="Inter SemiBold"/>
                  <a:cs typeface="Inter SemiBold"/>
                  <a:sym typeface="Inter SemiBold"/>
                </a:endParaRPr>
              </a:p>
              <a:p>
                <a:pPr indent="0" lvl="0" marL="0" rtl="0" algn="l">
                  <a:spcBef>
                    <a:spcPts val="900"/>
                  </a:spcBef>
                  <a:spcAft>
                    <a:spcPts val="0"/>
                  </a:spcAft>
                  <a:buNone/>
                </a:pPr>
                <a:r>
                  <a:rPr b="0" lang="en" sz="975">
                    <a:solidFill>
                      <a:srgbClr val="0F172A"/>
                    </a:solidFill>
                    <a:latin typeface="Inter SemiBold"/>
                    <a:ea typeface="Inter SemiBold"/>
                    <a:cs typeface="Inter SemiBold"/>
                    <a:sym typeface="Inter SemiBold"/>
                  </a:rPr>
                  <a:t>Defending Examples</a:t>
                </a:r>
                <a:endParaRPr b="0" sz="97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863">
                    <a:solidFill>
                      <a:srgbClr val="475569"/>
                    </a:solidFill>
                    <a:latin typeface="Inter"/>
                    <a:ea typeface="Inter"/>
                    <a:cs typeface="Inter"/>
                    <a:sym typeface="Inter"/>
                  </a:rPr>
                  <a:t>Defending against complex adversarial examples that pass bounds checks but force destructive actions.</a:t>
                </a:r>
                <a:endParaRPr b="0" sz="863">
                  <a:solidFill>
                    <a:srgbClr val="475569"/>
                  </a:solidFill>
                  <a:latin typeface="Inter"/>
                  <a:ea typeface="Inter"/>
                  <a:cs typeface="Inter"/>
                  <a:sym typeface="Inter"/>
                </a:endParaRPr>
              </a:p>
            </p:txBody>
          </p:sp>
        </p:grpSp>
        <p:grpSp>
          <p:nvGrpSpPr>
            <p:cNvPr id="728" name="Google Shape;728;p37"/>
            <p:cNvGrpSpPr/>
            <p:nvPr/>
          </p:nvGrpSpPr>
          <p:grpSpPr>
            <a:xfrm>
              <a:off x="3924300" y="1714500"/>
              <a:ext cx="1485900" cy="2857500"/>
              <a:chOff x="0" y="0"/>
              <a:chExt cx="1485900" cy="2857500"/>
            </a:xfrm>
          </p:grpSpPr>
          <p:sp>
            <p:nvSpPr>
              <p:cNvPr id="729" name="Google Shape;729;p37"/>
              <p:cNvSpPr/>
              <p:nvPr/>
            </p:nvSpPr>
            <p:spPr>
              <a:xfrm>
                <a:off x="0" y="0"/>
                <a:ext cx="1485900" cy="28575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0" name="Google Shape;730;p37"/>
              <p:cNvSpPr/>
              <p:nvPr/>
            </p:nvSpPr>
            <p:spPr>
              <a:xfrm>
                <a:off x="0" y="0"/>
                <a:ext cx="14859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1" name="Google Shape;731;p37"/>
              <p:cNvSpPr txBox="1"/>
              <p:nvPr/>
            </p:nvSpPr>
            <p:spPr>
              <a:xfrm>
                <a:off x="114300" y="190500"/>
                <a:ext cx="12573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75">
                    <a:solidFill>
                      <a:srgbClr val="0284C7"/>
                    </a:solidFill>
                    <a:latin typeface="Inter SemiBold"/>
                    <a:ea typeface="Inter SemiBold"/>
                    <a:cs typeface="Inter SemiBold"/>
                    <a:sym typeface="Inter SemiBold"/>
                  </a:rPr>
                  <a:t>03 / AUTOENCODER</a:t>
                </a:r>
                <a:endParaRPr b="0" sz="675">
                  <a:solidFill>
                    <a:srgbClr val="0284C7"/>
                  </a:solidFill>
                  <a:latin typeface="Inter SemiBold"/>
                  <a:ea typeface="Inter SemiBold"/>
                  <a:cs typeface="Inter SemiBold"/>
                  <a:sym typeface="Inter SemiBold"/>
                </a:endParaRPr>
              </a:p>
              <a:p>
                <a:pPr indent="0" lvl="0" marL="0" rtl="0" algn="l">
                  <a:spcBef>
                    <a:spcPts val="900"/>
                  </a:spcBef>
                  <a:spcAft>
                    <a:spcPts val="0"/>
                  </a:spcAft>
                  <a:buNone/>
                </a:pPr>
                <a:r>
                  <a:rPr b="0" lang="en" sz="975">
                    <a:solidFill>
                      <a:srgbClr val="0F172A"/>
                    </a:solidFill>
                    <a:latin typeface="Inter SemiBold"/>
                    <a:ea typeface="Inter SemiBold"/>
                    <a:cs typeface="Inter SemiBold"/>
                    <a:sym typeface="Inter SemiBold"/>
                  </a:rPr>
                  <a:t>Unsupervised Defense</a:t>
                </a:r>
                <a:endParaRPr b="0" sz="97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863">
                    <a:solidFill>
                      <a:srgbClr val="475569"/>
                    </a:solidFill>
                    <a:latin typeface="Inter"/>
                    <a:ea typeface="Inter"/>
                    <a:cs typeface="Inter"/>
                    <a:sym typeface="Inter"/>
                  </a:rPr>
                  <a:t>Implementing an autoencoder defense for unsupervised anomaly detection prior to SageMaker inference.</a:t>
                </a:r>
                <a:endParaRPr b="0" sz="863">
                  <a:solidFill>
                    <a:srgbClr val="475569"/>
                  </a:solidFill>
                  <a:latin typeface="Inter"/>
                  <a:ea typeface="Inter"/>
                  <a:cs typeface="Inter"/>
                  <a:sym typeface="Inter"/>
                </a:endParaRPr>
              </a:p>
            </p:txBody>
          </p:sp>
        </p:grpSp>
        <p:grpSp>
          <p:nvGrpSpPr>
            <p:cNvPr id="732" name="Google Shape;732;p37"/>
            <p:cNvGrpSpPr/>
            <p:nvPr/>
          </p:nvGrpSpPr>
          <p:grpSpPr>
            <a:xfrm>
              <a:off x="5600700" y="1714500"/>
              <a:ext cx="1485900" cy="2857500"/>
              <a:chOff x="0" y="0"/>
              <a:chExt cx="1485900" cy="2857500"/>
            </a:xfrm>
          </p:grpSpPr>
          <p:sp>
            <p:nvSpPr>
              <p:cNvPr id="733" name="Google Shape;733;p37"/>
              <p:cNvSpPr/>
              <p:nvPr/>
            </p:nvSpPr>
            <p:spPr>
              <a:xfrm>
                <a:off x="0" y="0"/>
                <a:ext cx="1485900" cy="28575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37"/>
              <p:cNvSpPr/>
              <p:nvPr/>
            </p:nvSpPr>
            <p:spPr>
              <a:xfrm>
                <a:off x="0" y="0"/>
                <a:ext cx="14859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5" name="Google Shape;735;p37"/>
              <p:cNvSpPr txBox="1"/>
              <p:nvPr/>
            </p:nvSpPr>
            <p:spPr>
              <a:xfrm>
                <a:off x="114300" y="190500"/>
                <a:ext cx="12573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75">
                    <a:solidFill>
                      <a:srgbClr val="0284C7"/>
                    </a:solidFill>
                    <a:latin typeface="Inter SemiBold"/>
                    <a:ea typeface="Inter SemiBold"/>
                    <a:cs typeface="Inter SemiBold"/>
                    <a:sym typeface="Inter SemiBold"/>
                  </a:rPr>
                  <a:t>04 / MULTI-AGENT</a:t>
                </a:r>
                <a:endParaRPr b="0" sz="675">
                  <a:solidFill>
                    <a:srgbClr val="0284C7"/>
                  </a:solidFill>
                  <a:latin typeface="Inter SemiBold"/>
                  <a:ea typeface="Inter SemiBold"/>
                  <a:cs typeface="Inter SemiBold"/>
                  <a:sym typeface="Inter SemiBold"/>
                </a:endParaRPr>
              </a:p>
              <a:p>
                <a:pPr indent="0" lvl="0" marL="0" rtl="0" algn="l">
                  <a:spcBef>
                    <a:spcPts val="900"/>
                  </a:spcBef>
                  <a:spcAft>
                    <a:spcPts val="0"/>
                  </a:spcAft>
                  <a:buNone/>
                </a:pPr>
                <a:r>
                  <a:rPr b="0" lang="en" sz="975">
                    <a:solidFill>
                      <a:srgbClr val="0F172A"/>
                    </a:solidFill>
                    <a:latin typeface="Inter SemiBold"/>
                    <a:ea typeface="Inter SemiBold"/>
                    <a:cs typeface="Inter SemiBold"/>
                    <a:sym typeface="Inter SemiBold"/>
                  </a:rPr>
                  <a:t>Voting Architectures</a:t>
                </a:r>
                <a:endParaRPr b="0" sz="97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863">
                    <a:solidFill>
                      <a:srgbClr val="475569"/>
                    </a:solidFill>
                    <a:latin typeface="Inter"/>
                    <a:ea typeface="Inter"/>
                    <a:cs typeface="Inter"/>
                    <a:sym typeface="Inter"/>
                  </a:rPr>
                  <a:t>Exploring multi-agent voting with independent RL architectures.</a:t>
                </a:r>
                <a:endParaRPr b="0" sz="863">
                  <a:solidFill>
                    <a:srgbClr val="475569"/>
                  </a:solidFill>
                  <a:latin typeface="Inter"/>
                  <a:ea typeface="Inter"/>
                  <a:cs typeface="Inter"/>
                  <a:sym typeface="Inter"/>
                </a:endParaRPr>
              </a:p>
            </p:txBody>
          </p:sp>
        </p:grpSp>
        <p:grpSp>
          <p:nvGrpSpPr>
            <p:cNvPr id="736" name="Google Shape;736;p37"/>
            <p:cNvGrpSpPr/>
            <p:nvPr/>
          </p:nvGrpSpPr>
          <p:grpSpPr>
            <a:xfrm>
              <a:off x="7277100" y="1714500"/>
              <a:ext cx="1485900" cy="2857500"/>
              <a:chOff x="0" y="0"/>
              <a:chExt cx="1485900" cy="2857500"/>
            </a:xfrm>
          </p:grpSpPr>
          <p:sp>
            <p:nvSpPr>
              <p:cNvPr id="737" name="Google Shape;737;p37"/>
              <p:cNvSpPr/>
              <p:nvPr/>
            </p:nvSpPr>
            <p:spPr>
              <a:xfrm>
                <a:off x="0" y="0"/>
                <a:ext cx="1485900" cy="28575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8" name="Google Shape;738;p37"/>
              <p:cNvSpPr/>
              <p:nvPr/>
            </p:nvSpPr>
            <p:spPr>
              <a:xfrm>
                <a:off x="0" y="0"/>
                <a:ext cx="1485900" cy="381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9" name="Google Shape;739;p37"/>
              <p:cNvSpPr txBox="1"/>
              <p:nvPr/>
            </p:nvSpPr>
            <p:spPr>
              <a:xfrm>
                <a:off x="114300" y="190500"/>
                <a:ext cx="12573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75">
                    <a:solidFill>
                      <a:srgbClr val="0284C7"/>
                    </a:solidFill>
                    <a:latin typeface="Inter SemiBold"/>
                    <a:ea typeface="Inter SemiBold"/>
                    <a:cs typeface="Inter SemiBold"/>
                    <a:sym typeface="Inter SemiBold"/>
                  </a:rPr>
                  <a:t>05 / TEMPORAL</a:t>
                </a:r>
                <a:endParaRPr b="0" sz="675">
                  <a:solidFill>
                    <a:srgbClr val="0284C7"/>
                  </a:solidFill>
                  <a:latin typeface="Inter SemiBold"/>
                  <a:ea typeface="Inter SemiBold"/>
                  <a:cs typeface="Inter SemiBold"/>
                  <a:sym typeface="Inter SemiBold"/>
                </a:endParaRPr>
              </a:p>
              <a:p>
                <a:pPr indent="0" lvl="0" marL="0" rtl="0" algn="l">
                  <a:spcBef>
                    <a:spcPts val="900"/>
                  </a:spcBef>
                  <a:spcAft>
                    <a:spcPts val="0"/>
                  </a:spcAft>
                  <a:buNone/>
                </a:pPr>
                <a:r>
                  <a:rPr b="0" lang="en" sz="975">
                    <a:solidFill>
                      <a:srgbClr val="0F172A"/>
                    </a:solidFill>
                    <a:latin typeface="Inter SemiBold"/>
                    <a:ea typeface="Inter SemiBold"/>
                    <a:cs typeface="Inter SemiBold"/>
                    <a:sym typeface="Inter SemiBold"/>
                  </a:rPr>
                  <a:t>Physical Consistency</a:t>
                </a:r>
                <a:endParaRPr b="0" sz="975">
                  <a:solidFill>
                    <a:srgbClr val="0F172A"/>
                  </a:solidFill>
                  <a:latin typeface="Inter SemiBold"/>
                  <a:ea typeface="Inter SemiBold"/>
                  <a:cs typeface="Inter SemiBold"/>
                  <a:sym typeface="Inter SemiBold"/>
                </a:endParaRPr>
              </a:p>
              <a:p>
                <a:pPr indent="0" lvl="0" marL="0" rtl="0" algn="l">
                  <a:spcBef>
                    <a:spcPts val="750"/>
                  </a:spcBef>
                  <a:spcAft>
                    <a:spcPts val="0"/>
                  </a:spcAft>
                  <a:buNone/>
                </a:pPr>
                <a:r>
                  <a:rPr b="0" lang="en" sz="863">
                    <a:solidFill>
                      <a:srgbClr val="475569"/>
                    </a:solidFill>
                    <a:latin typeface="Inter"/>
                    <a:ea typeface="Inter"/>
                    <a:cs typeface="Inter"/>
                    <a:sym typeface="Inter"/>
                  </a:rPr>
                  <a:t>Enforcing temporal consistency based on physical power grid laws to further harden the system against sophisticated cyber-physical threats.</a:t>
                </a:r>
                <a:endParaRPr b="0" sz="863">
                  <a:solidFill>
                    <a:srgbClr val="475569"/>
                  </a:solidFill>
                  <a:latin typeface="Inter"/>
                  <a:ea typeface="Inter"/>
                  <a:cs typeface="Inter"/>
                  <a:sym typeface="Inte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