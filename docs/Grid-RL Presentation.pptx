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6858000" cy="9144000"/>
  <p:embeddedFontLst>
    <p:embeddedFont>
      <p:font typeface="Inter SemiBold"/>
      <p:regular r:id="rId19"/>
      <p:bold r:id="rId20"/>
      <p:italic r:id="rId21"/>
      <p:boldItalic r:id="rId22"/>
    </p:embeddedFont>
    <p:embeddedFont>
      <p:font typeface="Inter"/>
      <p:bold r:id="rId23"/>
      <p:boldItalic r:id="rId24"/>
    </p:embeddedFont>
    <p:embeddedFont>
      <p:font typeface="Inter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SemiBold-bold.fntdata"/><Relationship Id="rId22" Type="http://schemas.openxmlformats.org/officeDocument/2006/relationships/font" Target="fonts/InterSemiBold-boldItalic.fntdata"/><Relationship Id="rId21" Type="http://schemas.openxmlformats.org/officeDocument/2006/relationships/font" Target="fonts/InterSemiBold-italic.fntdata"/><Relationship Id="rId24" Type="http://schemas.openxmlformats.org/officeDocument/2006/relationships/font" Target="fonts/Inter-boldItalic.fntdata"/><Relationship Id="rId23" Type="http://schemas.openxmlformats.org/officeDocument/2006/relationships/font" Target="fonts/Inter-bold.fntdata"/><Relationship Id="rId26" Type="http://schemas.openxmlformats.org/officeDocument/2006/relationships/font" Target="fonts/InterExtraBold-boldItalic.fntdata"/><Relationship Id="rId25" Type="http://schemas.openxmlformats.org/officeDocument/2006/relationships/font" Target="fonts/InterExtraBold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InterSemiBold-regular.fntdata"/><Relationship Id="rId18" Type="http://schemas.openxmlformats.org/officeDocument/2006/relationships/slide" Target="slides/slide13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678aa7818_23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f678aa7818_2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678aa7818_22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678aa7818_2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678aa7818_21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f678aa7818_2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f678aa7818_20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f678aa7818_2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f678aa7818_19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f678aa7818_19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f678aa7818_18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9" name="Google Shape;319;g3f678aa7818_18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f678aa7818_17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f678aa7818_17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f678aa7818_16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3f678aa7818_1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f678aa7818_15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3f678aa7818_15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3f678aa7818_14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3f678aa7818_1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f678aa7818_13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" name="Google Shape;458;g3f678aa7818_1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3f678aa7818_12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9" name="Google Shape;479;g3f678aa7818_1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3f678aa7818_11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3f678aa7818_1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678aa7818_10_0)">
  <p:cSld name="Generated (g3f678aa7818_10_0)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" name="Google Shape;12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3" name="Google Shape;13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" name="Google Shape;31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5" name="Google Shape;35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4" name="Google Shape;44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40" Type="http://schemas.openxmlformats.org/officeDocument/2006/relationships/image" Target="../media/image49.png"/><Relationship Id="rId42" Type="http://schemas.openxmlformats.org/officeDocument/2006/relationships/image" Target="../media/image46.png"/><Relationship Id="rId41" Type="http://schemas.openxmlformats.org/officeDocument/2006/relationships/image" Target="../media/image47.png"/><Relationship Id="rId44" Type="http://schemas.openxmlformats.org/officeDocument/2006/relationships/image" Target="../media/image51.png"/><Relationship Id="rId43" Type="http://schemas.openxmlformats.org/officeDocument/2006/relationships/image" Target="../media/image52.png"/><Relationship Id="rId46" Type="http://schemas.openxmlformats.org/officeDocument/2006/relationships/image" Target="../media/image50.png"/><Relationship Id="rId45" Type="http://schemas.openxmlformats.org/officeDocument/2006/relationships/image" Target="../media/image44.png"/><Relationship Id="rId48" Type="http://schemas.openxmlformats.org/officeDocument/2006/relationships/image" Target="../media/image54.png"/><Relationship Id="rId47" Type="http://schemas.openxmlformats.org/officeDocument/2006/relationships/image" Target="../media/image48.png"/><Relationship Id="rId49" Type="http://schemas.openxmlformats.org/officeDocument/2006/relationships/image" Target="../media/image73.png"/><Relationship Id="rId31" Type="http://schemas.openxmlformats.org/officeDocument/2006/relationships/image" Target="../media/image32.png"/><Relationship Id="rId30" Type="http://schemas.openxmlformats.org/officeDocument/2006/relationships/image" Target="../media/image36.png"/><Relationship Id="rId33" Type="http://schemas.openxmlformats.org/officeDocument/2006/relationships/image" Target="../media/image31.png"/><Relationship Id="rId32" Type="http://schemas.openxmlformats.org/officeDocument/2006/relationships/image" Target="../media/image34.png"/><Relationship Id="rId35" Type="http://schemas.openxmlformats.org/officeDocument/2006/relationships/image" Target="../media/image38.png"/><Relationship Id="rId34" Type="http://schemas.openxmlformats.org/officeDocument/2006/relationships/image" Target="../media/image33.png"/><Relationship Id="rId37" Type="http://schemas.openxmlformats.org/officeDocument/2006/relationships/image" Target="../media/image39.png"/><Relationship Id="rId36" Type="http://schemas.openxmlformats.org/officeDocument/2006/relationships/image" Target="../media/image42.png"/><Relationship Id="rId39" Type="http://schemas.openxmlformats.org/officeDocument/2006/relationships/image" Target="../media/image41.png"/><Relationship Id="rId38" Type="http://schemas.openxmlformats.org/officeDocument/2006/relationships/image" Target="../media/image43.png"/><Relationship Id="rId20" Type="http://schemas.openxmlformats.org/officeDocument/2006/relationships/image" Target="../media/image22.png"/><Relationship Id="rId22" Type="http://schemas.openxmlformats.org/officeDocument/2006/relationships/image" Target="../media/image27.png"/><Relationship Id="rId21" Type="http://schemas.openxmlformats.org/officeDocument/2006/relationships/image" Target="../media/image28.png"/><Relationship Id="rId24" Type="http://schemas.openxmlformats.org/officeDocument/2006/relationships/image" Target="../media/image24.png"/><Relationship Id="rId23" Type="http://schemas.openxmlformats.org/officeDocument/2006/relationships/image" Target="../media/image37.png"/><Relationship Id="rId26" Type="http://schemas.openxmlformats.org/officeDocument/2006/relationships/image" Target="../media/image29.png"/><Relationship Id="rId25" Type="http://schemas.openxmlformats.org/officeDocument/2006/relationships/image" Target="../media/image30.png"/><Relationship Id="rId28" Type="http://schemas.openxmlformats.org/officeDocument/2006/relationships/image" Target="../media/image21.png"/><Relationship Id="rId27" Type="http://schemas.openxmlformats.org/officeDocument/2006/relationships/image" Target="../media/image26.png"/><Relationship Id="rId29" Type="http://schemas.openxmlformats.org/officeDocument/2006/relationships/image" Target="../media/image35.png"/><Relationship Id="rId95" Type="http://schemas.openxmlformats.org/officeDocument/2006/relationships/image" Target="../media/image107.png"/><Relationship Id="rId94" Type="http://schemas.openxmlformats.org/officeDocument/2006/relationships/image" Target="../media/image101.png"/><Relationship Id="rId97" Type="http://schemas.openxmlformats.org/officeDocument/2006/relationships/image" Target="../media/image113.png"/><Relationship Id="rId96" Type="http://schemas.openxmlformats.org/officeDocument/2006/relationships/image" Target="../media/image112.png"/><Relationship Id="rId11" Type="http://schemas.openxmlformats.org/officeDocument/2006/relationships/image" Target="../media/image5.png"/><Relationship Id="rId10" Type="http://schemas.openxmlformats.org/officeDocument/2006/relationships/image" Target="../media/image19.png"/><Relationship Id="rId98" Type="http://schemas.openxmlformats.org/officeDocument/2006/relationships/image" Target="../media/image109.png"/><Relationship Id="rId13" Type="http://schemas.openxmlformats.org/officeDocument/2006/relationships/image" Target="../media/image13.png"/><Relationship Id="rId12" Type="http://schemas.openxmlformats.org/officeDocument/2006/relationships/image" Target="../media/image6.png"/><Relationship Id="rId91" Type="http://schemas.openxmlformats.org/officeDocument/2006/relationships/image" Target="../media/image104.png"/><Relationship Id="rId90" Type="http://schemas.openxmlformats.org/officeDocument/2006/relationships/image" Target="../media/image97.png"/><Relationship Id="rId93" Type="http://schemas.openxmlformats.org/officeDocument/2006/relationships/image" Target="../media/image90.png"/><Relationship Id="rId92" Type="http://schemas.openxmlformats.org/officeDocument/2006/relationships/image" Target="../media/image103.png"/><Relationship Id="rId15" Type="http://schemas.openxmlformats.org/officeDocument/2006/relationships/image" Target="../media/image10.png"/><Relationship Id="rId14" Type="http://schemas.openxmlformats.org/officeDocument/2006/relationships/image" Target="../media/image16.png"/><Relationship Id="rId17" Type="http://schemas.openxmlformats.org/officeDocument/2006/relationships/image" Target="../media/image20.png"/><Relationship Id="rId16" Type="http://schemas.openxmlformats.org/officeDocument/2006/relationships/image" Target="../media/image7.png"/><Relationship Id="rId19" Type="http://schemas.openxmlformats.org/officeDocument/2006/relationships/image" Target="../media/image25.png"/><Relationship Id="rId18" Type="http://schemas.openxmlformats.org/officeDocument/2006/relationships/image" Target="../media/image23.png"/><Relationship Id="rId84" Type="http://schemas.openxmlformats.org/officeDocument/2006/relationships/image" Target="../media/image93.png"/><Relationship Id="rId83" Type="http://schemas.openxmlformats.org/officeDocument/2006/relationships/image" Target="../media/image87.png"/><Relationship Id="rId86" Type="http://schemas.openxmlformats.org/officeDocument/2006/relationships/image" Target="../media/image94.png"/><Relationship Id="rId85" Type="http://schemas.openxmlformats.org/officeDocument/2006/relationships/image" Target="../media/image91.png"/><Relationship Id="rId88" Type="http://schemas.openxmlformats.org/officeDocument/2006/relationships/image" Target="../media/image102.png"/><Relationship Id="rId87" Type="http://schemas.openxmlformats.org/officeDocument/2006/relationships/image" Target="../media/image92.png"/><Relationship Id="rId89" Type="http://schemas.openxmlformats.org/officeDocument/2006/relationships/image" Target="../media/image98.png"/><Relationship Id="rId80" Type="http://schemas.openxmlformats.org/officeDocument/2006/relationships/image" Target="../media/image85.png"/><Relationship Id="rId82" Type="http://schemas.openxmlformats.org/officeDocument/2006/relationships/image" Target="../media/image89.png"/><Relationship Id="rId81" Type="http://schemas.openxmlformats.org/officeDocument/2006/relationships/image" Target="../media/image86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7.png"/><Relationship Id="rId9" Type="http://schemas.openxmlformats.org/officeDocument/2006/relationships/image" Target="../media/image18.png"/><Relationship Id="rId5" Type="http://schemas.openxmlformats.org/officeDocument/2006/relationships/image" Target="../media/image2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73" Type="http://schemas.openxmlformats.org/officeDocument/2006/relationships/image" Target="../media/image79.png"/><Relationship Id="rId72" Type="http://schemas.openxmlformats.org/officeDocument/2006/relationships/image" Target="../media/image81.png"/><Relationship Id="rId75" Type="http://schemas.openxmlformats.org/officeDocument/2006/relationships/image" Target="../media/image70.png"/><Relationship Id="rId74" Type="http://schemas.openxmlformats.org/officeDocument/2006/relationships/image" Target="../media/image71.png"/><Relationship Id="rId77" Type="http://schemas.openxmlformats.org/officeDocument/2006/relationships/image" Target="../media/image83.png"/><Relationship Id="rId76" Type="http://schemas.openxmlformats.org/officeDocument/2006/relationships/image" Target="../media/image82.png"/><Relationship Id="rId79" Type="http://schemas.openxmlformats.org/officeDocument/2006/relationships/image" Target="../media/image78.png"/><Relationship Id="rId78" Type="http://schemas.openxmlformats.org/officeDocument/2006/relationships/image" Target="../media/image84.png"/><Relationship Id="rId71" Type="http://schemas.openxmlformats.org/officeDocument/2006/relationships/image" Target="../media/image74.png"/><Relationship Id="rId70" Type="http://schemas.openxmlformats.org/officeDocument/2006/relationships/image" Target="../media/image77.png"/><Relationship Id="rId62" Type="http://schemas.openxmlformats.org/officeDocument/2006/relationships/image" Target="../media/image67.png"/><Relationship Id="rId61" Type="http://schemas.openxmlformats.org/officeDocument/2006/relationships/image" Target="../media/image80.png"/><Relationship Id="rId64" Type="http://schemas.openxmlformats.org/officeDocument/2006/relationships/image" Target="../media/image59.png"/><Relationship Id="rId63" Type="http://schemas.openxmlformats.org/officeDocument/2006/relationships/image" Target="../media/image60.png"/><Relationship Id="rId66" Type="http://schemas.openxmlformats.org/officeDocument/2006/relationships/image" Target="../media/image58.png"/><Relationship Id="rId65" Type="http://schemas.openxmlformats.org/officeDocument/2006/relationships/image" Target="../media/image64.png"/><Relationship Id="rId68" Type="http://schemas.openxmlformats.org/officeDocument/2006/relationships/image" Target="../media/image75.png"/><Relationship Id="rId67" Type="http://schemas.openxmlformats.org/officeDocument/2006/relationships/image" Target="../media/image69.png"/><Relationship Id="rId60" Type="http://schemas.openxmlformats.org/officeDocument/2006/relationships/image" Target="../media/image68.png"/><Relationship Id="rId69" Type="http://schemas.openxmlformats.org/officeDocument/2006/relationships/image" Target="../media/image76.png"/><Relationship Id="rId51" Type="http://schemas.openxmlformats.org/officeDocument/2006/relationships/image" Target="../media/image45.png"/><Relationship Id="rId50" Type="http://schemas.openxmlformats.org/officeDocument/2006/relationships/image" Target="../media/image56.png"/><Relationship Id="rId53" Type="http://schemas.openxmlformats.org/officeDocument/2006/relationships/image" Target="../media/image53.png"/><Relationship Id="rId52" Type="http://schemas.openxmlformats.org/officeDocument/2006/relationships/image" Target="../media/image55.png"/><Relationship Id="rId55" Type="http://schemas.openxmlformats.org/officeDocument/2006/relationships/image" Target="../media/image62.png"/><Relationship Id="rId54" Type="http://schemas.openxmlformats.org/officeDocument/2006/relationships/image" Target="../media/image57.png"/><Relationship Id="rId57" Type="http://schemas.openxmlformats.org/officeDocument/2006/relationships/image" Target="../media/image61.png"/><Relationship Id="rId56" Type="http://schemas.openxmlformats.org/officeDocument/2006/relationships/image" Target="../media/image65.png"/><Relationship Id="rId59" Type="http://schemas.openxmlformats.org/officeDocument/2006/relationships/image" Target="../media/image63.png"/><Relationship Id="rId58" Type="http://schemas.openxmlformats.org/officeDocument/2006/relationships/image" Target="../media/image6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0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56" name="Google Shape;56;p1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7" name="Google Shape;5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9525" y="9525"/>
              <a:ext cx="8972700" cy="4972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8" name="Google Shape;58;p14"/>
            <p:cNvSpPr/>
            <p:nvPr/>
          </p:nvSpPr>
          <p:spPr>
            <a:xfrm>
              <a:off x="0" y="4953000"/>
              <a:ext cx="9144000" cy="190500"/>
            </a:xfrm>
            <a:prstGeom prst="rect">
              <a:avLst/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14"/>
            <p:cNvSpPr/>
            <p:nvPr/>
          </p:nvSpPr>
          <p:spPr>
            <a:xfrm>
              <a:off x="0" y="4914900"/>
              <a:ext cx="9144000" cy="381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0" name="Google Shape;60;p14"/>
          <p:cNvGrpSpPr/>
          <p:nvPr/>
        </p:nvGrpSpPr>
        <p:grpSpPr>
          <a:xfrm>
            <a:off x="571500" y="1047750"/>
            <a:ext cx="8001000" cy="2790825"/>
            <a:chOff x="571500" y="1047750"/>
            <a:chExt cx="8001000" cy="2790825"/>
          </a:xfrm>
        </p:grpSpPr>
        <p:sp>
          <p:nvSpPr>
            <p:cNvPr id="61" name="Google Shape;61;p14"/>
            <p:cNvSpPr/>
            <p:nvPr/>
          </p:nvSpPr>
          <p:spPr>
            <a:xfrm>
              <a:off x="571500" y="1047750"/>
              <a:ext cx="762000" cy="381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4"/>
            <p:cNvSpPr txBox="1"/>
            <p:nvPr/>
          </p:nvSpPr>
          <p:spPr>
            <a:xfrm>
              <a:off x="571500" y="1238250"/>
              <a:ext cx="8001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33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Grid Fault Detection-RL</a:t>
              </a:r>
              <a:endParaRPr b="1" sz="33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63" name="Google Shape;63;p14"/>
            <p:cNvSpPr txBox="1"/>
            <p:nvPr/>
          </p:nvSpPr>
          <p:spPr>
            <a:xfrm>
              <a:off x="571500" y="1952625"/>
              <a:ext cx="80010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500">
                  <a:solidFill>
                    <a:srgbClr val="0284C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Autonomous Power Grid Voltage Control</a:t>
              </a:r>
              <a:endParaRPr b="0" sz="150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500">
                  <a:solidFill>
                    <a:srgbClr val="0284C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via Deep Reinforcement Learning MLOps</a:t>
              </a:r>
              <a:endParaRPr b="0" sz="150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64" name="Google Shape;64;p14"/>
            <p:cNvSpPr txBox="1"/>
            <p:nvPr/>
          </p:nvSpPr>
          <p:spPr>
            <a:xfrm>
              <a:off x="571500" y="2762250"/>
              <a:ext cx="80010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An end-to-end IoT MLOps pipeline on AWS featuring mTLS, HMAC-SHA256,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VPC isolation, and real-time fault detection with DQN RL.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65" name="Google Shape;65;p14"/>
            <p:cNvGrpSpPr/>
            <p:nvPr/>
          </p:nvGrpSpPr>
          <p:grpSpPr>
            <a:xfrm>
              <a:off x="571500" y="3571875"/>
              <a:ext cx="857400" cy="266700"/>
              <a:chOff x="0" y="0"/>
              <a:chExt cx="857400" cy="266700"/>
            </a:xfrm>
          </p:grpSpPr>
          <p:sp>
            <p:nvSpPr>
              <p:cNvPr id="66" name="Google Shape;66;p14"/>
              <p:cNvSpPr/>
              <p:nvPr/>
            </p:nvSpPr>
            <p:spPr>
              <a:xfrm>
                <a:off x="0" y="0"/>
                <a:ext cx="857400" cy="266700"/>
              </a:xfrm>
              <a:prstGeom prst="roundRect">
                <a:avLst>
                  <a:gd fmla="val 14285" name="adj"/>
                </a:avLst>
              </a:prstGeom>
              <a:solidFill>
                <a:srgbClr val="E0F2FE"/>
              </a:solidFill>
              <a:ln cap="flat" cmpd="sng" w="9525">
                <a:solidFill>
                  <a:srgbClr val="0284C7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" name="Google Shape;67;p14"/>
              <p:cNvSpPr txBox="1"/>
              <p:nvPr/>
            </p:nvSpPr>
            <p:spPr>
              <a:xfrm>
                <a:off x="0" y="0"/>
                <a:ext cx="857400" cy="26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0369A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PyTorch</a:t>
                </a:r>
                <a:endParaRPr b="0" sz="75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68" name="Google Shape;68;p14"/>
            <p:cNvGrpSpPr/>
            <p:nvPr/>
          </p:nvGrpSpPr>
          <p:grpSpPr>
            <a:xfrm>
              <a:off x="1543050" y="3571875"/>
              <a:ext cx="1000200" cy="266700"/>
              <a:chOff x="0" y="0"/>
              <a:chExt cx="1000200" cy="266700"/>
            </a:xfrm>
          </p:grpSpPr>
          <p:sp>
            <p:nvSpPr>
              <p:cNvPr id="69" name="Google Shape;69;p14"/>
              <p:cNvSpPr/>
              <p:nvPr/>
            </p:nvSpPr>
            <p:spPr>
              <a:xfrm>
                <a:off x="0" y="0"/>
                <a:ext cx="1000200" cy="266700"/>
              </a:xfrm>
              <a:prstGeom prst="roundRect">
                <a:avLst>
                  <a:gd fmla="val 14285" name="adj"/>
                </a:avLst>
              </a:prstGeom>
              <a:solidFill>
                <a:srgbClr val="E0F2FE"/>
              </a:solidFill>
              <a:ln cap="flat" cmpd="sng" w="9525">
                <a:solidFill>
                  <a:srgbClr val="0284C7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" name="Google Shape;70;p14"/>
              <p:cNvSpPr txBox="1"/>
              <p:nvPr/>
            </p:nvSpPr>
            <p:spPr>
              <a:xfrm>
                <a:off x="0" y="0"/>
                <a:ext cx="1000200" cy="26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0369A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Terraform</a:t>
                </a:r>
                <a:endParaRPr b="0" sz="75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71" name="Google Shape;71;p14"/>
            <p:cNvGrpSpPr/>
            <p:nvPr/>
          </p:nvGrpSpPr>
          <p:grpSpPr>
            <a:xfrm>
              <a:off x="2657475" y="3571875"/>
              <a:ext cx="1190700" cy="266700"/>
              <a:chOff x="0" y="0"/>
              <a:chExt cx="1190700" cy="266700"/>
            </a:xfrm>
          </p:grpSpPr>
          <p:sp>
            <p:nvSpPr>
              <p:cNvPr id="72" name="Google Shape;72;p14"/>
              <p:cNvSpPr/>
              <p:nvPr/>
            </p:nvSpPr>
            <p:spPr>
              <a:xfrm>
                <a:off x="0" y="0"/>
                <a:ext cx="1190700" cy="266700"/>
              </a:xfrm>
              <a:prstGeom prst="roundRect">
                <a:avLst>
                  <a:gd fmla="val 14285" name="adj"/>
                </a:avLst>
              </a:prstGeom>
              <a:solidFill>
                <a:srgbClr val="E0F2FE"/>
              </a:solidFill>
              <a:ln cap="flat" cmpd="sng" w="9525">
                <a:solidFill>
                  <a:srgbClr val="0284C7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" name="Google Shape;73;p14"/>
              <p:cNvSpPr txBox="1"/>
              <p:nvPr/>
            </p:nvSpPr>
            <p:spPr>
              <a:xfrm>
                <a:off x="0" y="0"/>
                <a:ext cx="1190700" cy="26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0369A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AWS IoT Core</a:t>
                </a:r>
                <a:endParaRPr b="0" sz="75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74" name="Google Shape;74;p14"/>
            <p:cNvGrpSpPr/>
            <p:nvPr/>
          </p:nvGrpSpPr>
          <p:grpSpPr>
            <a:xfrm>
              <a:off x="3962400" y="3571875"/>
              <a:ext cx="1000200" cy="266700"/>
              <a:chOff x="0" y="0"/>
              <a:chExt cx="1000200" cy="266700"/>
            </a:xfrm>
          </p:grpSpPr>
          <p:sp>
            <p:nvSpPr>
              <p:cNvPr id="75" name="Google Shape;75;p14"/>
              <p:cNvSpPr/>
              <p:nvPr/>
            </p:nvSpPr>
            <p:spPr>
              <a:xfrm>
                <a:off x="0" y="0"/>
                <a:ext cx="1000200" cy="266700"/>
              </a:xfrm>
              <a:prstGeom prst="roundRect">
                <a:avLst>
                  <a:gd fmla="val 14285" name="adj"/>
                </a:avLst>
              </a:prstGeom>
              <a:solidFill>
                <a:srgbClr val="E0F2FE"/>
              </a:solidFill>
              <a:ln cap="flat" cmpd="sng" w="9525">
                <a:solidFill>
                  <a:srgbClr val="0284C7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6" name="Google Shape;76;p14"/>
              <p:cNvSpPr txBox="1"/>
              <p:nvPr/>
            </p:nvSpPr>
            <p:spPr>
              <a:xfrm>
                <a:off x="0" y="0"/>
                <a:ext cx="1000200" cy="26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0369A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SageMaker</a:t>
                </a:r>
                <a:endParaRPr b="0" sz="75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77" name="Google Shape;77;p14"/>
            <p:cNvGrpSpPr/>
            <p:nvPr/>
          </p:nvGrpSpPr>
          <p:grpSpPr>
            <a:xfrm>
              <a:off x="5076825" y="3571875"/>
              <a:ext cx="1095300" cy="266700"/>
              <a:chOff x="0" y="0"/>
              <a:chExt cx="1095300" cy="266700"/>
            </a:xfrm>
          </p:grpSpPr>
          <p:sp>
            <p:nvSpPr>
              <p:cNvPr id="78" name="Google Shape;78;p14"/>
              <p:cNvSpPr/>
              <p:nvPr/>
            </p:nvSpPr>
            <p:spPr>
              <a:xfrm>
                <a:off x="0" y="0"/>
                <a:ext cx="1095300" cy="266700"/>
              </a:xfrm>
              <a:prstGeom prst="roundRect">
                <a:avLst>
                  <a:gd fmla="val 14285" name="adj"/>
                </a:avLst>
              </a:prstGeom>
              <a:solidFill>
                <a:srgbClr val="E0F2FE"/>
              </a:solidFill>
              <a:ln cap="flat" cmpd="sng" w="9525">
                <a:solidFill>
                  <a:srgbClr val="0284C7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" name="Google Shape;79;p14"/>
              <p:cNvSpPr txBox="1"/>
              <p:nvPr/>
            </p:nvSpPr>
            <p:spPr>
              <a:xfrm>
                <a:off x="0" y="0"/>
                <a:ext cx="1095300" cy="26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0369A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AWS Lambda</a:t>
                </a:r>
                <a:endParaRPr b="0" sz="75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5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85" name="Google Shape;85;p1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86" name="Google Shape;86;p15"/>
            <p:cNvGrpSpPr/>
            <p:nvPr/>
          </p:nvGrpSpPr>
          <p:grpSpPr>
            <a:xfrm>
              <a:off x="0" y="0"/>
              <a:ext cx="9144000" cy="76350"/>
              <a:chOff x="0" y="0"/>
              <a:chExt cx="9144000" cy="76350"/>
            </a:xfrm>
          </p:grpSpPr>
          <p:sp>
            <p:nvSpPr>
              <p:cNvPr id="87" name="Google Shape;87;p15"/>
              <p:cNvSpPr/>
              <p:nvPr/>
            </p:nvSpPr>
            <p:spPr>
              <a:xfrm>
                <a:off x="0" y="0"/>
                <a:ext cx="9144000" cy="57300"/>
              </a:xfrm>
              <a:prstGeom prst="rect">
                <a:avLst/>
              </a:prstGeom>
              <a:solidFill>
                <a:srgbClr val="0284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" name="Google Shape;88;p15"/>
              <p:cNvSpPr/>
              <p:nvPr/>
            </p:nvSpPr>
            <p:spPr>
              <a:xfrm>
                <a:off x="0" y="57150"/>
                <a:ext cx="1143000" cy="19200"/>
              </a:xfrm>
              <a:prstGeom prst="rect">
                <a:avLst/>
              </a:prstGeom>
              <a:solidFill>
                <a:srgbClr val="0369A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pic>
          <p:nvPicPr>
            <p:cNvPr id="89" name="Google Shape;89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8191500" y="190500"/>
              <a:ext cx="495300" cy="4953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0" name="Google Shape;90;p15"/>
          <p:cNvSpPr txBox="1"/>
          <p:nvPr/>
        </p:nvSpPr>
        <p:spPr>
          <a:xfrm>
            <a:off x="381000" y="38100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Grid Control Research Context</a:t>
            </a:r>
            <a:endParaRPr b="1" sz="240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91" name="Google Shape;91;p15"/>
          <p:cNvGrpSpPr/>
          <p:nvPr/>
        </p:nvGrpSpPr>
        <p:grpSpPr>
          <a:xfrm>
            <a:off x="381000" y="1238250"/>
            <a:ext cx="4095600" cy="3238500"/>
            <a:chOff x="381000" y="1238250"/>
            <a:chExt cx="4095600" cy="3238500"/>
          </a:xfrm>
        </p:grpSpPr>
        <p:sp>
          <p:nvSpPr>
            <p:cNvPr id="92" name="Google Shape;92;p15"/>
            <p:cNvSpPr/>
            <p:nvPr/>
          </p:nvSpPr>
          <p:spPr>
            <a:xfrm>
              <a:off x="381000" y="1238250"/>
              <a:ext cx="19200" cy="304800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5"/>
            <p:cNvSpPr txBox="1"/>
            <p:nvPr/>
          </p:nvSpPr>
          <p:spPr>
            <a:xfrm>
              <a:off x="533400" y="1238250"/>
              <a:ext cx="39432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IEEE PES RESEARCH FOUNDATION</a:t>
              </a:r>
              <a:endParaRPr b="0" sz="75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0284C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'Semantic-Aware Reinforcement Learning for Resource-Efficient IoT Communication'</a:t>
              </a:r>
              <a:endParaRPr b="0" sz="105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THE CHALLENGE</a:t>
              </a:r>
              <a:endParaRPr b="0" sz="75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Modern power grids face dynamic and unpredictable conditions. Voltage fluctuations require extremely fast response times to prevent catastrophic, cascading grid failures.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THE SOLUTION</a:t>
              </a:r>
              <a:endParaRPr b="0" sz="75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I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mplemented a resource-efficient </a:t>
              </a:r>
              <a:r>
                <a:rPr b="0" lang="en" sz="105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edge-to-cloud architecture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using </a:t>
              </a:r>
              <a:r>
                <a:rPr b="0" lang="en" sz="105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Deep Reinforcement Learning (DRL)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. This automates localized, real-time control decisions to ensure highly intelligent responses to fluctuating grid conditions.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94" name="Google Shape;94;p15"/>
          <p:cNvGrpSpPr/>
          <p:nvPr/>
        </p:nvGrpSpPr>
        <p:grpSpPr>
          <a:xfrm>
            <a:off x="4762500" y="1238250"/>
            <a:ext cx="4000500" cy="3048000"/>
            <a:chOff x="4762500" y="1238250"/>
            <a:chExt cx="4000500" cy="3048000"/>
          </a:xfrm>
        </p:grpSpPr>
        <p:sp>
          <p:nvSpPr>
            <p:cNvPr id="95" name="Google Shape;95;p15"/>
            <p:cNvSpPr/>
            <p:nvPr/>
          </p:nvSpPr>
          <p:spPr>
            <a:xfrm>
              <a:off x="4762500" y="1238250"/>
              <a:ext cx="4000500" cy="3048000"/>
            </a:xfrm>
            <a:prstGeom prst="roundRect">
              <a:avLst>
                <a:gd fmla="val 2500" name="adj"/>
              </a:avLst>
            </a:prstGeom>
            <a:solidFill>
              <a:srgbClr val="E0F2FE"/>
            </a:solidFill>
            <a:ln cap="flat" cmpd="sng" w="19050">
              <a:solidFill>
                <a:srgbClr val="0284C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15"/>
            <p:cNvSpPr/>
            <p:nvPr/>
          </p:nvSpPr>
          <p:spPr>
            <a:xfrm>
              <a:off x="4762500" y="1238250"/>
              <a:ext cx="4000500" cy="381000"/>
            </a:xfrm>
            <a:custGeom>
              <a:rect b="b" l="l" r="r" t="t"/>
              <a:pathLst>
                <a:path extrusionOk="0" h="120000" w="120000">
                  <a:moveTo>
                    <a:pt x="0" y="24000"/>
                  </a:moveTo>
                  <a:quadBezTo>
                    <a:pt x="0" y="0"/>
                    <a:pt x="2286" y="0"/>
                  </a:quadBezTo>
                  <a:lnTo>
                    <a:pt x="117714" y="0"/>
                  </a:lnTo>
                  <a:quadBezTo>
                    <a:pt x="120000" y="0"/>
                    <a:pt x="120000" y="24000"/>
                  </a:quad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15"/>
            <p:cNvSpPr txBox="1"/>
            <p:nvPr/>
          </p:nvSpPr>
          <p:spPr>
            <a:xfrm>
              <a:off x="4953000" y="1238250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25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CORE OPERATIONAL CRITERIA</a:t>
              </a:r>
              <a:endParaRPr b="0" sz="825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pic>
          <p:nvPicPr>
            <p:cNvPr id="98" name="Google Shape;98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119688" y="1885950"/>
              <a:ext cx="147600" cy="114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" name="Google Shape;99;p15"/>
            <p:cNvSpPr txBox="1"/>
            <p:nvPr/>
          </p:nvSpPr>
          <p:spPr>
            <a:xfrm>
              <a:off x="5095875" y="2190750"/>
              <a:ext cx="3333900" cy="18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" sz="150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"Extremely fast, sub-second response times to voltage fluctuations are required to prevent cascading failures."</a:t>
              </a:r>
              <a:endParaRPr b="0" i="1" sz="150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475569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— IEEE PES Research Requirement</a:t>
              </a:r>
              <a:endParaRPr b="0" sz="900">
                <a:solidFill>
                  <a:srgbClr val="475569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5" name="Google Shape;105;p16"/>
          <p:cNvGrpSpPr/>
          <p:nvPr/>
        </p:nvGrpSpPr>
        <p:grpSpPr>
          <a:xfrm>
            <a:off x="0" y="0"/>
            <a:ext cx="9144000" cy="76350"/>
            <a:chOff x="0" y="0"/>
            <a:chExt cx="9144000" cy="76350"/>
          </a:xfrm>
        </p:grpSpPr>
        <p:sp>
          <p:nvSpPr>
            <p:cNvPr id="106" name="Google Shape;106;p16"/>
            <p:cNvSpPr/>
            <p:nvPr/>
          </p:nvSpPr>
          <p:spPr>
            <a:xfrm>
              <a:off x="0" y="0"/>
              <a:ext cx="9144000" cy="573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16"/>
            <p:cNvSpPr/>
            <p:nvPr/>
          </p:nvSpPr>
          <p:spPr>
            <a:xfrm>
              <a:off x="0" y="57150"/>
              <a:ext cx="1143000" cy="19200"/>
            </a:xfrm>
            <a:prstGeom prst="rect">
              <a:avLst/>
            </a:prstGeom>
            <a:solidFill>
              <a:srgbClr val="0369A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08" name="Google Shape;10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1500" y="190500"/>
            <a:ext cx="495300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6"/>
          <p:cNvSpPr txBox="1"/>
          <p:nvPr/>
        </p:nvSpPr>
        <p:spPr>
          <a:xfrm>
            <a:off x="381000" y="381000"/>
            <a:ext cx="6477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Pipeline and AWS Architecture</a:t>
            </a:r>
            <a:endParaRPr b="1" sz="240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0" name="Google Shape;110;p16"/>
          <p:cNvSpPr/>
          <p:nvPr/>
        </p:nvSpPr>
        <p:spPr>
          <a:xfrm>
            <a:off x="7048500" y="495300"/>
            <a:ext cx="1714500" cy="228600"/>
          </a:xfrm>
          <a:prstGeom prst="roundRect">
            <a:avLst>
              <a:gd fmla="val 50000" name="adj"/>
            </a:avLst>
          </a:prstGeom>
          <a:solidFill>
            <a:srgbClr val="E0F2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6"/>
          <p:cNvSpPr txBox="1"/>
          <p:nvPr/>
        </p:nvSpPr>
        <p:spPr>
          <a:xfrm>
            <a:off x="7048500" y="495300"/>
            <a:ext cx="1714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75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8-SERVICE AWS STACK</a:t>
            </a:r>
            <a:endParaRPr b="1" sz="675">
              <a:solidFill>
                <a:srgbClr val="0369A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12" name="Google Shape;112;p16"/>
          <p:cNvCxnSpPr/>
          <p:nvPr/>
        </p:nvCxnSpPr>
        <p:spPr>
          <a:xfrm>
            <a:off x="2047875" y="1476375"/>
            <a:ext cx="2190900" cy="0"/>
          </a:xfrm>
          <a:prstGeom prst="straightConnector1">
            <a:avLst/>
          </a:prstGeom>
          <a:solidFill>
            <a:srgbClr val="FFFFFF"/>
          </a:solidFill>
          <a:ln cap="flat" cmpd="sng" w="285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3" name="Google Shape;113;p16"/>
          <p:cNvSpPr/>
          <p:nvPr/>
        </p:nvSpPr>
        <p:spPr>
          <a:xfrm>
            <a:off x="4191000" y="1438275"/>
            <a:ext cx="76200" cy="76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6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E2E8F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14" name="Google Shape;114;p16"/>
          <p:cNvCxnSpPr/>
          <p:nvPr/>
        </p:nvCxnSpPr>
        <p:spPr>
          <a:xfrm>
            <a:off x="4905375" y="1476375"/>
            <a:ext cx="2190900" cy="0"/>
          </a:xfrm>
          <a:prstGeom prst="straightConnector1">
            <a:avLst/>
          </a:prstGeom>
          <a:solidFill>
            <a:srgbClr val="FFFFFF"/>
          </a:solidFill>
          <a:ln cap="flat" cmpd="sng" w="285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5" name="Google Shape;115;p16"/>
          <p:cNvSpPr/>
          <p:nvPr/>
        </p:nvSpPr>
        <p:spPr>
          <a:xfrm>
            <a:off x="7048500" y="1438275"/>
            <a:ext cx="76200" cy="76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6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E2E8F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6"/>
          <p:cNvSpPr/>
          <p:nvPr/>
        </p:nvSpPr>
        <p:spPr>
          <a:xfrm>
            <a:off x="1504950" y="1266825"/>
            <a:ext cx="419100" cy="41910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/>
        </p:nvSpPr>
        <p:spPr>
          <a:xfrm>
            <a:off x="1476375" y="1352550"/>
            <a:ext cx="4764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1" sz="975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4362450" y="1266825"/>
            <a:ext cx="419100" cy="41910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4333875" y="1352550"/>
            <a:ext cx="4764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1" sz="975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0" name="Google Shape;120;p16"/>
          <p:cNvSpPr/>
          <p:nvPr/>
        </p:nvSpPr>
        <p:spPr>
          <a:xfrm>
            <a:off x="7219950" y="1266825"/>
            <a:ext cx="419100" cy="4191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7191375" y="1352550"/>
            <a:ext cx="4764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1" sz="975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381000" y="2000250"/>
            <a:ext cx="2667000" cy="2667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6"/>
          <p:cNvSpPr/>
          <p:nvPr/>
        </p:nvSpPr>
        <p:spPr>
          <a:xfrm>
            <a:off x="381000" y="2000250"/>
            <a:ext cx="266700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523875" y="2143125"/>
            <a:ext cx="2381400" cy="24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5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01. Edge Stream (mTLS/MQTT)</a:t>
            </a:r>
            <a:endParaRPr b="0" sz="1050">
              <a:solidFill>
                <a:srgbClr val="0F172A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rtl="0" algn="l">
              <a:spcBef>
                <a:spcPts val="1125"/>
              </a:spcBef>
              <a:spcAft>
                <a:spcPts val="0"/>
              </a:spcAft>
              <a:buNone/>
            </a:pPr>
            <a:r>
              <a:rPr b="1" lang="en" sz="938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rPr>
              <a:t>■</a:t>
            </a:r>
            <a:r>
              <a:rPr lang="en" sz="938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Streams </a:t>
            </a:r>
            <a:r>
              <a:rPr b="0" lang="en" sz="938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five sensor readings</a:t>
            </a:r>
            <a:r>
              <a:rPr lang="en" sz="938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from substation edge to AWS IoT Core</a:t>
            </a:r>
            <a:endParaRPr sz="938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1" lang="en" sz="938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rPr>
              <a:t>■</a:t>
            </a:r>
            <a:r>
              <a:rPr lang="en" sz="938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Submissions occur </a:t>
            </a:r>
            <a:r>
              <a:rPr b="0" lang="en" sz="938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every second</a:t>
            </a:r>
            <a:r>
              <a:rPr lang="en" sz="938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via MQTT over secure mTLS</a:t>
            </a:r>
            <a:endParaRPr sz="938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050"/>
              </a:spcBef>
              <a:spcAft>
                <a:spcPts val="1050"/>
              </a:spcAft>
              <a:buNone/>
            </a:pPr>
            <a:r>
              <a:rPr b="1" lang="en" sz="938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rPr>
              <a:t>■</a:t>
            </a:r>
            <a:r>
              <a:rPr lang="en" sz="938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All ingested readings are archived in an </a:t>
            </a:r>
            <a:r>
              <a:rPr b="0" lang="en" sz="938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encrypted S3 bucket</a:t>
            </a:r>
            <a:endParaRPr sz="938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3238500" y="2000250"/>
            <a:ext cx="2667000" cy="2667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6"/>
          <p:cNvSpPr/>
          <p:nvPr/>
        </p:nvSpPr>
        <p:spPr>
          <a:xfrm>
            <a:off x="3238500" y="2000250"/>
            <a:ext cx="2667000" cy="381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3381375" y="2143125"/>
            <a:ext cx="2381400" cy="24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5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02. Lambda Validation &amp; VPC</a:t>
            </a:r>
            <a:endParaRPr b="0" sz="1050">
              <a:solidFill>
                <a:srgbClr val="0F172A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rtl="0" algn="l">
              <a:spcBef>
                <a:spcPts val="1125"/>
              </a:spcBef>
              <a:spcAft>
                <a:spcPts val="0"/>
              </a:spcAft>
              <a:buNone/>
            </a:pPr>
            <a:r>
              <a:rPr b="1" lang="en" sz="938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■</a:t>
            </a:r>
            <a:r>
              <a:rPr lang="en" sz="938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AWS IoT Core routes data to a highly secure </a:t>
            </a:r>
            <a:r>
              <a:rPr b="0" lang="en" sz="938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Lambda function</a:t>
            </a:r>
            <a:endParaRPr sz="938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1" lang="en" sz="938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■</a:t>
            </a:r>
            <a:r>
              <a:rPr lang="en" sz="938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Operates entirely within an isolated, </a:t>
            </a:r>
            <a:r>
              <a:rPr b="0" lang="en" sz="938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private VPC subnet</a:t>
            </a:r>
            <a:endParaRPr sz="938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050"/>
              </a:spcBef>
              <a:spcAft>
                <a:spcPts val="1050"/>
              </a:spcAft>
              <a:buNone/>
            </a:pPr>
            <a:r>
              <a:rPr b="1" lang="en" sz="938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■</a:t>
            </a:r>
            <a:r>
              <a:rPr lang="en" sz="938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Conducts </a:t>
            </a:r>
            <a:r>
              <a:rPr b="0" lang="en" sz="938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three inline security checks</a:t>
            </a:r>
            <a:r>
              <a:rPr lang="en" sz="938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on incoming telemetry</a:t>
            </a:r>
            <a:endParaRPr sz="938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" name="Google Shape;128;p16"/>
          <p:cNvSpPr/>
          <p:nvPr/>
        </p:nvSpPr>
        <p:spPr>
          <a:xfrm>
            <a:off x="6096000" y="2000250"/>
            <a:ext cx="2667000" cy="2667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6"/>
          <p:cNvSpPr/>
          <p:nvPr/>
        </p:nvSpPr>
        <p:spPr>
          <a:xfrm>
            <a:off x="6096000" y="2000250"/>
            <a:ext cx="2667000" cy="381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6238875" y="2143125"/>
            <a:ext cx="2381400" cy="24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5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03. SageMaker &amp; Closed-Loop</a:t>
            </a:r>
            <a:endParaRPr b="0" sz="1050">
              <a:solidFill>
                <a:srgbClr val="0F172A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rtl="0" algn="l">
              <a:spcBef>
                <a:spcPts val="1125"/>
              </a:spcBef>
              <a:spcAft>
                <a:spcPts val="0"/>
              </a:spcAft>
              <a:buNone/>
            </a:pPr>
            <a:r>
              <a:rPr b="1" lang="en" sz="938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■</a:t>
            </a:r>
            <a:r>
              <a:rPr lang="en" sz="938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Lambda calls SageMaker hosting the trained </a:t>
            </a:r>
            <a:r>
              <a:rPr b="0" lang="en" sz="938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DQN RL agent</a:t>
            </a:r>
            <a:endParaRPr sz="938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1" lang="en" sz="938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■</a:t>
            </a:r>
            <a:r>
              <a:rPr lang="en" sz="938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Closed-loop system recommends </a:t>
            </a:r>
            <a:r>
              <a:rPr b="0" lang="en" sz="938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one of five grid control actions</a:t>
            </a:r>
            <a:endParaRPr sz="938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050"/>
              </a:spcBef>
              <a:spcAft>
                <a:spcPts val="1050"/>
              </a:spcAft>
              <a:buNone/>
            </a:pPr>
            <a:r>
              <a:rPr b="1" lang="en" sz="938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■</a:t>
            </a:r>
            <a:r>
              <a:rPr lang="en" sz="938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Action is written to </a:t>
            </a:r>
            <a:r>
              <a:rPr b="0" lang="en" sz="938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IoT Device Shadow</a:t>
            </a:r>
            <a:r>
              <a:rPr lang="en" sz="938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&amp; pushed to edge in </a:t>
            </a:r>
            <a:r>
              <a:rPr b="0" lang="en" sz="938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under 1s</a:t>
            </a:r>
            <a:endParaRPr sz="938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6" name="Google Shape;136;p17"/>
          <p:cNvGrpSpPr/>
          <p:nvPr/>
        </p:nvGrpSpPr>
        <p:grpSpPr>
          <a:xfrm>
            <a:off x="0" y="0"/>
            <a:ext cx="9144000" cy="76350"/>
            <a:chOff x="0" y="0"/>
            <a:chExt cx="9144000" cy="76350"/>
          </a:xfrm>
        </p:grpSpPr>
        <p:sp>
          <p:nvSpPr>
            <p:cNvPr id="137" name="Google Shape;137;p17"/>
            <p:cNvSpPr/>
            <p:nvPr/>
          </p:nvSpPr>
          <p:spPr>
            <a:xfrm>
              <a:off x="0" y="0"/>
              <a:ext cx="9144000" cy="573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7"/>
            <p:cNvSpPr/>
            <p:nvPr/>
          </p:nvSpPr>
          <p:spPr>
            <a:xfrm>
              <a:off x="0" y="57150"/>
              <a:ext cx="1143000" cy="19200"/>
            </a:xfrm>
            <a:prstGeom prst="rect">
              <a:avLst/>
            </a:prstGeom>
            <a:solidFill>
              <a:srgbClr val="0369A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39" name="Google Shape;13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1500" y="190500"/>
            <a:ext cx="495300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7"/>
          <p:cNvSpPr txBox="1"/>
          <p:nvPr/>
        </p:nvSpPr>
        <p:spPr>
          <a:xfrm>
            <a:off x="381000" y="333375"/>
            <a:ext cx="76200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Data Schema and Preprocessing</a:t>
            </a:r>
            <a:endParaRPr b="1" sz="240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41" name="Google Shape;141;p17"/>
          <p:cNvGrpSpPr/>
          <p:nvPr/>
        </p:nvGrpSpPr>
        <p:grpSpPr>
          <a:xfrm>
            <a:off x="381000" y="1000125"/>
            <a:ext cx="1524000" cy="1762200"/>
            <a:chOff x="381000" y="1000125"/>
            <a:chExt cx="1524000" cy="1762200"/>
          </a:xfrm>
        </p:grpSpPr>
        <p:sp>
          <p:nvSpPr>
            <p:cNvPr id="142" name="Google Shape;142;p17"/>
            <p:cNvSpPr/>
            <p:nvPr/>
          </p:nvSpPr>
          <p:spPr>
            <a:xfrm>
              <a:off x="381000" y="1000125"/>
              <a:ext cx="1524000" cy="1762200"/>
            </a:xfrm>
            <a:prstGeom prst="rect">
              <a:avLst/>
            </a:prstGeom>
            <a:solidFill>
              <a:srgbClr val="F4F6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17"/>
            <p:cNvSpPr/>
            <p:nvPr/>
          </p:nvSpPr>
          <p:spPr>
            <a:xfrm>
              <a:off x="381000" y="1000125"/>
              <a:ext cx="1524000" cy="381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17"/>
            <p:cNvSpPr txBox="1"/>
            <p:nvPr/>
          </p:nvSpPr>
          <p:spPr>
            <a:xfrm>
              <a:off x="523875" y="1143000"/>
              <a:ext cx="1238400" cy="147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voltage_v</a:t>
              </a:r>
              <a:endParaRPr b="0" sz="75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12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Voltage</a:t>
              </a:r>
              <a:endParaRPr b="0" sz="1125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0284C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400–430 V</a:t>
              </a:r>
              <a:endParaRPr b="0" sz="90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82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MinMaxScaler strictly normalizes this raw input to a 0–1 range for DQN model stability.</a:t>
              </a:r>
              <a:endParaRPr b="0" sz="82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5" name="Google Shape;145;p17"/>
          <p:cNvGrpSpPr/>
          <p:nvPr/>
        </p:nvGrpSpPr>
        <p:grpSpPr>
          <a:xfrm>
            <a:off x="2095500" y="1000125"/>
            <a:ext cx="1524000" cy="1762200"/>
            <a:chOff x="2095500" y="1000125"/>
            <a:chExt cx="1524000" cy="1762200"/>
          </a:xfrm>
        </p:grpSpPr>
        <p:sp>
          <p:nvSpPr>
            <p:cNvPr id="146" name="Google Shape;146;p17"/>
            <p:cNvSpPr/>
            <p:nvPr/>
          </p:nvSpPr>
          <p:spPr>
            <a:xfrm>
              <a:off x="2095500" y="1000125"/>
              <a:ext cx="1524000" cy="1762200"/>
            </a:xfrm>
            <a:prstGeom prst="rect">
              <a:avLst/>
            </a:prstGeom>
            <a:solidFill>
              <a:srgbClr val="F4F6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17"/>
            <p:cNvSpPr/>
            <p:nvPr/>
          </p:nvSpPr>
          <p:spPr>
            <a:xfrm>
              <a:off x="2095500" y="1000125"/>
              <a:ext cx="1524000" cy="381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17"/>
            <p:cNvSpPr txBox="1"/>
            <p:nvPr/>
          </p:nvSpPr>
          <p:spPr>
            <a:xfrm>
              <a:off x="2238375" y="1143000"/>
              <a:ext cx="1238400" cy="147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current_a</a:t>
              </a:r>
              <a:endParaRPr b="0" sz="75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12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Current</a:t>
              </a:r>
              <a:endParaRPr b="0" sz="1125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0284C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60–100 A</a:t>
              </a:r>
              <a:endParaRPr b="0" sz="90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82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Monitors raw active current draw, mapped proportionally to stabilize the network state space.</a:t>
              </a:r>
              <a:endParaRPr b="0" sz="82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9" name="Google Shape;149;p17"/>
          <p:cNvGrpSpPr/>
          <p:nvPr/>
        </p:nvGrpSpPr>
        <p:grpSpPr>
          <a:xfrm>
            <a:off x="3810000" y="1000125"/>
            <a:ext cx="1524000" cy="1762200"/>
            <a:chOff x="3810000" y="1000125"/>
            <a:chExt cx="1524000" cy="1762200"/>
          </a:xfrm>
        </p:grpSpPr>
        <p:sp>
          <p:nvSpPr>
            <p:cNvPr id="150" name="Google Shape;150;p17"/>
            <p:cNvSpPr/>
            <p:nvPr/>
          </p:nvSpPr>
          <p:spPr>
            <a:xfrm>
              <a:off x="3810000" y="1000125"/>
              <a:ext cx="1524000" cy="1762200"/>
            </a:xfrm>
            <a:prstGeom prst="rect">
              <a:avLst/>
            </a:prstGeom>
            <a:solidFill>
              <a:srgbClr val="F4F6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17"/>
            <p:cNvSpPr/>
            <p:nvPr/>
          </p:nvSpPr>
          <p:spPr>
            <a:xfrm>
              <a:off x="3810000" y="1000125"/>
              <a:ext cx="1524000" cy="381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17"/>
            <p:cNvSpPr txBox="1"/>
            <p:nvPr/>
          </p:nvSpPr>
          <p:spPr>
            <a:xfrm>
              <a:off x="3952875" y="1143000"/>
              <a:ext cx="1238400" cy="147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frequency_hz</a:t>
              </a:r>
              <a:endParaRPr b="0" sz="75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12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Frequency</a:t>
              </a:r>
              <a:endParaRPr b="0" sz="1125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0284C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49.9–50.1 Hz</a:t>
              </a:r>
              <a:endParaRPr b="0" sz="90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82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Captures micro-fluctuations in grid frequency, scaled linearly to match state limits.</a:t>
              </a:r>
              <a:endParaRPr b="0" sz="82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3" name="Google Shape;153;p17"/>
          <p:cNvGrpSpPr/>
          <p:nvPr/>
        </p:nvGrpSpPr>
        <p:grpSpPr>
          <a:xfrm>
            <a:off x="5524500" y="1000125"/>
            <a:ext cx="1524000" cy="1762200"/>
            <a:chOff x="5524500" y="1000125"/>
            <a:chExt cx="1524000" cy="1762200"/>
          </a:xfrm>
        </p:grpSpPr>
        <p:sp>
          <p:nvSpPr>
            <p:cNvPr id="154" name="Google Shape;154;p17"/>
            <p:cNvSpPr/>
            <p:nvPr/>
          </p:nvSpPr>
          <p:spPr>
            <a:xfrm>
              <a:off x="5524500" y="1000125"/>
              <a:ext cx="1524000" cy="1762200"/>
            </a:xfrm>
            <a:prstGeom prst="rect">
              <a:avLst/>
            </a:prstGeom>
            <a:solidFill>
              <a:srgbClr val="F4F6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5524500" y="1000125"/>
              <a:ext cx="1524000" cy="381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17"/>
            <p:cNvSpPr txBox="1"/>
            <p:nvPr/>
          </p:nvSpPr>
          <p:spPr>
            <a:xfrm>
              <a:off x="5667375" y="1143000"/>
              <a:ext cx="1238400" cy="147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temperature_c</a:t>
              </a:r>
              <a:endParaRPr b="0" sz="75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12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Temperature</a:t>
              </a:r>
              <a:endParaRPr b="0" sz="1125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0284C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30–55 °C</a:t>
              </a:r>
              <a:endParaRPr b="0" sz="90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82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Tracks device running temperature, crucial for identifying safety thresholds in training.</a:t>
              </a:r>
              <a:endParaRPr b="0" sz="82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7" name="Google Shape;157;p17"/>
          <p:cNvGrpSpPr/>
          <p:nvPr/>
        </p:nvGrpSpPr>
        <p:grpSpPr>
          <a:xfrm>
            <a:off x="7239000" y="1000125"/>
            <a:ext cx="1524000" cy="1762200"/>
            <a:chOff x="7239000" y="1000125"/>
            <a:chExt cx="1524000" cy="1762200"/>
          </a:xfrm>
        </p:grpSpPr>
        <p:sp>
          <p:nvSpPr>
            <p:cNvPr id="158" name="Google Shape;158;p17"/>
            <p:cNvSpPr/>
            <p:nvPr/>
          </p:nvSpPr>
          <p:spPr>
            <a:xfrm>
              <a:off x="7239000" y="1000125"/>
              <a:ext cx="1524000" cy="1762200"/>
            </a:xfrm>
            <a:prstGeom prst="rect">
              <a:avLst/>
            </a:prstGeom>
            <a:solidFill>
              <a:srgbClr val="F4F6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17"/>
            <p:cNvSpPr/>
            <p:nvPr/>
          </p:nvSpPr>
          <p:spPr>
            <a:xfrm>
              <a:off x="7239000" y="1000125"/>
              <a:ext cx="1524000" cy="381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17"/>
            <p:cNvSpPr txBox="1"/>
            <p:nvPr/>
          </p:nvSpPr>
          <p:spPr>
            <a:xfrm>
              <a:off x="7381875" y="1143000"/>
              <a:ext cx="1238400" cy="147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power_factor</a:t>
              </a:r>
              <a:endParaRPr b="0" sz="75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12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Power Factor</a:t>
              </a:r>
              <a:endParaRPr b="0" sz="1125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0284C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0.90–0.99</a:t>
              </a:r>
              <a:endParaRPr b="0" sz="90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82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Assesses electrical load efficiency, scaling high-efficiency parameters to top value ranges.</a:t>
              </a:r>
              <a:endParaRPr b="0" sz="82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1" name="Google Shape;161;p17"/>
          <p:cNvGrpSpPr/>
          <p:nvPr/>
        </p:nvGrpSpPr>
        <p:grpSpPr>
          <a:xfrm>
            <a:off x="381000" y="3000375"/>
            <a:ext cx="4191000" cy="1762200"/>
            <a:chOff x="381000" y="3000375"/>
            <a:chExt cx="4191000" cy="1762200"/>
          </a:xfrm>
        </p:grpSpPr>
        <p:sp>
          <p:nvSpPr>
            <p:cNvPr id="162" name="Google Shape;162;p17"/>
            <p:cNvSpPr/>
            <p:nvPr/>
          </p:nvSpPr>
          <p:spPr>
            <a:xfrm>
              <a:off x="381000" y="3000375"/>
              <a:ext cx="4191000" cy="1762200"/>
            </a:xfrm>
            <a:prstGeom prst="rect">
              <a:avLst/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17"/>
            <p:cNvSpPr/>
            <p:nvPr/>
          </p:nvSpPr>
          <p:spPr>
            <a:xfrm>
              <a:off x="381000" y="3000375"/>
              <a:ext cx="38100" cy="1762200"/>
            </a:xfrm>
            <a:prstGeom prst="rect">
              <a:avLst/>
            </a:prstGeom>
            <a:solidFill>
              <a:srgbClr val="0369A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17"/>
            <p:cNvSpPr txBox="1"/>
            <p:nvPr/>
          </p:nvSpPr>
          <p:spPr>
            <a:xfrm>
              <a:off x="523875" y="3095625"/>
              <a:ext cx="3905400" cy="157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MQTT JSON Payload Structure</a:t>
              </a:r>
              <a:endParaRPr b="0" sz="75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" sz="825">
                  <a:solidFill>
                    <a:srgbClr val="0F172A"/>
                  </a:solidFill>
                  <a:highlight>
                    <a:srgbClr val="F1F5F9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{</a:t>
              </a:r>
              <a:endParaRPr sz="825">
                <a:solidFill>
                  <a:srgbClr val="0F172A"/>
                </a:solidFill>
                <a:highlight>
                  <a:srgbClr val="F1F5F9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142875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25">
                  <a:solidFill>
                    <a:srgbClr val="0F172A"/>
                  </a:solidFill>
                  <a:highlight>
                    <a:srgbClr val="F1F5F9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"device_id": "sensor_node_west_14",</a:t>
              </a:r>
              <a:endParaRPr sz="825">
                <a:solidFill>
                  <a:srgbClr val="0F172A"/>
                </a:solidFill>
                <a:highlight>
                  <a:srgbClr val="F1F5F9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142875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25">
                  <a:solidFill>
                    <a:srgbClr val="0F172A"/>
                  </a:solidFill>
                  <a:highlight>
                    <a:srgbClr val="F1F5F9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"timestamp": 1785979788,</a:t>
              </a:r>
              <a:endParaRPr sz="825">
                <a:solidFill>
                  <a:srgbClr val="0F172A"/>
                </a:solidFill>
                <a:highlight>
                  <a:srgbClr val="F1F5F9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142875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25">
                  <a:solidFill>
                    <a:srgbClr val="0F172A"/>
                  </a:solidFill>
                  <a:highlight>
                    <a:srgbClr val="F1F5F9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"sequence_no": 9481,</a:t>
              </a:r>
              <a:endParaRPr sz="825">
                <a:solidFill>
                  <a:srgbClr val="0F172A"/>
                </a:solidFill>
                <a:highlight>
                  <a:srgbClr val="F1F5F9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142875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25">
                  <a:solidFill>
                    <a:srgbClr val="0F172A"/>
                  </a:solidFill>
                  <a:highlight>
                    <a:srgbClr val="F1F5F9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"nonce": "e391b0f4a7c1",</a:t>
              </a:r>
              <a:endParaRPr sz="825">
                <a:solidFill>
                  <a:srgbClr val="0F172A"/>
                </a:solidFill>
                <a:highlight>
                  <a:srgbClr val="F1F5F9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142875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25">
                  <a:solidFill>
                    <a:srgbClr val="0F172A"/>
                  </a:solidFill>
                  <a:highlight>
                    <a:srgbClr val="F1F5F9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"metrics": [0.45, 0.12, 0.50, 0.80, 0.95],</a:t>
              </a:r>
              <a:endParaRPr sz="825">
                <a:solidFill>
                  <a:srgbClr val="0F172A"/>
                </a:solidFill>
                <a:highlight>
                  <a:srgbClr val="F1F5F9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142875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25">
                  <a:solidFill>
                    <a:srgbClr val="0F172A"/>
                  </a:solidFill>
                  <a:highlight>
                    <a:srgbClr val="F1F5F9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"hmac_sha256": "7a3f5c9e1b2d8f6c92e..."</a:t>
              </a:r>
              <a:endParaRPr sz="825">
                <a:solidFill>
                  <a:srgbClr val="0F172A"/>
                </a:solidFill>
                <a:highlight>
                  <a:srgbClr val="F1F5F9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25">
                  <a:solidFill>
                    <a:srgbClr val="0F172A"/>
                  </a:solidFill>
                  <a:highlight>
                    <a:srgbClr val="F1F5F9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}</a:t>
              </a:r>
              <a:endParaRPr sz="825">
                <a:solidFill>
                  <a:srgbClr val="0F172A"/>
                </a:solidFill>
                <a:highlight>
                  <a:srgbClr val="F1F5F9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165" name="Google Shape;165;p17"/>
          <p:cNvGrpSpPr/>
          <p:nvPr/>
        </p:nvGrpSpPr>
        <p:grpSpPr>
          <a:xfrm>
            <a:off x="4762500" y="3000375"/>
            <a:ext cx="4000500" cy="1762200"/>
            <a:chOff x="4762500" y="3000375"/>
            <a:chExt cx="4000500" cy="1762200"/>
          </a:xfrm>
        </p:grpSpPr>
        <p:sp>
          <p:nvSpPr>
            <p:cNvPr id="166" name="Google Shape;166;p17"/>
            <p:cNvSpPr/>
            <p:nvPr/>
          </p:nvSpPr>
          <p:spPr>
            <a:xfrm>
              <a:off x="4762500" y="3000375"/>
              <a:ext cx="4000500" cy="1762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" name="Google Shape;167;p17"/>
            <p:cNvSpPr/>
            <p:nvPr/>
          </p:nvSpPr>
          <p:spPr>
            <a:xfrm>
              <a:off x="4762500" y="3000375"/>
              <a:ext cx="38100" cy="17622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17"/>
            <p:cNvSpPr txBox="1"/>
            <p:nvPr/>
          </p:nvSpPr>
          <p:spPr>
            <a:xfrm>
              <a:off x="4905375" y="3095625"/>
              <a:ext cx="3714900" cy="157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10B98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Payload Integrity &amp; Security</a:t>
              </a:r>
              <a:endParaRPr b="0" sz="750">
                <a:solidFill>
                  <a:srgbClr val="10B9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12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Secure Transit Safeguards</a:t>
              </a:r>
              <a:endParaRPr b="0" sz="1125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Each transmission bundles the </a:t>
              </a:r>
              <a:r>
                <a:rPr b="1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five normalized sensor fields</a:t>
              </a: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alongside critical anti-tampering parameters. Incorporating a unique </a:t>
              </a:r>
              <a:r>
                <a:rPr b="1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sequence number</a:t>
              </a: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and a one-time </a:t>
              </a:r>
              <a:r>
                <a:rPr b="1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nonce</a:t>
              </a: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mitigates risk against active replay attacks in standard production.</a:t>
              </a:r>
              <a:endParaRPr b="0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The payload is sealed with a robust </a:t>
              </a:r>
              <a:r>
                <a:rPr b="1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HMAC-SHA256 signature</a:t>
              </a: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, assuring absolute end-to-end data integrity from edge sensor deployment straight to MLOps databases.</a:t>
              </a:r>
              <a:endParaRPr b="0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74" name="Google Shape;174;p18"/>
          <p:cNvGrpSpPr/>
          <p:nvPr/>
        </p:nvGrpSpPr>
        <p:grpSpPr>
          <a:xfrm>
            <a:off x="0" y="0"/>
            <a:ext cx="9144000" cy="76350"/>
            <a:chOff x="0" y="0"/>
            <a:chExt cx="9144000" cy="76350"/>
          </a:xfrm>
        </p:grpSpPr>
        <p:sp>
          <p:nvSpPr>
            <p:cNvPr id="175" name="Google Shape;175;p18"/>
            <p:cNvSpPr/>
            <p:nvPr/>
          </p:nvSpPr>
          <p:spPr>
            <a:xfrm>
              <a:off x="0" y="0"/>
              <a:ext cx="9144000" cy="573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" name="Google Shape;176;p18"/>
            <p:cNvSpPr/>
            <p:nvPr/>
          </p:nvSpPr>
          <p:spPr>
            <a:xfrm>
              <a:off x="0" y="57150"/>
              <a:ext cx="1143000" cy="19200"/>
            </a:xfrm>
            <a:prstGeom prst="rect">
              <a:avLst/>
            </a:prstGeom>
            <a:solidFill>
              <a:srgbClr val="0369A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77" name="Google Shape;17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1500" y="190500"/>
            <a:ext cx="495300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8"/>
          <p:cNvSpPr txBox="1"/>
          <p:nvPr/>
        </p:nvSpPr>
        <p:spPr>
          <a:xfrm>
            <a:off x="381000" y="38100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DQN RL Model &amp; Actions</a:t>
            </a:r>
            <a:endParaRPr b="1" sz="240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9" name="Google Shape;179;p18"/>
          <p:cNvSpPr txBox="1"/>
          <p:nvPr/>
        </p:nvSpPr>
        <p:spPr>
          <a:xfrm>
            <a:off x="381000" y="1143000"/>
            <a:ext cx="4857900" cy="361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0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Network Architecture</a:t>
            </a:r>
            <a:endParaRPr b="0" sz="1100">
              <a:solidFill>
                <a:srgbClr val="0284C7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45720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The Deep Q-Network utilizes a fully connected architecture with ReLU activations. It progresses from </a:t>
            </a:r>
            <a:r>
              <a:rPr b="0" lang="en" sz="95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 inputs</a:t>
            </a:r>
            <a:r>
              <a:rPr b="0" lang="en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(normalized sensor readings) to a </a:t>
            </a:r>
            <a:r>
              <a:rPr b="0" lang="en" sz="95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128-node hidden layer</a:t>
            </a:r>
            <a:r>
              <a:rPr b="0" lang="en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, a </a:t>
            </a:r>
            <a:r>
              <a:rPr b="0" lang="en" sz="95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64-node hidden layer</a:t>
            </a:r>
            <a:r>
              <a:rPr b="0" lang="en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, and </a:t>
            </a:r>
            <a:r>
              <a:rPr b="0" lang="en" sz="95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 outputs</a:t>
            </a:r>
            <a:r>
              <a:rPr b="0" lang="en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containing action Q-values.</a:t>
            </a:r>
            <a:endParaRPr b="0" sz="95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rtl="0" algn="l">
              <a:spcBef>
                <a:spcPts val="1350"/>
              </a:spcBef>
              <a:spcAft>
                <a:spcPts val="0"/>
              </a:spcAft>
              <a:buNone/>
            </a:pPr>
            <a:r>
              <a:rPr b="0" lang="en" sz="110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Action Selection Policy</a:t>
            </a:r>
            <a:endParaRPr b="0" sz="1100">
              <a:solidFill>
                <a:srgbClr val="0284C7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45720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The agent ingests the readings and selects the action with the highest Q-value:</a:t>
            </a:r>
            <a:endParaRPr b="0" sz="95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lang="en" sz="95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Action 0 (No Action):</a:t>
            </a:r>
            <a:r>
              <a:rPr lang="en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Selected during stable operational conditions.</a:t>
            </a:r>
            <a:endParaRPr sz="95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" sz="95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Action 1 (Shed Load):</a:t>
            </a:r>
            <a:r>
              <a:rPr lang="en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Enacted immediately to mitigate overcurrent.</a:t>
            </a:r>
            <a:endParaRPr sz="95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" sz="95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Action 2 (Switch to Backup):</a:t>
            </a:r>
            <a:r>
              <a:rPr lang="en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Executed during severe voltage sags.</a:t>
            </a:r>
            <a:endParaRPr sz="95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" sz="95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Action 3 (Reduce Generation):</a:t>
            </a:r>
            <a:r>
              <a:rPr lang="en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Enforced during voltage swells.</a:t>
            </a:r>
            <a:endParaRPr sz="95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rtl="0" algn="l">
              <a:spcBef>
                <a:spcPts val="750"/>
              </a:spcBef>
              <a:spcAft>
                <a:spcPts val="750"/>
              </a:spcAft>
              <a:buNone/>
            </a:pPr>
            <a:r>
              <a:rPr b="0" lang="en" sz="95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Action 4 (Alert Operator):</a:t>
            </a:r>
            <a:r>
              <a:rPr lang="en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Dispatched to handle complex multi-faults.</a:t>
            </a:r>
            <a:endParaRPr sz="95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0" name="Google Shape;180;p18"/>
          <p:cNvSpPr/>
          <p:nvPr/>
        </p:nvSpPr>
        <p:spPr>
          <a:xfrm>
            <a:off x="5524500" y="1143000"/>
            <a:ext cx="3238500" cy="3238500"/>
          </a:xfrm>
          <a:prstGeom prst="rect">
            <a:avLst/>
          </a:prstGeom>
          <a:solidFill>
            <a:srgbClr val="F4F6F8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8"/>
          <p:cNvSpPr/>
          <p:nvPr/>
        </p:nvSpPr>
        <p:spPr>
          <a:xfrm>
            <a:off x="5524500" y="1143000"/>
            <a:ext cx="3238500" cy="285900"/>
          </a:xfrm>
          <a:prstGeom prst="rect">
            <a:avLst/>
          </a:prstGeom>
          <a:solidFill>
            <a:srgbClr val="E2E8F0">
              <a:alpha val="50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8"/>
          <p:cNvSpPr txBox="1"/>
          <p:nvPr/>
        </p:nvSpPr>
        <p:spPr>
          <a:xfrm>
            <a:off x="5524500" y="1200150"/>
            <a:ext cx="3238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675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Fully Connected DQN Architecture</a:t>
            </a:r>
            <a:endParaRPr b="0" sz="675">
              <a:solidFill>
                <a:srgbClr val="0F172A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83" name="Google Shape;183;p18"/>
          <p:cNvSpPr txBox="1"/>
          <p:nvPr/>
        </p:nvSpPr>
        <p:spPr>
          <a:xfrm>
            <a:off x="5715000" y="1457325"/>
            <a:ext cx="5715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60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Input</a:t>
            </a:r>
            <a:br>
              <a:rPr b="0" lang="en" sz="60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b="0" lang="en" sz="52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5 Sensors</a:t>
            </a:r>
            <a:endParaRPr b="0" sz="600">
              <a:solidFill>
                <a:srgbClr val="0369A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84" name="Google Shape;184;p18"/>
          <p:cNvSpPr txBox="1"/>
          <p:nvPr/>
        </p:nvSpPr>
        <p:spPr>
          <a:xfrm>
            <a:off x="6477000" y="1457325"/>
            <a:ext cx="5715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60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Hidden 1</a:t>
            </a:r>
            <a:br>
              <a:rPr b="0" lang="en" sz="60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b="0" lang="en" sz="52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128 ReLU</a:t>
            </a:r>
            <a:endParaRPr b="0" sz="600">
              <a:solidFill>
                <a:srgbClr val="0369A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85" name="Google Shape;185;p18"/>
          <p:cNvSpPr txBox="1"/>
          <p:nvPr/>
        </p:nvSpPr>
        <p:spPr>
          <a:xfrm>
            <a:off x="7239000" y="1457325"/>
            <a:ext cx="5715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60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Hidden 2</a:t>
            </a:r>
            <a:br>
              <a:rPr b="0" lang="en" sz="60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b="0" lang="en" sz="52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64 ReLU</a:t>
            </a:r>
            <a:endParaRPr b="0" sz="600">
              <a:solidFill>
                <a:srgbClr val="0369A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86" name="Google Shape;186;p18"/>
          <p:cNvSpPr txBox="1"/>
          <p:nvPr/>
        </p:nvSpPr>
        <p:spPr>
          <a:xfrm>
            <a:off x="8001000" y="1457325"/>
            <a:ext cx="5715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60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Output</a:t>
            </a:r>
            <a:br>
              <a:rPr b="0" lang="en" sz="60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b="0" lang="en" sz="52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5 Actions</a:t>
            </a:r>
            <a:endParaRPr b="0" sz="600">
              <a:solidFill>
                <a:srgbClr val="0369A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7" name="Google Shape;187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00750" y="1757363"/>
            <a:ext cx="762000" cy="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995988" y="1757363"/>
            <a:ext cx="77160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995988" y="1757363"/>
            <a:ext cx="771600" cy="8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995988" y="1757363"/>
            <a:ext cx="771600" cy="123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995988" y="1757363"/>
            <a:ext cx="771600" cy="1647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995988" y="1757363"/>
            <a:ext cx="771600" cy="2057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995988" y="1757363"/>
            <a:ext cx="771600" cy="2466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5995988" y="1757363"/>
            <a:ext cx="771600" cy="6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995988" y="2166938"/>
            <a:ext cx="771600" cy="219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5995988" y="2376488"/>
            <a:ext cx="771600" cy="20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18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5995988" y="2376488"/>
            <a:ext cx="771600" cy="6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18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5995988" y="2376488"/>
            <a:ext cx="771600" cy="10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18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5995988" y="2376488"/>
            <a:ext cx="771600" cy="143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18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5995988" y="2376488"/>
            <a:ext cx="771600" cy="18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18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5995988" y="1757363"/>
            <a:ext cx="771600" cy="124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18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5995988" y="2166938"/>
            <a:ext cx="771600" cy="83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18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5995988" y="2576513"/>
            <a:ext cx="771600" cy="4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18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6000750" y="2986088"/>
            <a:ext cx="762000" cy="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8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5995988" y="2995613"/>
            <a:ext cx="771600" cy="40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8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5995988" y="2995613"/>
            <a:ext cx="771600" cy="819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8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5995988" y="2995613"/>
            <a:ext cx="771600" cy="12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18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5995988" y="1757363"/>
            <a:ext cx="771600" cy="1866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18"/>
          <p:cNvPicPr preferRelativeResize="0"/>
          <p:nvPr/>
        </p:nvPicPr>
        <p:blipFill rotWithShape="1">
          <a:blip r:embed="rId26">
            <a:alphaModFix/>
          </a:blip>
          <a:srcRect b="0" l="0" r="0" t="0"/>
          <a:stretch/>
        </p:blipFill>
        <p:spPr>
          <a:xfrm>
            <a:off x="5995988" y="2166938"/>
            <a:ext cx="771600" cy="1457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18"/>
          <p:cNvPicPr preferRelativeResize="0"/>
          <p:nvPr/>
        </p:nvPicPr>
        <p:blipFill rotWithShape="1">
          <a:blip r:embed="rId27">
            <a:alphaModFix/>
          </a:blip>
          <a:srcRect b="0" l="0" r="0" t="0"/>
          <a:stretch/>
        </p:blipFill>
        <p:spPr>
          <a:xfrm>
            <a:off x="5995988" y="2576513"/>
            <a:ext cx="771600" cy="1047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18"/>
          <p:cNvPicPr preferRelativeResize="0"/>
          <p:nvPr/>
        </p:nvPicPr>
        <p:blipFill rotWithShape="1">
          <a:blip r:embed="rId28">
            <a:alphaModFix/>
          </a:blip>
          <a:srcRect b="0" l="0" r="0" t="0"/>
          <a:stretch/>
        </p:blipFill>
        <p:spPr>
          <a:xfrm>
            <a:off x="5995988" y="2986088"/>
            <a:ext cx="771600" cy="638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18"/>
          <p:cNvPicPr preferRelativeResize="0"/>
          <p:nvPr/>
        </p:nvPicPr>
        <p:blipFill rotWithShape="1">
          <a:blip r:embed="rId29">
            <a:alphaModFix/>
          </a:blip>
          <a:srcRect b="0" l="0" r="0" t="0"/>
          <a:stretch/>
        </p:blipFill>
        <p:spPr>
          <a:xfrm>
            <a:off x="5995988" y="3395663"/>
            <a:ext cx="771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18"/>
          <p:cNvPicPr preferRelativeResize="0"/>
          <p:nvPr/>
        </p:nvPicPr>
        <p:blipFill rotWithShape="1">
          <a:blip r:embed="rId30">
            <a:alphaModFix/>
          </a:blip>
          <a:srcRect b="0" l="0" r="0" t="0"/>
          <a:stretch/>
        </p:blipFill>
        <p:spPr>
          <a:xfrm>
            <a:off x="5995988" y="3614738"/>
            <a:ext cx="771600" cy="200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18"/>
          <p:cNvPicPr preferRelativeResize="0"/>
          <p:nvPr/>
        </p:nvPicPr>
        <p:blipFill rotWithShape="1">
          <a:blip r:embed="rId31">
            <a:alphaModFix/>
          </a:blip>
          <a:srcRect b="0" l="0" r="0" t="0"/>
          <a:stretch/>
        </p:blipFill>
        <p:spPr>
          <a:xfrm>
            <a:off x="5995988" y="3614738"/>
            <a:ext cx="7716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18"/>
          <p:cNvPicPr preferRelativeResize="0"/>
          <p:nvPr/>
        </p:nvPicPr>
        <p:blipFill rotWithShape="1">
          <a:blip r:embed="rId32">
            <a:alphaModFix/>
          </a:blip>
          <a:srcRect b="0" l="0" r="0" t="0"/>
          <a:stretch/>
        </p:blipFill>
        <p:spPr>
          <a:xfrm>
            <a:off x="5995988" y="1757363"/>
            <a:ext cx="771600" cy="2486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18"/>
          <p:cNvPicPr preferRelativeResize="0"/>
          <p:nvPr/>
        </p:nvPicPr>
        <p:blipFill rotWithShape="1">
          <a:blip r:embed="rId33">
            <a:alphaModFix/>
          </a:blip>
          <a:srcRect b="0" l="0" r="0" t="0"/>
          <a:stretch/>
        </p:blipFill>
        <p:spPr>
          <a:xfrm>
            <a:off x="5995988" y="2166938"/>
            <a:ext cx="771600" cy="2076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18"/>
          <p:cNvPicPr preferRelativeResize="0"/>
          <p:nvPr/>
        </p:nvPicPr>
        <p:blipFill rotWithShape="1">
          <a:blip r:embed="rId34">
            <a:alphaModFix/>
          </a:blip>
          <a:srcRect b="0" l="0" r="0" t="0"/>
          <a:stretch/>
        </p:blipFill>
        <p:spPr>
          <a:xfrm>
            <a:off x="5995988" y="2576513"/>
            <a:ext cx="771600" cy="16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18"/>
          <p:cNvPicPr preferRelativeResize="0"/>
          <p:nvPr/>
        </p:nvPicPr>
        <p:blipFill rotWithShape="1">
          <a:blip r:embed="rId35">
            <a:alphaModFix/>
          </a:blip>
          <a:srcRect b="0" l="0" r="0" t="0"/>
          <a:stretch/>
        </p:blipFill>
        <p:spPr>
          <a:xfrm>
            <a:off x="5995988" y="2986088"/>
            <a:ext cx="771600" cy="1257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18"/>
          <p:cNvPicPr preferRelativeResize="0"/>
          <p:nvPr/>
        </p:nvPicPr>
        <p:blipFill rotWithShape="1">
          <a:blip r:embed="rId36">
            <a:alphaModFix/>
          </a:blip>
          <a:srcRect b="0" l="0" r="0" t="0"/>
          <a:stretch/>
        </p:blipFill>
        <p:spPr>
          <a:xfrm>
            <a:off x="5995988" y="3395663"/>
            <a:ext cx="771600" cy="84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18"/>
          <p:cNvPicPr preferRelativeResize="0"/>
          <p:nvPr/>
        </p:nvPicPr>
        <p:blipFill rotWithShape="1">
          <a:blip r:embed="rId37">
            <a:alphaModFix/>
          </a:blip>
          <a:srcRect b="0" l="0" r="0" t="0"/>
          <a:stretch/>
        </p:blipFill>
        <p:spPr>
          <a:xfrm>
            <a:off x="5995988" y="3805238"/>
            <a:ext cx="771600" cy="438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18"/>
          <p:cNvPicPr preferRelativeResize="0"/>
          <p:nvPr/>
        </p:nvPicPr>
        <p:blipFill rotWithShape="1">
          <a:blip r:embed="rId38">
            <a:alphaModFix/>
          </a:blip>
          <a:srcRect b="0" l="0" r="0" t="0"/>
          <a:stretch/>
        </p:blipFill>
        <p:spPr>
          <a:xfrm>
            <a:off x="6000750" y="4214813"/>
            <a:ext cx="762000" cy="2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62750" y="1757363"/>
            <a:ext cx="762000" cy="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18"/>
          <p:cNvPicPr preferRelativeResize="0"/>
          <p:nvPr/>
        </p:nvPicPr>
        <p:blipFill rotWithShape="1">
          <a:blip r:embed="rId39">
            <a:alphaModFix/>
          </a:blip>
          <a:srcRect b="0" l="0" r="0" t="0"/>
          <a:stretch/>
        </p:blipFill>
        <p:spPr>
          <a:xfrm>
            <a:off x="6757988" y="1757363"/>
            <a:ext cx="771600" cy="504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18"/>
          <p:cNvPicPr preferRelativeResize="0"/>
          <p:nvPr/>
        </p:nvPicPr>
        <p:blipFill rotWithShape="1">
          <a:blip r:embed="rId40">
            <a:alphaModFix/>
          </a:blip>
          <a:srcRect b="0" l="0" r="0" t="0"/>
          <a:stretch/>
        </p:blipFill>
        <p:spPr>
          <a:xfrm>
            <a:off x="6757988" y="1757363"/>
            <a:ext cx="771600" cy="100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18"/>
          <p:cNvPicPr preferRelativeResize="0"/>
          <p:nvPr/>
        </p:nvPicPr>
        <p:blipFill rotWithShape="1">
          <a:blip r:embed="rId41">
            <a:alphaModFix/>
          </a:blip>
          <a:srcRect b="0" l="0" r="0" t="0"/>
          <a:stretch/>
        </p:blipFill>
        <p:spPr>
          <a:xfrm>
            <a:off x="6757988" y="1757363"/>
            <a:ext cx="771600" cy="14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18"/>
          <p:cNvPicPr preferRelativeResize="0"/>
          <p:nvPr/>
        </p:nvPicPr>
        <p:blipFill rotWithShape="1">
          <a:blip r:embed="rId42">
            <a:alphaModFix/>
          </a:blip>
          <a:srcRect b="0" l="0" r="0" t="0"/>
          <a:stretch/>
        </p:blipFill>
        <p:spPr>
          <a:xfrm>
            <a:off x="6757988" y="1757363"/>
            <a:ext cx="771600" cy="199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18"/>
          <p:cNvPicPr preferRelativeResize="0"/>
          <p:nvPr/>
        </p:nvPicPr>
        <p:blipFill rotWithShape="1">
          <a:blip r:embed="rId43">
            <a:alphaModFix/>
          </a:blip>
          <a:srcRect b="0" l="0" r="0" t="0"/>
          <a:stretch/>
        </p:blipFill>
        <p:spPr>
          <a:xfrm>
            <a:off x="6757988" y="1757363"/>
            <a:ext cx="771600" cy="2486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18"/>
          <p:cNvPicPr preferRelativeResize="0"/>
          <p:nvPr/>
        </p:nvPicPr>
        <p:blipFill rotWithShape="1">
          <a:blip r:embed="rId44">
            <a:alphaModFix/>
          </a:blip>
          <a:srcRect b="0" l="0" r="0" t="0"/>
          <a:stretch/>
        </p:blipFill>
        <p:spPr>
          <a:xfrm>
            <a:off x="6757988" y="1757363"/>
            <a:ext cx="77160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18"/>
          <p:cNvPicPr preferRelativeResize="0"/>
          <p:nvPr/>
        </p:nvPicPr>
        <p:blipFill rotWithShape="1">
          <a:blip r:embed="rId45">
            <a:alphaModFix/>
          </a:blip>
          <a:srcRect b="0" l="0" r="0" t="0"/>
          <a:stretch/>
        </p:blipFill>
        <p:spPr>
          <a:xfrm>
            <a:off x="6762750" y="2166938"/>
            <a:ext cx="762000" cy="9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18"/>
          <p:cNvPicPr preferRelativeResize="0"/>
          <p:nvPr/>
        </p:nvPicPr>
        <p:blipFill rotWithShape="1">
          <a:blip r:embed="rId46">
            <a:alphaModFix/>
          </a:blip>
          <a:srcRect b="0" l="0" r="0" t="0"/>
          <a:stretch/>
        </p:blipFill>
        <p:spPr>
          <a:xfrm>
            <a:off x="6757988" y="2166938"/>
            <a:ext cx="771600" cy="59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18"/>
          <p:cNvPicPr preferRelativeResize="0"/>
          <p:nvPr/>
        </p:nvPicPr>
        <p:blipFill rotWithShape="1">
          <a:blip r:embed="rId47">
            <a:alphaModFix/>
          </a:blip>
          <a:srcRect b="0" l="0" r="0" t="0"/>
          <a:stretch/>
        </p:blipFill>
        <p:spPr>
          <a:xfrm>
            <a:off x="6757988" y="2166938"/>
            <a:ext cx="771600" cy="108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18"/>
          <p:cNvPicPr preferRelativeResize="0"/>
          <p:nvPr/>
        </p:nvPicPr>
        <p:blipFill rotWithShape="1">
          <a:blip r:embed="rId48">
            <a:alphaModFix/>
          </a:blip>
          <a:srcRect b="0" l="0" r="0" t="0"/>
          <a:stretch/>
        </p:blipFill>
        <p:spPr>
          <a:xfrm>
            <a:off x="6757988" y="2166938"/>
            <a:ext cx="771600" cy="1581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18"/>
          <p:cNvPicPr preferRelativeResize="0"/>
          <p:nvPr/>
        </p:nvPicPr>
        <p:blipFill rotWithShape="1">
          <a:blip r:embed="rId49">
            <a:alphaModFix/>
          </a:blip>
          <a:srcRect b="0" l="0" r="0" t="0"/>
          <a:stretch/>
        </p:blipFill>
        <p:spPr>
          <a:xfrm>
            <a:off x="6757988" y="2166938"/>
            <a:ext cx="771600" cy="2076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18"/>
          <p:cNvPicPr preferRelativeResize="0"/>
          <p:nvPr/>
        </p:nvPicPr>
        <p:blipFill rotWithShape="1">
          <a:blip r:embed="rId50">
            <a:alphaModFix/>
          </a:blip>
          <a:srcRect b="0" l="0" r="0" t="0"/>
          <a:stretch/>
        </p:blipFill>
        <p:spPr>
          <a:xfrm>
            <a:off x="6757988" y="1757363"/>
            <a:ext cx="771600" cy="8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18"/>
          <p:cNvPicPr preferRelativeResize="0"/>
          <p:nvPr/>
        </p:nvPicPr>
        <p:blipFill rotWithShape="1">
          <a:blip r:embed="rId51">
            <a:alphaModFix/>
          </a:blip>
          <a:srcRect b="0" l="0" r="0" t="0"/>
          <a:stretch/>
        </p:blipFill>
        <p:spPr>
          <a:xfrm>
            <a:off x="6757988" y="2252663"/>
            <a:ext cx="771600" cy="33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18"/>
          <p:cNvPicPr preferRelativeResize="0"/>
          <p:nvPr/>
        </p:nvPicPr>
        <p:blipFill rotWithShape="1">
          <a:blip r:embed="rId52">
            <a:alphaModFix/>
          </a:blip>
          <a:srcRect b="0" l="0" r="0" t="0"/>
          <a:stretch/>
        </p:blipFill>
        <p:spPr>
          <a:xfrm>
            <a:off x="6757988" y="2576513"/>
            <a:ext cx="771600" cy="180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18"/>
          <p:cNvPicPr preferRelativeResize="0"/>
          <p:nvPr/>
        </p:nvPicPr>
        <p:blipFill rotWithShape="1">
          <a:blip r:embed="rId53">
            <a:alphaModFix/>
          </a:blip>
          <a:srcRect b="0" l="0" r="0" t="0"/>
          <a:stretch/>
        </p:blipFill>
        <p:spPr>
          <a:xfrm>
            <a:off x="6757988" y="2576513"/>
            <a:ext cx="771600" cy="6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18"/>
          <p:cNvPicPr preferRelativeResize="0"/>
          <p:nvPr/>
        </p:nvPicPr>
        <p:blipFill rotWithShape="1">
          <a:blip r:embed="rId54">
            <a:alphaModFix/>
          </a:blip>
          <a:srcRect b="0" l="0" r="0" t="0"/>
          <a:stretch/>
        </p:blipFill>
        <p:spPr>
          <a:xfrm>
            <a:off x="6757988" y="2576513"/>
            <a:ext cx="771600" cy="117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18"/>
          <p:cNvPicPr preferRelativeResize="0"/>
          <p:nvPr/>
        </p:nvPicPr>
        <p:blipFill rotWithShape="1">
          <a:blip r:embed="rId55">
            <a:alphaModFix/>
          </a:blip>
          <a:srcRect b="0" l="0" r="0" t="0"/>
          <a:stretch/>
        </p:blipFill>
        <p:spPr>
          <a:xfrm>
            <a:off x="6757988" y="2576513"/>
            <a:ext cx="771600" cy="16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18"/>
          <p:cNvPicPr preferRelativeResize="0"/>
          <p:nvPr/>
        </p:nvPicPr>
        <p:blipFill rotWithShape="1">
          <a:blip r:embed="rId56">
            <a:alphaModFix/>
          </a:blip>
          <a:srcRect b="0" l="0" r="0" t="0"/>
          <a:stretch/>
        </p:blipFill>
        <p:spPr>
          <a:xfrm>
            <a:off x="6757988" y="1757363"/>
            <a:ext cx="771600" cy="123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18"/>
          <p:cNvPicPr preferRelativeResize="0"/>
          <p:nvPr/>
        </p:nvPicPr>
        <p:blipFill rotWithShape="1">
          <a:blip r:embed="rId57">
            <a:alphaModFix/>
          </a:blip>
          <a:srcRect b="0" l="0" r="0" t="0"/>
          <a:stretch/>
        </p:blipFill>
        <p:spPr>
          <a:xfrm>
            <a:off x="6757988" y="2252663"/>
            <a:ext cx="771600" cy="74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18"/>
          <p:cNvPicPr preferRelativeResize="0"/>
          <p:nvPr/>
        </p:nvPicPr>
        <p:blipFill rotWithShape="1">
          <a:blip r:embed="rId58">
            <a:alphaModFix/>
          </a:blip>
          <a:srcRect b="0" l="0" r="0" t="0"/>
          <a:stretch/>
        </p:blipFill>
        <p:spPr>
          <a:xfrm>
            <a:off x="6757988" y="2747963"/>
            <a:ext cx="771600" cy="24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18"/>
          <p:cNvPicPr preferRelativeResize="0"/>
          <p:nvPr/>
        </p:nvPicPr>
        <p:blipFill rotWithShape="1">
          <a:blip r:embed="rId59">
            <a:alphaModFix/>
          </a:blip>
          <a:srcRect b="0" l="0" r="0" t="0"/>
          <a:stretch/>
        </p:blipFill>
        <p:spPr>
          <a:xfrm>
            <a:off x="6757988" y="2986088"/>
            <a:ext cx="7716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18"/>
          <p:cNvPicPr preferRelativeResize="0"/>
          <p:nvPr/>
        </p:nvPicPr>
        <p:blipFill rotWithShape="1">
          <a:blip r:embed="rId60">
            <a:alphaModFix/>
          </a:blip>
          <a:srcRect b="0" l="0" r="0" t="0"/>
          <a:stretch/>
        </p:blipFill>
        <p:spPr>
          <a:xfrm>
            <a:off x="6757988" y="2986088"/>
            <a:ext cx="7716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18"/>
          <p:cNvPicPr preferRelativeResize="0"/>
          <p:nvPr/>
        </p:nvPicPr>
        <p:blipFill rotWithShape="1">
          <a:blip r:embed="rId61">
            <a:alphaModFix/>
          </a:blip>
          <a:srcRect b="0" l="0" r="0" t="0"/>
          <a:stretch/>
        </p:blipFill>
        <p:spPr>
          <a:xfrm>
            <a:off x="6757988" y="2986088"/>
            <a:ext cx="771600" cy="1257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18"/>
          <p:cNvPicPr preferRelativeResize="0"/>
          <p:nvPr/>
        </p:nvPicPr>
        <p:blipFill rotWithShape="1">
          <a:blip r:embed="rId62">
            <a:alphaModFix/>
          </a:blip>
          <a:srcRect b="0" l="0" r="0" t="0"/>
          <a:stretch/>
        </p:blipFill>
        <p:spPr>
          <a:xfrm>
            <a:off x="6757988" y="1757363"/>
            <a:ext cx="771600" cy="1647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18"/>
          <p:cNvPicPr preferRelativeResize="0"/>
          <p:nvPr/>
        </p:nvPicPr>
        <p:blipFill rotWithShape="1">
          <a:blip r:embed="rId63">
            <a:alphaModFix/>
          </a:blip>
          <a:srcRect b="0" l="0" r="0" t="0"/>
          <a:stretch/>
        </p:blipFill>
        <p:spPr>
          <a:xfrm>
            <a:off x="6757988" y="2252663"/>
            <a:ext cx="771600" cy="115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18"/>
          <p:cNvPicPr preferRelativeResize="0"/>
          <p:nvPr/>
        </p:nvPicPr>
        <p:blipFill rotWithShape="1">
          <a:blip r:embed="rId64">
            <a:alphaModFix/>
          </a:blip>
          <a:srcRect b="0" l="0" r="0" t="0"/>
          <a:stretch/>
        </p:blipFill>
        <p:spPr>
          <a:xfrm>
            <a:off x="6757988" y="2747963"/>
            <a:ext cx="771600" cy="657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18"/>
          <p:cNvPicPr preferRelativeResize="0"/>
          <p:nvPr/>
        </p:nvPicPr>
        <p:blipFill rotWithShape="1">
          <a:blip r:embed="rId65">
            <a:alphaModFix/>
          </a:blip>
          <a:srcRect b="0" l="0" r="0" t="0"/>
          <a:stretch/>
        </p:blipFill>
        <p:spPr>
          <a:xfrm>
            <a:off x="6757988" y="3243263"/>
            <a:ext cx="771600" cy="1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18"/>
          <p:cNvPicPr preferRelativeResize="0"/>
          <p:nvPr/>
        </p:nvPicPr>
        <p:blipFill rotWithShape="1">
          <a:blip r:embed="rId66">
            <a:alphaModFix/>
          </a:blip>
          <a:srcRect b="0" l="0" r="0" t="0"/>
          <a:stretch/>
        </p:blipFill>
        <p:spPr>
          <a:xfrm>
            <a:off x="6757988" y="3395663"/>
            <a:ext cx="771600" cy="35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18"/>
          <p:cNvPicPr preferRelativeResize="0"/>
          <p:nvPr/>
        </p:nvPicPr>
        <p:blipFill rotWithShape="1">
          <a:blip r:embed="rId67">
            <a:alphaModFix/>
          </a:blip>
          <a:srcRect b="0" l="0" r="0" t="0"/>
          <a:stretch/>
        </p:blipFill>
        <p:spPr>
          <a:xfrm>
            <a:off x="6757988" y="3395663"/>
            <a:ext cx="771600" cy="84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18"/>
          <p:cNvPicPr preferRelativeResize="0"/>
          <p:nvPr/>
        </p:nvPicPr>
        <p:blipFill rotWithShape="1">
          <a:blip r:embed="rId68">
            <a:alphaModFix/>
          </a:blip>
          <a:srcRect b="0" l="0" r="0" t="0"/>
          <a:stretch/>
        </p:blipFill>
        <p:spPr>
          <a:xfrm>
            <a:off x="6757988" y="1757363"/>
            <a:ext cx="771600" cy="2057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18"/>
          <p:cNvPicPr preferRelativeResize="0"/>
          <p:nvPr/>
        </p:nvPicPr>
        <p:blipFill rotWithShape="1">
          <a:blip r:embed="rId69">
            <a:alphaModFix/>
          </a:blip>
          <a:srcRect b="0" l="0" r="0" t="0"/>
          <a:stretch/>
        </p:blipFill>
        <p:spPr>
          <a:xfrm>
            <a:off x="6757988" y="2252663"/>
            <a:ext cx="771600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18"/>
          <p:cNvPicPr preferRelativeResize="0"/>
          <p:nvPr/>
        </p:nvPicPr>
        <p:blipFill rotWithShape="1">
          <a:blip r:embed="rId70">
            <a:alphaModFix/>
          </a:blip>
          <a:srcRect b="0" l="0" r="0" t="0"/>
          <a:stretch/>
        </p:blipFill>
        <p:spPr>
          <a:xfrm>
            <a:off x="6757988" y="2747963"/>
            <a:ext cx="7716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18"/>
          <p:cNvPicPr preferRelativeResize="0"/>
          <p:nvPr/>
        </p:nvPicPr>
        <p:blipFill rotWithShape="1">
          <a:blip r:embed="rId71">
            <a:alphaModFix/>
          </a:blip>
          <a:srcRect b="0" l="0" r="0" t="0"/>
          <a:stretch/>
        </p:blipFill>
        <p:spPr>
          <a:xfrm>
            <a:off x="6757988" y="3243263"/>
            <a:ext cx="771600" cy="57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18"/>
          <p:cNvPicPr preferRelativeResize="0"/>
          <p:nvPr/>
        </p:nvPicPr>
        <p:blipFill rotWithShape="1">
          <a:blip r:embed="rId72">
            <a:alphaModFix/>
          </a:blip>
          <a:srcRect b="0" l="0" r="0" t="0"/>
          <a:stretch/>
        </p:blipFill>
        <p:spPr>
          <a:xfrm>
            <a:off x="6762750" y="3738563"/>
            <a:ext cx="7620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18"/>
          <p:cNvPicPr preferRelativeResize="0"/>
          <p:nvPr/>
        </p:nvPicPr>
        <p:blipFill rotWithShape="1">
          <a:blip r:embed="rId73">
            <a:alphaModFix/>
          </a:blip>
          <a:srcRect b="0" l="0" r="0" t="0"/>
          <a:stretch/>
        </p:blipFill>
        <p:spPr>
          <a:xfrm>
            <a:off x="6757988" y="3805238"/>
            <a:ext cx="771600" cy="438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18"/>
          <p:cNvPicPr preferRelativeResize="0"/>
          <p:nvPr/>
        </p:nvPicPr>
        <p:blipFill rotWithShape="1">
          <a:blip r:embed="rId74">
            <a:alphaModFix/>
          </a:blip>
          <a:srcRect b="0" l="0" r="0" t="0"/>
          <a:stretch/>
        </p:blipFill>
        <p:spPr>
          <a:xfrm>
            <a:off x="6757988" y="1757363"/>
            <a:ext cx="771600" cy="2466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18"/>
          <p:cNvPicPr preferRelativeResize="0"/>
          <p:nvPr/>
        </p:nvPicPr>
        <p:blipFill rotWithShape="1">
          <a:blip r:embed="rId75">
            <a:alphaModFix/>
          </a:blip>
          <a:srcRect b="0" l="0" r="0" t="0"/>
          <a:stretch/>
        </p:blipFill>
        <p:spPr>
          <a:xfrm>
            <a:off x="6757988" y="2252663"/>
            <a:ext cx="771600" cy="1971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18"/>
          <p:cNvPicPr preferRelativeResize="0"/>
          <p:nvPr/>
        </p:nvPicPr>
        <p:blipFill rotWithShape="1">
          <a:blip r:embed="rId76">
            <a:alphaModFix/>
          </a:blip>
          <a:srcRect b="0" l="0" r="0" t="0"/>
          <a:stretch/>
        </p:blipFill>
        <p:spPr>
          <a:xfrm>
            <a:off x="6757988" y="2747963"/>
            <a:ext cx="771600" cy="1476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18"/>
          <p:cNvPicPr preferRelativeResize="0"/>
          <p:nvPr/>
        </p:nvPicPr>
        <p:blipFill rotWithShape="1">
          <a:blip r:embed="rId77">
            <a:alphaModFix/>
          </a:blip>
          <a:srcRect b="0" l="0" r="0" t="0"/>
          <a:stretch/>
        </p:blipFill>
        <p:spPr>
          <a:xfrm>
            <a:off x="6757988" y="3243263"/>
            <a:ext cx="771600" cy="9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18"/>
          <p:cNvPicPr preferRelativeResize="0"/>
          <p:nvPr/>
        </p:nvPicPr>
        <p:blipFill rotWithShape="1">
          <a:blip r:embed="rId78">
            <a:alphaModFix/>
          </a:blip>
          <a:srcRect b="0" l="0" r="0" t="0"/>
          <a:stretch/>
        </p:blipFill>
        <p:spPr>
          <a:xfrm>
            <a:off x="6757988" y="3738563"/>
            <a:ext cx="771600" cy="485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18"/>
          <p:cNvPicPr preferRelativeResize="0"/>
          <p:nvPr/>
        </p:nvPicPr>
        <p:blipFill rotWithShape="1">
          <a:blip r:embed="rId79">
            <a:alphaModFix/>
          </a:blip>
          <a:srcRect b="0" l="0" r="0" t="0"/>
          <a:stretch/>
        </p:blipFill>
        <p:spPr>
          <a:xfrm>
            <a:off x="6762750" y="4214813"/>
            <a:ext cx="762000" cy="2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24750" y="1757363"/>
            <a:ext cx="762000" cy="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18"/>
          <p:cNvPicPr preferRelativeResize="0"/>
          <p:nvPr/>
        </p:nvPicPr>
        <p:blipFill rotWithShape="1">
          <a:blip r:embed="rId80">
            <a:alphaModFix/>
          </a:blip>
          <a:srcRect b="0" l="0" r="0" t="0"/>
          <a:stretch/>
        </p:blipFill>
        <p:spPr>
          <a:xfrm>
            <a:off x="7519988" y="1757363"/>
            <a:ext cx="771600" cy="6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18"/>
          <p:cNvPicPr preferRelativeResize="0"/>
          <p:nvPr/>
        </p:nvPicPr>
        <p:blipFill rotWithShape="1">
          <a:blip r:embed="rId81">
            <a:alphaModFix/>
          </a:blip>
          <a:srcRect b="0" l="0" r="0" t="0"/>
          <a:stretch/>
        </p:blipFill>
        <p:spPr>
          <a:xfrm>
            <a:off x="7519988" y="1757363"/>
            <a:ext cx="771600" cy="124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18"/>
          <p:cNvPicPr preferRelativeResize="0"/>
          <p:nvPr/>
        </p:nvPicPr>
        <p:blipFill rotWithShape="1">
          <a:blip r:embed="rId82">
            <a:alphaModFix/>
          </a:blip>
          <a:srcRect b="0" l="0" r="0" t="0"/>
          <a:stretch/>
        </p:blipFill>
        <p:spPr>
          <a:xfrm>
            <a:off x="7519988" y="1757363"/>
            <a:ext cx="771600" cy="1866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18"/>
          <p:cNvPicPr preferRelativeResize="0"/>
          <p:nvPr/>
        </p:nvPicPr>
        <p:blipFill rotWithShape="1">
          <a:blip r:embed="rId43">
            <a:alphaModFix/>
          </a:blip>
          <a:srcRect b="0" l="0" r="0" t="0"/>
          <a:stretch/>
        </p:blipFill>
        <p:spPr>
          <a:xfrm>
            <a:off x="7519988" y="1757363"/>
            <a:ext cx="771600" cy="2486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18"/>
          <p:cNvPicPr preferRelativeResize="0"/>
          <p:nvPr/>
        </p:nvPicPr>
        <p:blipFill rotWithShape="1">
          <a:blip r:embed="rId83">
            <a:alphaModFix/>
          </a:blip>
          <a:srcRect b="0" l="0" r="0" t="0"/>
          <a:stretch/>
        </p:blipFill>
        <p:spPr>
          <a:xfrm>
            <a:off x="7519988" y="1757363"/>
            <a:ext cx="771600" cy="504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18"/>
          <p:cNvPicPr preferRelativeResize="0"/>
          <p:nvPr/>
        </p:nvPicPr>
        <p:blipFill rotWithShape="1">
          <a:blip r:embed="rId84">
            <a:alphaModFix/>
          </a:blip>
          <a:srcRect b="0" l="0" r="0" t="0"/>
          <a:stretch/>
        </p:blipFill>
        <p:spPr>
          <a:xfrm>
            <a:off x="7519988" y="2252663"/>
            <a:ext cx="771600" cy="13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18"/>
          <p:cNvPicPr preferRelativeResize="0"/>
          <p:nvPr/>
        </p:nvPicPr>
        <p:blipFill rotWithShape="1">
          <a:blip r:embed="rId85">
            <a:alphaModFix/>
          </a:blip>
          <a:srcRect b="0" l="0" r="0" t="0"/>
          <a:stretch/>
        </p:blipFill>
        <p:spPr>
          <a:xfrm>
            <a:off x="7519988" y="2252663"/>
            <a:ext cx="771600" cy="7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18"/>
          <p:cNvPicPr preferRelativeResize="0"/>
          <p:nvPr/>
        </p:nvPicPr>
        <p:blipFill rotWithShape="1">
          <a:blip r:embed="rId86">
            <a:alphaModFix/>
          </a:blip>
          <a:srcRect b="0" l="0" r="0" t="0"/>
          <a:stretch/>
        </p:blipFill>
        <p:spPr>
          <a:xfrm>
            <a:off x="7519988" y="2252663"/>
            <a:ext cx="771600" cy="1371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18"/>
          <p:cNvPicPr preferRelativeResize="0"/>
          <p:nvPr/>
        </p:nvPicPr>
        <p:blipFill rotWithShape="1">
          <a:blip r:embed="rId42">
            <a:alphaModFix/>
          </a:blip>
          <a:srcRect b="0" l="0" r="0" t="0"/>
          <a:stretch/>
        </p:blipFill>
        <p:spPr>
          <a:xfrm>
            <a:off x="7519988" y="2252663"/>
            <a:ext cx="771600" cy="199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18"/>
          <p:cNvPicPr preferRelativeResize="0"/>
          <p:nvPr/>
        </p:nvPicPr>
        <p:blipFill rotWithShape="1">
          <a:blip r:embed="rId87">
            <a:alphaModFix/>
          </a:blip>
          <a:srcRect b="0" l="0" r="0" t="0"/>
          <a:stretch/>
        </p:blipFill>
        <p:spPr>
          <a:xfrm>
            <a:off x="7519988" y="1757363"/>
            <a:ext cx="771600" cy="100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18"/>
          <p:cNvPicPr preferRelativeResize="0"/>
          <p:nvPr/>
        </p:nvPicPr>
        <p:blipFill rotWithShape="1">
          <a:blip r:embed="rId88">
            <a:alphaModFix/>
          </a:blip>
          <a:srcRect b="0" l="0" r="0" t="0"/>
          <a:stretch/>
        </p:blipFill>
        <p:spPr>
          <a:xfrm>
            <a:off x="7519988" y="2376488"/>
            <a:ext cx="7716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18"/>
          <p:cNvPicPr preferRelativeResize="0"/>
          <p:nvPr/>
        </p:nvPicPr>
        <p:blipFill rotWithShape="1">
          <a:blip r:embed="rId89">
            <a:alphaModFix/>
          </a:blip>
          <a:srcRect b="0" l="0" r="0" t="0"/>
          <a:stretch/>
        </p:blipFill>
        <p:spPr>
          <a:xfrm>
            <a:off x="7519988" y="2747963"/>
            <a:ext cx="771600" cy="25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18"/>
          <p:cNvPicPr preferRelativeResize="0"/>
          <p:nvPr/>
        </p:nvPicPr>
        <p:blipFill rotWithShape="1">
          <a:blip r:embed="rId90">
            <a:alphaModFix/>
          </a:blip>
          <a:srcRect b="0" l="0" r="0" t="0"/>
          <a:stretch/>
        </p:blipFill>
        <p:spPr>
          <a:xfrm>
            <a:off x="7519988" y="2747963"/>
            <a:ext cx="771600" cy="876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18"/>
          <p:cNvPicPr preferRelativeResize="0"/>
          <p:nvPr/>
        </p:nvPicPr>
        <p:blipFill rotWithShape="1">
          <a:blip r:embed="rId41">
            <a:alphaModFix/>
          </a:blip>
          <a:srcRect b="0" l="0" r="0" t="0"/>
          <a:stretch/>
        </p:blipFill>
        <p:spPr>
          <a:xfrm>
            <a:off x="7519988" y="2747963"/>
            <a:ext cx="771600" cy="14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18"/>
          <p:cNvPicPr preferRelativeResize="0"/>
          <p:nvPr/>
        </p:nvPicPr>
        <p:blipFill rotWithShape="1">
          <a:blip r:embed="rId91">
            <a:alphaModFix/>
          </a:blip>
          <a:srcRect b="0" l="0" r="0" t="0"/>
          <a:stretch/>
        </p:blipFill>
        <p:spPr>
          <a:xfrm>
            <a:off x="7519988" y="1757363"/>
            <a:ext cx="771600" cy="14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18"/>
          <p:cNvPicPr preferRelativeResize="0"/>
          <p:nvPr/>
        </p:nvPicPr>
        <p:blipFill rotWithShape="1">
          <a:blip r:embed="rId92">
            <a:alphaModFix/>
          </a:blip>
          <a:srcRect b="0" l="0" r="0" t="0"/>
          <a:stretch/>
        </p:blipFill>
        <p:spPr>
          <a:xfrm>
            <a:off x="7519988" y="2376488"/>
            <a:ext cx="771600" cy="876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18"/>
          <p:cNvPicPr preferRelativeResize="0"/>
          <p:nvPr/>
        </p:nvPicPr>
        <p:blipFill rotWithShape="1">
          <a:blip r:embed="rId93">
            <a:alphaModFix/>
          </a:blip>
          <a:srcRect b="0" l="0" r="0" t="0"/>
          <a:stretch/>
        </p:blipFill>
        <p:spPr>
          <a:xfrm>
            <a:off x="7519988" y="2995613"/>
            <a:ext cx="771600" cy="25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18"/>
          <p:cNvPicPr preferRelativeResize="0"/>
          <p:nvPr/>
        </p:nvPicPr>
        <p:blipFill rotWithShape="1">
          <a:blip r:embed="rId94">
            <a:alphaModFix/>
          </a:blip>
          <a:srcRect b="0" l="0" r="0" t="0"/>
          <a:stretch/>
        </p:blipFill>
        <p:spPr>
          <a:xfrm>
            <a:off x="7519988" y="3243263"/>
            <a:ext cx="7716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18"/>
          <p:cNvPicPr preferRelativeResize="0"/>
          <p:nvPr/>
        </p:nvPicPr>
        <p:blipFill rotWithShape="1">
          <a:blip r:embed="rId40">
            <a:alphaModFix/>
          </a:blip>
          <a:srcRect b="0" l="0" r="0" t="0"/>
          <a:stretch/>
        </p:blipFill>
        <p:spPr>
          <a:xfrm>
            <a:off x="7519988" y="3243263"/>
            <a:ext cx="771600" cy="100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18"/>
          <p:cNvPicPr preferRelativeResize="0"/>
          <p:nvPr/>
        </p:nvPicPr>
        <p:blipFill rotWithShape="1">
          <a:blip r:embed="rId95">
            <a:alphaModFix/>
          </a:blip>
          <a:srcRect b="0" l="0" r="0" t="0"/>
          <a:stretch/>
        </p:blipFill>
        <p:spPr>
          <a:xfrm>
            <a:off x="7519988" y="1757363"/>
            <a:ext cx="771600" cy="199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18"/>
          <p:cNvPicPr preferRelativeResize="0"/>
          <p:nvPr/>
        </p:nvPicPr>
        <p:blipFill rotWithShape="1">
          <a:blip r:embed="rId96">
            <a:alphaModFix/>
          </a:blip>
          <a:srcRect b="0" l="0" r="0" t="0"/>
          <a:stretch/>
        </p:blipFill>
        <p:spPr>
          <a:xfrm>
            <a:off x="7519988" y="2376488"/>
            <a:ext cx="771600" cy="1371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18"/>
          <p:cNvPicPr preferRelativeResize="0"/>
          <p:nvPr/>
        </p:nvPicPr>
        <p:blipFill rotWithShape="1">
          <a:blip r:embed="rId97">
            <a:alphaModFix/>
          </a:blip>
          <a:srcRect b="0" l="0" r="0" t="0"/>
          <a:stretch/>
        </p:blipFill>
        <p:spPr>
          <a:xfrm>
            <a:off x="7519988" y="2995613"/>
            <a:ext cx="771600" cy="7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18"/>
          <p:cNvPicPr preferRelativeResize="0"/>
          <p:nvPr/>
        </p:nvPicPr>
        <p:blipFill rotWithShape="1">
          <a:blip r:embed="rId98">
            <a:alphaModFix/>
          </a:blip>
          <a:srcRect b="0" l="0" r="0" t="0"/>
          <a:stretch/>
        </p:blipFill>
        <p:spPr>
          <a:xfrm>
            <a:off x="7519988" y="3614738"/>
            <a:ext cx="771600" cy="13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18"/>
          <p:cNvPicPr preferRelativeResize="0"/>
          <p:nvPr/>
        </p:nvPicPr>
        <p:blipFill rotWithShape="1">
          <a:blip r:embed="rId39">
            <a:alphaModFix/>
          </a:blip>
          <a:srcRect b="0" l="0" r="0" t="0"/>
          <a:stretch/>
        </p:blipFill>
        <p:spPr>
          <a:xfrm>
            <a:off x="7519988" y="3738563"/>
            <a:ext cx="771600" cy="504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p18"/>
          <p:cNvPicPr preferRelativeResize="0"/>
          <p:nvPr/>
        </p:nvPicPr>
        <p:blipFill rotWithShape="1">
          <a:blip r:embed="rId32">
            <a:alphaModFix/>
          </a:blip>
          <a:srcRect b="0" l="0" r="0" t="0"/>
          <a:stretch/>
        </p:blipFill>
        <p:spPr>
          <a:xfrm>
            <a:off x="7519988" y="1757363"/>
            <a:ext cx="771600" cy="2486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18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7519988" y="2376488"/>
            <a:ext cx="771600" cy="1866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18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7519988" y="2995613"/>
            <a:ext cx="771600" cy="124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519988" y="3614738"/>
            <a:ext cx="771600" cy="6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24750" y="4233863"/>
            <a:ext cx="762000" cy="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18"/>
          <p:cNvSpPr/>
          <p:nvPr/>
        </p:nvSpPr>
        <p:spPr>
          <a:xfrm>
            <a:off x="5953125" y="1714500"/>
            <a:ext cx="95400" cy="9540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8"/>
          <p:cNvSpPr/>
          <p:nvPr/>
        </p:nvSpPr>
        <p:spPr>
          <a:xfrm>
            <a:off x="5953125" y="2333625"/>
            <a:ext cx="95400" cy="9540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8"/>
          <p:cNvSpPr/>
          <p:nvPr/>
        </p:nvSpPr>
        <p:spPr>
          <a:xfrm>
            <a:off x="5953125" y="2952750"/>
            <a:ext cx="95400" cy="9540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8"/>
          <p:cNvSpPr/>
          <p:nvPr/>
        </p:nvSpPr>
        <p:spPr>
          <a:xfrm>
            <a:off x="5953125" y="3571875"/>
            <a:ext cx="95400" cy="9540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18"/>
          <p:cNvSpPr/>
          <p:nvPr/>
        </p:nvSpPr>
        <p:spPr>
          <a:xfrm>
            <a:off x="5953125" y="4191000"/>
            <a:ext cx="95400" cy="9540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8"/>
          <p:cNvSpPr/>
          <p:nvPr/>
        </p:nvSpPr>
        <p:spPr>
          <a:xfrm>
            <a:off x="6724650" y="1724025"/>
            <a:ext cx="76200" cy="76200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8"/>
          <p:cNvSpPr/>
          <p:nvPr/>
        </p:nvSpPr>
        <p:spPr>
          <a:xfrm>
            <a:off x="6724650" y="2133600"/>
            <a:ext cx="76200" cy="76200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8"/>
          <p:cNvSpPr/>
          <p:nvPr/>
        </p:nvSpPr>
        <p:spPr>
          <a:xfrm>
            <a:off x="6724650" y="2543175"/>
            <a:ext cx="76200" cy="76200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8"/>
          <p:cNvSpPr/>
          <p:nvPr/>
        </p:nvSpPr>
        <p:spPr>
          <a:xfrm>
            <a:off x="6724650" y="2952750"/>
            <a:ext cx="76200" cy="76200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18"/>
          <p:cNvSpPr/>
          <p:nvPr/>
        </p:nvSpPr>
        <p:spPr>
          <a:xfrm>
            <a:off x="6724650" y="3362325"/>
            <a:ext cx="76200" cy="76200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8"/>
          <p:cNvSpPr/>
          <p:nvPr/>
        </p:nvSpPr>
        <p:spPr>
          <a:xfrm>
            <a:off x="6724650" y="3771900"/>
            <a:ext cx="76200" cy="76200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8"/>
          <p:cNvSpPr/>
          <p:nvPr/>
        </p:nvSpPr>
        <p:spPr>
          <a:xfrm>
            <a:off x="6724650" y="4181475"/>
            <a:ext cx="76200" cy="76200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8"/>
          <p:cNvSpPr/>
          <p:nvPr/>
        </p:nvSpPr>
        <p:spPr>
          <a:xfrm>
            <a:off x="7486650" y="1724025"/>
            <a:ext cx="76200" cy="76200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8"/>
          <p:cNvSpPr/>
          <p:nvPr/>
        </p:nvSpPr>
        <p:spPr>
          <a:xfrm>
            <a:off x="7486650" y="2219325"/>
            <a:ext cx="76200" cy="76200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8"/>
          <p:cNvSpPr/>
          <p:nvPr/>
        </p:nvSpPr>
        <p:spPr>
          <a:xfrm>
            <a:off x="7486650" y="2714625"/>
            <a:ext cx="76200" cy="76200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8"/>
          <p:cNvSpPr/>
          <p:nvPr/>
        </p:nvSpPr>
        <p:spPr>
          <a:xfrm>
            <a:off x="7486650" y="3209925"/>
            <a:ext cx="76200" cy="76200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8"/>
          <p:cNvSpPr/>
          <p:nvPr/>
        </p:nvSpPr>
        <p:spPr>
          <a:xfrm>
            <a:off x="7486650" y="3705225"/>
            <a:ext cx="76200" cy="76200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18"/>
          <p:cNvSpPr/>
          <p:nvPr/>
        </p:nvSpPr>
        <p:spPr>
          <a:xfrm>
            <a:off x="7486650" y="4200525"/>
            <a:ext cx="76200" cy="76200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8"/>
          <p:cNvSpPr/>
          <p:nvPr/>
        </p:nvSpPr>
        <p:spPr>
          <a:xfrm>
            <a:off x="8239125" y="1714500"/>
            <a:ext cx="95400" cy="9540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8"/>
          <p:cNvSpPr/>
          <p:nvPr/>
        </p:nvSpPr>
        <p:spPr>
          <a:xfrm>
            <a:off x="8239125" y="2333625"/>
            <a:ext cx="95400" cy="9540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8"/>
          <p:cNvSpPr/>
          <p:nvPr/>
        </p:nvSpPr>
        <p:spPr>
          <a:xfrm>
            <a:off x="8239125" y="2952750"/>
            <a:ext cx="95400" cy="9540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8"/>
          <p:cNvSpPr/>
          <p:nvPr/>
        </p:nvSpPr>
        <p:spPr>
          <a:xfrm>
            <a:off x="8239125" y="3571875"/>
            <a:ext cx="95400" cy="9540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8"/>
          <p:cNvSpPr/>
          <p:nvPr/>
        </p:nvSpPr>
        <p:spPr>
          <a:xfrm>
            <a:off x="8239125" y="4191000"/>
            <a:ext cx="95400" cy="9540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1" name="Google Shape;321;p19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322" name="Google Shape;322;p19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23" name="Google Shape;323;p19"/>
            <p:cNvGrpSpPr/>
            <p:nvPr/>
          </p:nvGrpSpPr>
          <p:grpSpPr>
            <a:xfrm>
              <a:off x="0" y="0"/>
              <a:ext cx="9144000" cy="76350"/>
              <a:chOff x="0" y="0"/>
              <a:chExt cx="9144000" cy="76350"/>
            </a:xfrm>
          </p:grpSpPr>
          <p:sp>
            <p:nvSpPr>
              <p:cNvPr id="324" name="Google Shape;324;p19"/>
              <p:cNvSpPr/>
              <p:nvPr/>
            </p:nvSpPr>
            <p:spPr>
              <a:xfrm>
                <a:off x="0" y="0"/>
                <a:ext cx="9144000" cy="57300"/>
              </a:xfrm>
              <a:prstGeom prst="rect">
                <a:avLst/>
              </a:prstGeom>
              <a:solidFill>
                <a:srgbClr val="0284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5" name="Google Shape;325;p19"/>
              <p:cNvSpPr/>
              <p:nvPr/>
            </p:nvSpPr>
            <p:spPr>
              <a:xfrm>
                <a:off x="0" y="57150"/>
                <a:ext cx="1143000" cy="19200"/>
              </a:xfrm>
              <a:prstGeom prst="rect">
                <a:avLst/>
              </a:prstGeom>
              <a:solidFill>
                <a:srgbClr val="0369A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pic>
          <p:nvPicPr>
            <p:cNvPr id="326" name="Google Shape;326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8191500" y="190500"/>
              <a:ext cx="495300" cy="4953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7" name="Google Shape;327;p19"/>
          <p:cNvSpPr txBox="1"/>
          <p:nvPr/>
        </p:nvSpPr>
        <p:spPr>
          <a:xfrm>
            <a:off x="381000" y="38100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Model Training &amp; Hyperparameters</a:t>
            </a:r>
            <a:endParaRPr b="1" sz="240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328" name="Google Shape;328;p19"/>
          <p:cNvGrpSpPr/>
          <p:nvPr/>
        </p:nvGrpSpPr>
        <p:grpSpPr>
          <a:xfrm>
            <a:off x="381000" y="1143000"/>
            <a:ext cx="8382000" cy="3048150"/>
            <a:chOff x="381000" y="1143000"/>
            <a:chExt cx="8382000" cy="3048150"/>
          </a:xfrm>
        </p:grpSpPr>
        <p:grpSp>
          <p:nvGrpSpPr>
            <p:cNvPr id="329" name="Google Shape;329;p19"/>
            <p:cNvGrpSpPr/>
            <p:nvPr/>
          </p:nvGrpSpPr>
          <p:grpSpPr>
            <a:xfrm>
              <a:off x="381000" y="1143000"/>
              <a:ext cx="4000500" cy="1428900"/>
              <a:chOff x="381000" y="1143000"/>
              <a:chExt cx="4000500" cy="1428900"/>
            </a:xfrm>
          </p:grpSpPr>
          <p:sp>
            <p:nvSpPr>
              <p:cNvPr id="330" name="Google Shape;330;p19"/>
              <p:cNvSpPr/>
              <p:nvPr/>
            </p:nvSpPr>
            <p:spPr>
              <a:xfrm>
                <a:off x="381000" y="1143000"/>
                <a:ext cx="4000500" cy="1428900"/>
              </a:xfrm>
              <a:prstGeom prst="rect">
                <a:avLst/>
              </a:prstGeom>
              <a:solidFill>
                <a:srgbClr val="F4F6F8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1" name="Google Shape;331;p19"/>
              <p:cNvSpPr/>
              <p:nvPr/>
            </p:nvSpPr>
            <p:spPr>
              <a:xfrm>
                <a:off x="381000" y="1143000"/>
                <a:ext cx="38100" cy="1428900"/>
              </a:xfrm>
              <a:prstGeom prst="rect">
                <a:avLst/>
              </a:prstGeom>
              <a:solidFill>
                <a:srgbClr val="0284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2" name="Google Shape;332;p19"/>
              <p:cNvSpPr txBox="1"/>
              <p:nvPr/>
            </p:nvSpPr>
            <p:spPr>
              <a:xfrm>
                <a:off x="609600" y="1295400"/>
                <a:ext cx="3581400" cy="1124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200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Dataset Scale &amp; Scope</a:t>
                </a:r>
                <a:endParaRPr b="0" sz="120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0" lang="en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Encompasses </a:t>
                </a:r>
                <a:r>
                  <a:rPr b="0" lang="en" sz="1050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500,000</a:t>
                </a:r>
                <a:r>
                  <a:rPr b="0" lang="en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training samples across </a:t>
                </a:r>
                <a:r>
                  <a:rPr b="0" lang="en" sz="1050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500</a:t>
                </a:r>
                <a:r>
                  <a:rPr b="0" lang="en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episodes, with </a:t>
                </a:r>
                <a:r>
                  <a:rPr b="0" lang="en" sz="1050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1,000</a:t>
                </a:r>
                <a:r>
                  <a:rPr b="0" lang="en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steps per episode in an environment configured for a </a:t>
                </a:r>
                <a:r>
                  <a:rPr b="0" lang="en" sz="1050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20%</a:t>
                </a:r>
                <a:r>
                  <a:rPr b="0" lang="en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fault probability.</a:t>
                </a:r>
                <a:endParaRPr b="0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33" name="Google Shape;333;p19"/>
            <p:cNvGrpSpPr/>
            <p:nvPr/>
          </p:nvGrpSpPr>
          <p:grpSpPr>
            <a:xfrm>
              <a:off x="4762500" y="1143000"/>
              <a:ext cx="4000500" cy="1428900"/>
              <a:chOff x="4762500" y="1143000"/>
              <a:chExt cx="4000500" cy="1428900"/>
            </a:xfrm>
          </p:grpSpPr>
          <p:sp>
            <p:nvSpPr>
              <p:cNvPr id="334" name="Google Shape;334;p19"/>
              <p:cNvSpPr/>
              <p:nvPr/>
            </p:nvSpPr>
            <p:spPr>
              <a:xfrm>
                <a:off x="4762500" y="1143000"/>
                <a:ext cx="4000500" cy="1428900"/>
              </a:xfrm>
              <a:prstGeom prst="rect">
                <a:avLst/>
              </a:prstGeom>
              <a:solidFill>
                <a:srgbClr val="F4F6F8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5" name="Google Shape;335;p19"/>
              <p:cNvSpPr/>
              <p:nvPr/>
            </p:nvSpPr>
            <p:spPr>
              <a:xfrm>
                <a:off x="4762500" y="1143000"/>
                <a:ext cx="38100" cy="1428900"/>
              </a:xfrm>
              <a:prstGeom prst="rect">
                <a:avLst/>
              </a:prstGeom>
              <a:solidFill>
                <a:srgbClr val="0284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6" name="Google Shape;336;p19"/>
              <p:cNvSpPr txBox="1"/>
              <p:nvPr/>
            </p:nvSpPr>
            <p:spPr>
              <a:xfrm>
                <a:off x="4991100" y="1295400"/>
                <a:ext cx="3581400" cy="1124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200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Exploration Strategy</a:t>
                </a:r>
                <a:endParaRPr b="0" sz="120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0" lang="en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Employs an </a:t>
                </a:r>
                <a:r>
                  <a:rPr b="0" lang="en" sz="1050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epsilon-greedy</a:t>
                </a:r>
                <a:r>
                  <a:rPr b="0" lang="en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exploration strategy, dynamically decaying the exploration rate from an initial </a:t>
                </a:r>
                <a:r>
                  <a:rPr b="0" lang="en" sz="1050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1.0</a:t>
                </a:r>
                <a:r>
                  <a:rPr b="0" lang="en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down to a baseline of </a:t>
                </a:r>
                <a:r>
                  <a:rPr b="0" lang="en" sz="1050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0.01</a:t>
                </a:r>
                <a:r>
                  <a:rPr b="0" lang="en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.</a:t>
                </a:r>
                <a:endParaRPr b="0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37" name="Google Shape;337;p19"/>
            <p:cNvGrpSpPr/>
            <p:nvPr/>
          </p:nvGrpSpPr>
          <p:grpSpPr>
            <a:xfrm>
              <a:off x="381000" y="2762250"/>
              <a:ext cx="4000500" cy="1428900"/>
              <a:chOff x="381000" y="2762250"/>
              <a:chExt cx="4000500" cy="1428900"/>
            </a:xfrm>
          </p:grpSpPr>
          <p:sp>
            <p:nvSpPr>
              <p:cNvPr id="338" name="Google Shape;338;p19"/>
              <p:cNvSpPr/>
              <p:nvPr/>
            </p:nvSpPr>
            <p:spPr>
              <a:xfrm>
                <a:off x="381000" y="2762250"/>
                <a:ext cx="4000500" cy="1428900"/>
              </a:xfrm>
              <a:prstGeom prst="rect">
                <a:avLst/>
              </a:prstGeom>
              <a:solidFill>
                <a:srgbClr val="F4F6F8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9" name="Google Shape;339;p19"/>
              <p:cNvSpPr/>
              <p:nvPr/>
            </p:nvSpPr>
            <p:spPr>
              <a:xfrm>
                <a:off x="381000" y="2762250"/>
                <a:ext cx="38100" cy="1428900"/>
              </a:xfrm>
              <a:prstGeom prst="rect">
                <a:avLst/>
              </a:prstGeom>
              <a:solidFill>
                <a:srgbClr val="0284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0" name="Google Shape;340;p19"/>
              <p:cNvSpPr txBox="1"/>
              <p:nvPr/>
            </p:nvSpPr>
            <p:spPr>
              <a:xfrm>
                <a:off x="609600" y="2914650"/>
                <a:ext cx="3581400" cy="1124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200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Key Hyperparameters</a:t>
                </a:r>
                <a:endParaRPr b="0" sz="120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0" lang="en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Configured with a replay buffer of </a:t>
                </a:r>
                <a:r>
                  <a:rPr b="0" lang="en" sz="1050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50,000</a:t>
                </a:r>
                <a:r>
                  <a:rPr b="0" lang="en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transitions, a batch size of </a:t>
                </a:r>
                <a:r>
                  <a:rPr b="0" lang="en" sz="1050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64</a:t>
                </a:r>
                <a:r>
                  <a:rPr b="0" lang="en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, a discount factor (Gamma) of </a:t>
                </a:r>
                <a:r>
                  <a:rPr b="0" lang="en" sz="1050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0.99</a:t>
                </a:r>
                <a:r>
                  <a:rPr b="0" lang="en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, and a learning rate of </a:t>
                </a:r>
                <a:r>
                  <a:rPr b="0" lang="en" sz="1050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0.001</a:t>
                </a:r>
                <a:r>
                  <a:rPr b="0" lang="en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.</a:t>
                </a:r>
                <a:endParaRPr b="0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41" name="Google Shape;341;p19"/>
            <p:cNvGrpSpPr/>
            <p:nvPr/>
          </p:nvGrpSpPr>
          <p:grpSpPr>
            <a:xfrm>
              <a:off x="4762500" y="2762250"/>
              <a:ext cx="4000500" cy="1428900"/>
              <a:chOff x="4762500" y="2762250"/>
              <a:chExt cx="4000500" cy="1428900"/>
            </a:xfrm>
          </p:grpSpPr>
          <p:sp>
            <p:nvSpPr>
              <p:cNvPr id="342" name="Google Shape;342;p19"/>
              <p:cNvSpPr/>
              <p:nvPr/>
            </p:nvSpPr>
            <p:spPr>
              <a:xfrm>
                <a:off x="4762500" y="2762250"/>
                <a:ext cx="4000500" cy="1428900"/>
              </a:xfrm>
              <a:prstGeom prst="rect">
                <a:avLst/>
              </a:prstGeom>
              <a:solidFill>
                <a:srgbClr val="F4F6F8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" name="Google Shape;343;p19"/>
              <p:cNvSpPr/>
              <p:nvPr/>
            </p:nvSpPr>
            <p:spPr>
              <a:xfrm>
                <a:off x="4762500" y="2762250"/>
                <a:ext cx="38100" cy="1428900"/>
              </a:xfrm>
              <a:prstGeom prst="rect">
                <a:avLst/>
              </a:prstGeom>
              <a:solidFill>
                <a:srgbClr val="0284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4" name="Google Shape;344;p19"/>
              <p:cNvSpPr txBox="1"/>
              <p:nvPr/>
            </p:nvSpPr>
            <p:spPr>
              <a:xfrm>
                <a:off x="4991100" y="2914650"/>
                <a:ext cx="3581400" cy="1124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200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Core Baseline &amp; Import</a:t>
                </a:r>
                <a:endParaRPr b="0" sz="120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0" lang="en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Directly imports the </a:t>
                </a:r>
                <a:r>
                  <a:rPr b="0" lang="en" sz="1050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DQN class</a:t>
                </a:r>
                <a:r>
                  <a:rPr b="0" lang="en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and training loops from the base </a:t>
                </a:r>
                <a:r>
                  <a:rPr b="0" lang="en" sz="1050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IEEE PES semantic IoT paper</a:t>
                </a:r>
                <a:r>
                  <a:rPr b="0" lang="en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, updating the target network every </a:t>
                </a:r>
                <a:r>
                  <a:rPr b="0" lang="en" sz="1050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10</a:t>
                </a:r>
                <a:r>
                  <a:rPr b="0" lang="en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episodes.</a:t>
                </a:r>
                <a:endParaRPr b="0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9" name="Google Shape;349;p20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350" name="Google Shape;350;p20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51" name="Google Shape;351;p20"/>
            <p:cNvGrpSpPr/>
            <p:nvPr/>
          </p:nvGrpSpPr>
          <p:grpSpPr>
            <a:xfrm>
              <a:off x="0" y="0"/>
              <a:ext cx="9144000" cy="76350"/>
              <a:chOff x="0" y="0"/>
              <a:chExt cx="9144000" cy="76350"/>
            </a:xfrm>
          </p:grpSpPr>
          <p:sp>
            <p:nvSpPr>
              <p:cNvPr id="352" name="Google Shape;352;p20"/>
              <p:cNvSpPr/>
              <p:nvPr/>
            </p:nvSpPr>
            <p:spPr>
              <a:xfrm>
                <a:off x="0" y="0"/>
                <a:ext cx="9144000" cy="57300"/>
              </a:xfrm>
              <a:prstGeom prst="rect">
                <a:avLst/>
              </a:prstGeom>
              <a:solidFill>
                <a:srgbClr val="0284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3" name="Google Shape;353;p20"/>
              <p:cNvSpPr/>
              <p:nvPr/>
            </p:nvSpPr>
            <p:spPr>
              <a:xfrm>
                <a:off x="0" y="57150"/>
                <a:ext cx="1143000" cy="19200"/>
              </a:xfrm>
              <a:prstGeom prst="rect">
                <a:avLst/>
              </a:prstGeom>
              <a:solidFill>
                <a:srgbClr val="0369A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pic>
          <p:nvPicPr>
            <p:cNvPr id="354" name="Google Shape;354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8191500" y="190500"/>
              <a:ext cx="495300" cy="4953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55" name="Google Shape;355;p20"/>
          <p:cNvSpPr txBox="1"/>
          <p:nvPr/>
        </p:nvSpPr>
        <p:spPr>
          <a:xfrm>
            <a:off x="381000" y="38100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Symmetric Reward Function</a:t>
            </a:r>
            <a:endParaRPr b="1" sz="240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356" name="Google Shape;356;p20"/>
          <p:cNvGrpSpPr/>
          <p:nvPr/>
        </p:nvGrpSpPr>
        <p:grpSpPr>
          <a:xfrm>
            <a:off x="381000" y="1095375"/>
            <a:ext cx="8382000" cy="2762400"/>
            <a:chOff x="381000" y="1095375"/>
            <a:chExt cx="8382000" cy="2762400"/>
          </a:xfrm>
        </p:grpSpPr>
        <p:sp>
          <p:nvSpPr>
            <p:cNvPr id="357" name="Google Shape;357;p20"/>
            <p:cNvSpPr/>
            <p:nvPr/>
          </p:nvSpPr>
          <p:spPr>
            <a:xfrm>
              <a:off x="381000" y="1095375"/>
              <a:ext cx="4000500" cy="27624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10B98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" name="Google Shape;358;p20"/>
            <p:cNvSpPr/>
            <p:nvPr/>
          </p:nvSpPr>
          <p:spPr>
            <a:xfrm>
              <a:off x="381000" y="1095375"/>
              <a:ext cx="4000500" cy="3810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20"/>
            <p:cNvSpPr txBox="1"/>
            <p:nvPr/>
          </p:nvSpPr>
          <p:spPr>
            <a:xfrm>
              <a:off x="571500" y="1095375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POSITIVE REWARDS &amp; STATE MAINTENANCE</a:t>
              </a:r>
              <a:endParaRPr b="0" sz="75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360" name="Google Shape;360;p20"/>
            <p:cNvSpPr txBox="1"/>
            <p:nvPr/>
          </p:nvSpPr>
          <p:spPr>
            <a:xfrm>
              <a:off x="571500" y="1666875"/>
              <a:ext cx="3619500" cy="20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10B981"/>
                  </a:solidFill>
                  <a:latin typeface="Inter"/>
                  <a:ea typeface="Inter"/>
                  <a:cs typeface="Inter"/>
                  <a:sym typeface="Inter"/>
                </a:rPr>
                <a:t>•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b="0" lang="en" sz="105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Nominal State Support: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Rewards Nominal Voltage </a:t>
              </a:r>
              <a:r>
                <a:rPr b="1" lang="en" sz="1050">
                  <a:solidFill>
                    <a:srgbClr val="10B981"/>
                  </a:solidFill>
                  <a:latin typeface="Inter"/>
                  <a:ea typeface="Inter"/>
                  <a:cs typeface="Inter"/>
                  <a:sym typeface="Inter"/>
                </a:rPr>
                <a:t>(+1.0)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and Nominal Frequency </a:t>
              </a:r>
              <a:r>
                <a:rPr b="1" lang="en" sz="1050">
                  <a:solidFill>
                    <a:srgbClr val="10B981"/>
                  </a:solidFill>
                  <a:latin typeface="Inter"/>
                  <a:ea typeface="Inter"/>
                  <a:cs typeface="Inter"/>
                  <a:sym typeface="Inter"/>
                </a:rPr>
                <a:t>(+0.5)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10B981"/>
                  </a:solidFill>
                  <a:latin typeface="Inter"/>
                  <a:ea typeface="Inter"/>
                  <a:cs typeface="Inter"/>
                  <a:sym typeface="Inter"/>
                </a:rPr>
                <a:t>•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b="0" lang="en" sz="105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Fault Intervention: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Heavily rewards active, correct interventions </a:t>
              </a:r>
              <a:r>
                <a:rPr b="1" lang="en" sz="1050">
                  <a:solidFill>
                    <a:srgbClr val="10B981"/>
                  </a:solidFill>
                  <a:latin typeface="Inter"/>
                  <a:ea typeface="Inter"/>
                  <a:cs typeface="Inter"/>
                  <a:sym typeface="Inter"/>
                </a:rPr>
                <a:t>(+3.0)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during grid faults.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10B981"/>
                  </a:solidFill>
                  <a:latin typeface="Inter"/>
                  <a:ea typeface="Inter"/>
                  <a:cs typeface="Inter"/>
                  <a:sym typeface="Inter"/>
                </a:rPr>
                <a:t>•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b="0" lang="en" sz="105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Correct Inaction: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Rewards correct inaction </a:t>
              </a:r>
              <a:r>
                <a:rPr b="1" lang="en" sz="1050">
                  <a:solidFill>
                    <a:srgbClr val="10B981"/>
                  </a:solidFill>
                  <a:latin typeface="Inter"/>
                  <a:ea typeface="Inter"/>
                  <a:cs typeface="Inter"/>
                  <a:sym typeface="Inter"/>
                </a:rPr>
                <a:t>(+2.0)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during normal operational states.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61" name="Google Shape;361;p20"/>
            <p:cNvSpPr/>
            <p:nvPr/>
          </p:nvSpPr>
          <p:spPr>
            <a:xfrm>
              <a:off x="4762500" y="1095375"/>
              <a:ext cx="4000500" cy="27624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EF444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20"/>
            <p:cNvSpPr/>
            <p:nvPr/>
          </p:nvSpPr>
          <p:spPr>
            <a:xfrm>
              <a:off x="4762500" y="1095375"/>
              <a:ext cx="4000500" cy="381000"/>
            </a:xfrm>
            <a:prstGeom prst="rect">
              <a:avLst/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20"/>
            <p:cNvSpPr txBox="1"/>
            <p:nvPr/>
          </p:nvSpPr>
          <p:spPr>
            <a:xfrm>
              <a:off x="4953000" y="1095375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STRICT SYMMETRIC PENALTIES</a:t>
              </a:r>
              <a:endParaRPr b="0" sz="75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364" name="Google Shape;364;p20"/>
            <p:cNvSpPr txBox="1"/>
            <p:nvPr/>
          </p:nvSpPr>
          <p:spPr>
            <a:xfrm>
              <a:off x="4953000" y="1666875"/>
              <a:ext cx="3619500" cy="20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EF4444"/>
                  </a:solidFill>
                  <a:latin typeface="Inter"/>
                  <a:ea typeface="Inter"/>
                  <a:cs typeface="Inter"/>
                  <a:sym typeface="Inter"/>
                </a:rPr>
                <a:t>•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b="0" lang="en" sz="105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Thermal Deviations: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Penalizes extreme temperature states </a:t>
              </a:r>
              <a:r>
                <a:rPr b="1" lang="en" sz="1050">
                  <a:solidFill>
                    <a:srgbClr val="EF4444"/>
                  </a:solidFill>
                  <a:latin typeface="Inter"/>
                  <a:ea typeface="Inter"/>
                  <a:cs typeface="Inter"/>
                  <a:sym typeface="Inter"/>
                </a:rPr>
                <a:t>(-1.0)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EF4444"/>
                  </a:solidFill>
                  <a:latin typeface="Inter"/>
                  <a:ea typeface="Inter"/>
                  <a:cs typeface="Inter"/>
                  <a:sym typeface="Inter"/>
                </a:rPr>
                <a:t>•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b="0" lang="en" sz="105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Active Grid Ignoring: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Ignoring faults or executing wrong actions incurs severe penalties </a:t>
              </a:r>
              <a:r>
                <a:rPr b="1" lang="en" sz="1050">
                  <a:solidFill>
                    <a:srgbClr val="EF4444"/>
                  </a:solidFill>
                  <a:latin typeface="Inter"/>
                  <a:ea typeface="Inter"/>
                  <a:cs typeface="Inter"/>
                  <a:sym typeface="Inter"/>
                </a:rPr>
                <a:t>(-3.0)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EF4444"/>
                  </a:solidFill>
                  <a:latin typeface="Inter"/>
                  <a:ea typeface="Inter"/>
                  <a:cs typeface="Inter"/>
                  <a:sym typeface="Inter"/>
                </a:rPr>
                <a:t>•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b="0" lang="en" sz="105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Unnecessary Actions: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Penalizes unnecessary interventions </a:t>
              </a:r>
              <a:r>
                <a:rPr b="1" lang="en" sz="1050">
                  <a:solidFill>
                    <a:srgbClr val="EF4444"/>
                  </a:solidFill>
                  <a:latin typeface="Inter"/>
                  <a:ea typeface="Inter"/>
                  <a:cs typeface="Inter"/>
                  <a:sym typeface="Inter"/>
                </a:rPr>
                <a:t>(-1.0)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during normal states.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65" name="Google Shape;365;p20"/>
          <p:cNvGrpSpPr/>
          <p:nvPr/>
        </p:nvGrpSpPr>
        <p:grpSpPr>
          <a:xfrm>
            <a:off x="381000" y="4048125"/>
            <a:ext cx="8382000" cy="714300"/>
            <a:chOff x="381000" y="4048125"/>
            <a:chExt cx="8382000" cy="714300"/>
          </a:xfrm>
        </p:grpSpPr>
        <p:sp>
          <p:nvSpPr>
            <p:cNvPr id="366" name="Google Shape;366;p20"/>
            <p:cNvSpPr/>
            <p:nvPr/>
          </p:nvSpPr>
          <p:spPr>
            <a:xfrm>
              <a:off x="381000" y="4048125"/>
              <a:ext cx="8382000" cy="714300"/>
            </a:xfrm>
            <a:prstGeom prst="roundRect">
              <a:avLst>
                <a:gd fmla="val 5333" name="adj"/>
              </a:avLst>
            </a:prstGeom>
            <a:solidFill>
              <a:srgbClr val="E0F2FE"/>
            </a:solidFill>
            <a:ln cap="flat" cmpd="sng" w="9525">
              <a:solidFill>
                <a:srgbClr val="0284C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20"/>
            <p:cNvSpPr/>
            <p:nvPr/>
          </p:nvSpPr>
          <p:spPr>
            <a:xfrm>
              <a:off x="381000" y="4048125"/>
              <a:ext cx="38100" cy="7143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20"/>
            <p:cNvSpPr txBox="1"/>
            <p:nvPr/>
          </p:nvSpPr>
          <p:spPr>
            <a:xfrm>
              <a:off x="571500" y="4048125"/>
              <a:ext cx="80010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Crucial Design Rationale:</a:t>
              </a:r>
              <a:r>
                <a:rPr b="0" lang="en" sz="1013">
                  <a:solidFill>
                    <a:srgbClr val="0369A1"/>
                  </a:solidFill>
                  <a:latin typeface="Inter"/>
                  <a:ea typeface="Inter"/>
                  <a:cs typeface="Inter"/>
                  <a:sym typeface="Inter"/>
                </a:rPr>
                <a:t> Without this symmetric penalty design, the reinforcement learning agent defaults to </a:t>
              </a:r>
              <a:r>
                <a:rPr b="0" lang="en" sz="105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'no_action'</a:t>
              </a:r>
              <a:r>
                <a:rPr b="0" lang="en" sz="1013">
                  <a:solidFill>
                    <a:srgbClr val="0369A1"/>
                  </a:solidFill>
                  <a:latin typeface="Inter"/>
                  <a:ea typeface="Inter"/>
                  <a:cs typeface="Inter"/>
                  <a:sym typeface="Inter"/>
                </a:rPr>
                <a:t> as a universally safe behavior. The symmetric penalty architecture successfully forces active grid intervention when required.</a:t>
              </a:r>
              <a:endParaRPr b="0" sz="1013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74" name="Google Shape;374;p21"/>
          <p:cNvGrpSpPr/>
          <p:nvPr/>
        </p:nvGrpSpPr>
        <p:grpSpPr>
          <a:xfrm>
            <a:off x="0" y="0"/>
            <a:ext cx="9144000" cy="76350"/>
            <a:chOff x="0" y="0"/>
            <a:chExt cx="9144000" cy="76350"/>
          </a:xfrm>
        </p:grpSpPr>
        <p:sp>
          <p:nvSpPr>
            <p:cNvPr id="375" name="Google Shape;375;p21"/>
            <p:cNvSpPr/>
            <p:nvPr/>
          </p:nvSpPr>
          <p:spPr>
            <a:xfrm>
              <a:off x="0" y="0"/>
              <a:ext cx="9144000" cy="573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21"/>
            <p:cNvSpPr/>
            <p:nvPr/>
          </p:nvSpPr>
          <p:spPr>
            <a:xfrm>
              <a:off x="0" y="57150"/>
              <a:ext cx="1143000" cy="19200"/>
            </a:xfrm>
            <a:prstGeom prst="rect">
              <a:avLst/>
            </a:prstGeom>
            <a:solidFill>
              <a:srgbClr val="0369A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377" name="Google Shape;377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1500" y="190500"/>
            <a:ext cx="495300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21"/>
          <p:cNvSpPr txBox="1"/>
          <p:nvPr/>
        </p:nvSpPr>
        <p:spPr>
          <a:xfrm>
            <a:off x="381000" y="38100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Security Architecture &amp; 5 Gates</a:t>
            </a:r>
            <a:endParaRPr b="1" sz="240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379" name="Google Shape;379;p21"/>
          <p:cNvGrpSpPr/>
          <p:nvPr/>
        </p:nvGrpSpPr>
        <p:grpSpPr>
          <a:xfrm>
            <a:off x="381000" y="1047750"/>
            <a:ext cx="8382000" cy="647700"/>
            <a:chOff x="381000" y="1047750"/>
            <a:chExt cx="8382000" cy="647700"/>
          </a:xfrm>
        </p:grpSpPr>
        <p:sp>
          <p:nvSpPr>
            <p:cNvPr id="380" name="Google Shape;380;p21"/>
            <p:cNvSpPr/>
            <p:nvPr/>
          </p:nvSpPr>
          <p:spPr>
            <a:xfrm>
              <a:off x="381000" y="1047750"/>
              <a:ext cx="8382000" cy="647700"/>
            </a:xfrm>
            <a:prstGeom prst="roundRect">
              <a:avLst>
                <a:gd fmla="val 0" name="adj"/>
              </a:avLst>
            </a:prstGeom>
            <a:solidFill>
              <a:srgbClr val="F4F6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" name="Google Shape;381;p21"/>
            <p:cNvSpPr/>
            <p:nvPr/>
          </p:nvSpPr>
          <p:spPr>
            <a:xfrm>
              <a:off x="605790" y="1257300"/>
              <a:ext cx="205920" cy="251640"/>
            </a:xfrm>
            <a:custGeom>
              <a:rect b="b" l="l" r="r" t="t"/>
              <a:pathLst>
                <a:path extrusionOk="0" h="120000" w="120000">
                  <a:moveTo>
                    <a:pt x="60000" y="0"/>
                  </a:moveTo>
                  <a:lnTo>
                    <a:pt x="0" y="21818"/>
                  </a:lnTo>
                  <a:lnTo>
                    <a:pt x="0" y="54545"/>
                  </a:lnTo>
                  <a:cubicBezTo>
                    <a:pt x="0" y="84818"/>
                    <a:pt x="25600" y="113127"/>
                    <a:pt x="60000" y="120000"/>
                  </a:cubicBezTo>
                  <a:cubicBezTo>
                    <a:pt x="94400" y="113127"/>
                    <a:pt x="120000" y="84818"/>
                    <a:pt x="120000" y="54545"/>
                  </a:cubicBezTo>
                  <a:lnTo>
                    <a:pt x="120000" y="21818"/>
                  </a:lnTo>
                  <a:lnTo>
                    <a:pt x="60000" y="0"/>
                  </a:lnTo>
                  <a:close/>
                  <a:moveTo>
                    <a:pt x="60000" y="11891"/>
                  </a:moveTo>
                  <a:lnTo>
                    <a:pt x="106667" y="28855"/>
                  </a:lnTo>
                  <a:lnTo>
                    <a:pt x="106667" y="54545"/>
                  </a:lnTo>
                  <a:cubicBezTo>
                    <a:pt x="106667" y="78218"/>
                    <a:pt x="87867" y="100145"/>
                    <a:pt x="60000" y="108109"/>
                  </a:cubicBezTo>
                  <a:cubicBezTo>
                    <a:pt x="32133" y="100145"/>
                    <a:pt x="13333" y="78218"/>
                    <a:pt x="13333" y="54545"/>
                  </a:cubicBezTo>
                  <a:lnTo>
                    <a:pt x="13333" y="28855"/>
                  </a:lnTo>
                  <a:lnTo>
                    <a:pt x="60000" y="11891"/>
                  </a:lnTo>
                  <a:close/>
                </a:path>
              </a:pathLst>
            </a:cu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" name="Google Shape;382;p21"/>
            <p:cNvSpPr txBox="1"/>
            <p:nvPr/>
          </p:nvSpPr>
          <p:spPr>
            <a:xfrm>
              <a:off x="1047750" y="1047750"/>
              <a:ext cx="75249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Gate 1 (mTLS):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Enforces mTLS authentication using unique X.509 certificates per device.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83" name="Google Shape;383;p21"/>
          <p:cNvGrpSpPr/>
          <p:nvPr/>
        </p:nvGrpSpPr>
        <p:grpSpPr>
          <a:xfrm>
            <a:off x="381000" y="1790700"/>
            <a:ext cx="8382000" cy="647700"/>
            <a:chOff x="381000" y="1790700"/>
            <a:chExt cx="8382000" cy="647700"/>
          </a:xfrm>
        </p:grpSpPr>
        <p:sp>
          <p:nvSpPr>
            <p:cNvPr id="384" name="Google Shape;384;p21"/>
            <p:cNvSpPr/>
            <p:nvPr/>
          </p:nvSpPr>
          <p:spPr>
            <a:xfrm>
              <a:off x="381000" y="1790700"/>
              <a:ext cx="8382000" cy="647700"/>
            </a:xfrm>
            <a:prstGeom prst="roundRect">
              <a:avLst>
                <a:gd fmla="val 0" name="adj"/>
              </a:avLst>
            </a:prstGeom>
            <a:solidFill>
              <a:srgbClr val="F4F6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" name="Google Shape;385;p21"/>
            <p:cNvSpPr/>
            <p:nvPr/>
          </p:nvSpPr>
          <p:spPr>
            <a:xfrm>
              <a:off x="605790" y="2000250"/>
              <a:ext cx="205920" cy="251640"/>
            </a:xfrm>
            <a:custGeom>
              <a:rect b="b" l="l" r="r" t="t"/>
              <a:pathLst>
                <a:path extrusionOk="0" h="120000" w="120000">
                  <a:moveTo>
                    <a:pt x="60000" y="0"/>
                  </a:moveTo>
                  <a:lnTo>
                    <a:pt x="0" y="21818"/>
                  </a:lnTo>
                  <a:lnTo>
                    <a:pt x="0" y="54545"/>
                  </a:lnTo>
                  <a:cubicBezTo>
                    <a:pt x="0" y="84818"/>
                    <a:pt x="25600" y="113127"/>
                    <a:pt x="60000" y="120000"/>
                  </a:cubicBezTo>
                  <a:cubicBezTo>
                    <a:pt x="94400" y="113127"/>
                    <a:pt x="120000" y="84818"/>
                    <a:pt x="120000" y="54545"/>
                  </a:cubicBezTo>
                  <a:lnTo>
                    <a:pt x="120000" y="21818"/>
                  </a:lnTo>
                  <a:lnTo>
                    <a:pt x="60000" y="0"/>
                  </a:lnTo>
                  <a:close/>
                  <a:moveTo>
                    <a:pt x="60000" y="11891"/>
                  </a:moveTo>
                  <a:lnTo>
                    <a:pt x="106667" y="28855"/>
                  </a:lnTo>
                  <a:lnTo>
                    <a:pt x="106667" y="54545"/>
                  </a:lnTo>
                  <a:cubicBezTo>
                    <a:pt x="106667" y="78218"/>
                    <a:pt x="87867" y="100145"/>
                    <a:pt x="60000" y="108109"/>
                  </a:cubicBezTo>
                  <a:cubicBezTo>
                    <a:pt x="32133" y="100145"/>
                    <a:pt x="13333" y="78218"/>
                    <a:pt x="13333" y="54545"/>
                  </a:cubicBezTo>
                  <a:lnTo>
                    <a:pt x="13333" y="28855"/>
                  </a:lnTo>
                  <a:lnTo>
                    <a:pt x="60000" y="11891"/>
                  </a:lnTo>
                  <a:close/>
                </a:path>
              </a:pathLst>
            </a:cu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" name="Google Shape;386;p21"/>
            <p:cNvSpPr txBox="1"/>
            <p:nvPr/>
          </p:nvSpPr>
          <p:spPr>
            <a:xfrm>
              <a:off x="1047750" y="1790700"/>
              <a:ext cx="75249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Gate 2 (Integrity):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Ensures payload integrity via HMAC-SHA256 signatures validated against AWS Secrets Manager.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87" name="Google Shape;387;p21"/>
          <p:cNvGrpSpPr/>
          <p:nvPr/>
        </p:nvGrpSpPr>
        <p:grpSpPr>
          <a:xfrm>
            <a:off x="381000" y="2533650"/>
            <a:ext cx="8382000" cy="647700"/>
            <a:chOff x="381000" y="2533650"/>
            <a:chExt cx="8382000" cy="647700"/>
          </a:xfrm>
        </p:grpSpPr>
        <p:sp>
          <p:nvSpPr>
            <p:cNvPr id="388" name="Google Shape;388;p21"/>
            <p:cNvSpPr/>
            <p:nvPr/>
          </p:nvSpPr>
          <p:spPr>
            <a:xfrm>
              <a:off x="381000" y="2533650"/>
              <a:ext cx="8382000" cy="647700"/>
            </a:xfrm>
            <a:prstGeom prst="roundRect">
              <a:avLst>
                <a:gd fmla="val 0" name="adj"/>
              </a:avLst>
            </a:prstGeom>
            <a:solidFill>
              <a:srgbClr val="F4F6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" name="Google Shape;389;p21"/>
            <p:cNvSpPr/>
            <p:nvPr/>
          </p:nvSpPr>
          <p:spPr>
            <a:xfrm>
              <a:off x="605790" y="2743200"/>
              <a:ext cx="205920" cy="251640"/>
            </a:xfrm>
            <a:custGeom>
              <a:rect b="b" l="l" r="r" t="t"/>
              <a:pathLst>
                <a:path extrusionOk="0" h="120000" w="120000">
                  <a:moveTo>
                    <a:pt x="60000" y="0"/>
                  </a:moveTo>
                  <a:lnTo>
                    <a:pt x="0" y="21818"/>
                  </a:lnTo>
                  <a:lnTo>
                    <a:pt x="0" y="54545"/>
                  </a:lnTo>
                  <a:cubicBezTo>
                    <a:pt x="0" y="84818"/>
                    <a:pt x="25600" y="113127"/>
                    <a:pt x="60000" y="120000"/>
                  </a:cubicBezTo>
                  <a:cubicBezTo>
                    <a:pt x="94400" y="113127"/>
                    <a:pt x="120000" y="84818"/>
                    <a:pt x="120000" y="54545"/>
                  </a:cubicBezTo>
                  <a:lnTo>
                    <a:pt x="120000" y="21818"/>
                  </a:lnTo>
                  <a:lnTo>
                    <a:pt x="60000" y="0"/>
                  </a:lnTo>
                  <a:close/>
                  <a:moveTo>
                    <a:pt x="60000" y="11891"/>
                  </a:moveTo>
                  <a:lnTo>
                    <a:pt x="106667" y="28855"/>
                  </a:lnTo>
                  <a:lnTo>
                    <a:pt x="106667" y="54545"/>
                  </a:lnTo>
                  <a:cubicBezTo>
                    <a:pt x="106667" y="78218"/>
                    <a:pt x="87867" y="100145"/>
                    <a:pt x="60000" y="108109"/>
                  </a:cubicBezTo>
                  <a:cubicBezTo>
                    <a:pt x="32133" y="100145"/>
                    <a:pt x="13333" y="78218"/>
                    <a:pt x="13333" y="54545"/>
                  </a:cubicBezTo>
                  <a:lnTo>
                    <a:pt x="13333" y="28855"/>
                  </a:lnTo>
                  <a:lnTo>
                    <a:pt x="60000" y="11891"/>
                  </a:lnTo>
                  <a:close/>
                </a:path>
              </a:pathLst>
            </a:cu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" name="Google Shape;390;p21"/>
            <p:cNvSpPr txBox="1"/>
            <p:nvPr/>
          </p:nvSpPr>
          <p:spPr>
            <a:xfrm>
              <a:off x="1047750" y="2533650"/>
              <a:ext cx="75249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Gate 3 (Replay Prevention):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Prevents replay attacks by verifying timestamps (under 60 seconds old), sequence numbers, and nonces.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91" name="Google Shape;391;p21"/>
          <p:cNvGrpSpPr/>
          <p:nvPr/>
        </p:nvGrpSpPr>
        <p:grpSpPr>
          <a:xfrm>
            <a:off x="381000" y="3276600"/>
            <a:ext cx="8382000" cy="647700"/>
            <a:chOff x="381000" y="3276600"/>
            <a:chExt cx="8382000" cy="647700"/>
          </a:xfrm>
        </p:grpSpPr>
        <p:sp>
          <p:nvSpPr>
            <p:cNvPr id="392" name="Google Shape;392;p21"/>
            <p:cNvSpPr/>
            <p:nvPr/>
          </p:nvSpPr>
          <p:spPr>
            <a:xfrm>
              <a:off x="381000" y="3276600"/>
              <a:ext cx="8382000" cy="647700"/>
            </a:xfrm>
            <a:prstGeom prst="roundRect">
              <a:avLst>
                <a:gd fmla="val 0" name="adj"/>
              </a:avLst>
            </a:prstGeom>
            <a:solidFill>
              <a:srgbClr val="F4F6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" name="Google Shape;393;p21"/>
            <p:cNvSpPr/>
            <p:nvPr/>
          </p:nvSpPr>
          <p:spPr>
            <a:xfrm>
              <a:off x="605790" y="3486150"/>
              <a:ext cx="205920" cy="251640"/>
            </a:xfrm>
            <a:custGeom>
              <a:rect b="b" l="l" r="r" t="t"/>
              <a:pathLst>
                <a:path extrusionOk="0" h="120000" w="120000">
                  <a:moveTo>
                    <a:pt x="60000" y="0"/>
                  </a:moveTo>
                  <a:lnTo>
                    <a:pt x="0" y="21818"/>
                  </a:lnTo>
                  <a:lnTo>
                    <a:pt x="0" y="54545"/>
                  </a:lnTo>
                  <a:cubicBezTo>
                    <a:pt x="0" y="84818"/>
                    <a:pt x="25600" y="113127"/>
                    <a:pt x="60000" y="120000"/>
                  </a:cubicBezTo>
                  <a:cubicBezTo>
                    <a:pt x="94400" y="113127"/>
                    <a:pt x="120000" y="84818"/>
                    <a:pt x="120000" y="54545"/>
                  </a:cubicBezTo>
                  <a:lnTo>
                    <a:pt x="120000" y="21818"/>
                  </a:lnTo>
                  <a:lnTo>
                    <a:pt x="60000" y="0"/>
                  </a:lnTo>
                  <a:close/>
                  <a:moveTo>
                    <a:pt x="60000" y="11891"/>
                  </a:moveTo>
                  <a:lnTo>
                    <a:pt x="106667" y="28855"/>
                  </a:lnTo>
                  <a:lnTo>
                    <a:pt x="106667" y="54545"/>
                  </a:lnTo>
                  <a:cubicBezTo>
                    <a:pt x="106667" y="78218"/>
                    <a:pt x="87867" y="100145"/>
                    <a:pt x="60000" y="108109"/>
                  </a:cubicBezTo>
                  <a:cubicBezTo>
                    <a:pt x="32133" y="100145"/>
                    <a:pt x="13333" y="78218"/>
                    <a:pt x="13333" y="54545"/>
                  </a:cubicBezTo>
                  <a:lnTo>
                    <a:pt x="13333" y="28855"/>
                  </a:lnTo>
                  <a:lnTo>
                    <a:pt x="60000" y="11891"/>
                  </a:lnTo>
                  <a:close/>
                </a:path>
              </a:pathLst>
            </a:cu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" name="Google Shape;394;p21"/>
            <p:cNvSpPr txBox="1"/>
            <p:nvPr/>
          </p:nvSpPr>
          <p:spPr>
            <a:xfrm>
              <a:off x="1047750" y="3276600"/>
              <a:ext cx="75249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Gate 4 (Validation &amp; Anomaly):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Provides input validation and anomaly detection, capping rates at 120 messages per minute and flagging sudden 50V jumps.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95" name="Google Shape;395;p21"/>
          <p:cNvGrpSpPr/>
          <p:nvPr/>
        </p:nvGrpSpPr>
        <p:grpSpPr>
          <a:xfrm>
            <a:off x="381000" y="4019550"/>
            <a:ext cx="8382000" cy="647700"/>
            <a:chOff x="381000" y="4019550"/>
            <a:chExt cx="8382000" cy="647700"/>
          </a:xfrm>
        </p:grpSpPr>
        <p:sp>
          <p:nvSpPr>
            <p:cNvPr id="396" name="Google Shape;396;p21"/>
            <p:cNvSpPr/>
            <p:nvPr/>
          </p:nvSpPr>
          <p:spPr>
            <a:xfrm>
              <a:off x="381000" y="4019550"/>
              <a:ext cx="8382000" cy="647700"/>
            </a:xfrm>
            <a:prstGeom prst="roundRect">
              <a:avLst>
                <a:gd fmla="val 0" name="adj"/>
              </a:avLst>
            </a:prstGeom>
            <a:solidFill>
              <a:srgbClr val="F4F6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" name="Google Shape;397;p21"/>
            <p:cNvSpPr/>
            <p:nvPr/>
          </p:nvSpPr>
          <p:spPr>
            <a:xfrm>
              <a:off x="605790" y="4229100"/>
              <a:ext cx="205920" cy="251640"/>
            </a:xfrm>
            <a:custGeom>
              <a:rect b="b" l="l" r="r" t="t"/>
              <a:pathLst>
                <a:path extrusionOk="0" h="120000" w="120000">
                  <a:moveTo>
                    <a:pt x="60000" y="0"/>
                  </a:moveTo>
                  <a:lnTo>
                    <a:pt x="0" y="21818"/>
                  </a:lnTo>
                  <a:lnTo>
                    <a:pt x="0" y="54545"/>
                  </a:lnTo>
                  <a:cubicBezTo>
                    <a:pt x="0" y="84818"/>
                    <a:pt x="25600" y="113127"/>
                    <a:pt x="60000" y="120000"/>
                  </a:cubicBezTo>
                  <a:cubicBezTo>
                    <a:pt x="94400" y="113127"/>
                    <a:pt x="120000" y="84818"/>
                    <a:pt x="120000" y="54545"/>
                  </a:cubicBezTo>
                  <a:lnTo>
                    <a:pt x="120000" y="21818"/>
                  </a:lnTo>
                  <a:lnTo>
                    <a:pt x="60000" y="0"/>
                  </a:lnTo>
                  <a:close/>
                  <a:moveTo>
                    <a:pt x="60000" y="11891"/>
                  </a:moveTo>
                  <a:lnTo>
                    <a:pt x="106667" y="28855"/>
                  </a:lnTo>
                  <a:lnTo>
                    <a:pt x="106667" y="54545"/>
                  </a:lnTo>
                  <a:cubicBezTo>
                    <a:pt x="106667" y="78218"/>
                    <a:pt x="87867" y="100145"/>
                    <a:pt x="60000" y="108109"/>
                  </a:cubicBezTo>
                  <a:cubicBezTo>
                    <a:pt x="32133" y="100145"/>
                    <a:pt x="13333" y="78218"/>
                    <a:pt x="13333" y="54545"/>
                  </a:cubicBezTo>
                  <a:lnTo>
                    <a:pt x="13333" y="28855"/>
                  </a:lnTo>
                  <a:lnTo>
                    <a:pt x="60000" y="11891"/>
                  </a:lnTo>
                  <a:close/>
                </a:path>
              </a:pathLst>
            </a:cu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" name="Google Shape;398;p21"/>
            <p:cNvSpPr txBox="1"/>
            <p:nvPr/>
          </p:nvSpPr>
          <p:spPr>
            <a:xfrm>
              <a:off x="1047750" y="4019550"/>
              <a:ext cx="75249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Gate 5 (Isolation):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Ensures VPC isolation, keeping Lambda in private subnets with strict port 443 egress.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2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22"/>
          <p:cNvSpPr/>
          <p:nvPr/>
        </p:nvSpPr>
        <p:spPr>
          <a:xfrm>
            <a:off x="0" y="0"/>
            <a:ext cx="9144000" cy="573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22"/>
          <p:cNvSpPr/>
          <p:nvPr/>
        </p:nvSpPr>
        <p:spPr>
          <a:xfrm>
            <a:off x="0" y="57150"/>
            <a:ext cx="1143000" cy="192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06" name="Google Shape;40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1500" y="190500"/>
            <a:ext cx="504900" cy="504900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p22"/>
          <p:cNvSpPr txBox="1"/>
          <p:nvPr/>
        </p:nvSpPr>
        <p:spPr>
          <a:xfrm>
            <a:off x="381000" y="304800"/>
            <a:ext cx="83820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Cyber Attack Simulation &amp; Defenses</a:t>
            </a:r>
            <a:endParaRPr b="1" sz="240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The robust cybersecurity architecture systematically rejects cyber-physical attacks, validating system constraints in real time.</a:t>
            </a:r>
            <a:endParaRPr b="0" sz="975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408" name="Google Shape;408;p22"/>
          <p:cNvGrpSpPr/>
          <p:nvPr/>
        </p:nvGrpSpPr>
        <p:grpSpPr>
          <a:xfrm>
            <a:off x="381000" y="1143000"/>
            <a:ext cx="4000500" cy="1571700"/>
            <a:chOff x="381000" y="1143000"/>
            <a:chExt cx="4000500" cy="1571700"/>
          </a:xfrm>
        </p:grpSpPr>
        <p:sp>
          <p:nvSpPr>
            <p:cNvPr id="409" name="Google Shape;409;p22"/>
            <p:cNvSpPr/>
            <p:nvPr/>
          </p:nvSpPr>
          <p:spPr>
            <a:xfrm>
              <a:off x="381000" y="1143000"/>
              <a:ext cx="4000500" cy="1571700"/>
            </a:xfrm>
            <a:prstGeom prst="rect">
              <a:avLst/>
            </a:prstGeom>
            <a:solidFill>
              <a:srgbClr val="F4F6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" name="Google Shape;410;p22"/>
            <p:cNvSpPr/>
            <p:nvPr/>
          </p:nvSpPr>
          <p:spPr>
            <a:xfrm>
              <a:off x="381000" y="1143000"/>
              <a:ext cx="38100" cy="1571700"/>
            </a:xfrm>
            <a:prstGeom prst="rect">
              <a:avLst/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" name="Google Shape;411;p22"/>
            <p:cNvSpPr/>
            <p:nvPr/>
          </p:nvSpPr>
          <p:spPr>
            <a:xfrm>
              <a:off x="595217" y="1311211"/>
              <a:ext cx="142428" cy="174051"/>
            </a:xfrm>
            <a:custGeom>
              <a:rect b="b" l="l" r="r" t="t"/>
              <a:pathLst>
                <a:path extrusionOk="0" h="120000" w="120000">
                  <a:moveTo>
                    <a:pt x="60000" y="0"/>
                  </a:moveTo>
                  <a:lnTo>
                    <a:pt x="0" y="21818"/>
                  </a:lnTo>
                  <a:lnTo>
                    <a:pt x="0" y="54545"/>
                  </a:lnTo>
                  <a:cubicBezTo>
                    <a:pt x="0" y="84818"/>
                    <a:pt x="25600" y="113127"/>
                    <a:pt x="60000" y="120000"/>
                  </a:cubicBezTo>
                  <a:cubicBezTo>
                    <a:pt x="94400" y="113127"/>
                    <a:pt x="120000" y="84818"/>
                    <a:pt x="120000" y="54545"/>
                  </a:cubicBezTo>
                  <a:lnTo>
                    <a:pt x="120000" y="21818"/>
                  </a:lnTo>
                  <a:lnTo>
                    <a:pt x="60000" y="0"/>
                  </a:lnTo>
                  <a:close/>
                  <a:moveTo>
                    <a:pt x="60000" y="11891"/>
                  </a:moveTo>
                  <a:lnTo>
                    <a:pt x="106667" y="28855"/>
                  </a:lnTo>
                  <a:lnTo>
                    <a:pt x="106667" y="54545"/>
                  </a:lnTo>
                  <a:cubicBezTo>
                    <a:pt x="106667" y="78218"/>
                    <a:pt x="87867" y="100145"/>
                    <a:pt x="60000" y="108109"/>
                  </a:cubicBezTo>
                  <a:cubicBezTo>
                    <a:pt x="32133" y="100145"/>
                    <a:pt x="13333" y="78218"/>
                    <a:pt x="13333" y="54545"/>
                  </a:cubicBezTo>
                  <a:lnTo>
                    <a:pt x="13333" y="28855"/>
                  </a:lnTo>
                  <a:lnTo>
                    <a:pt x="60000" y="11891"/>
                  </a:lnTo>
                  <a:close/>
                </a:path>
              </a:pathLst>
            </a:cu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" name="Google Shape;412;p22"/>
            <p:cNvSpPr txBox="1"/>
            <p:nvPr/>
          </p:nvSpPr>
          <p:spPr>
            <a:xfrm>
              <a:off x="838200" y="1285875"/>
              <a:ext cx="3352800" cy="12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2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Replay &amp; Tamper Defense </a:t>
              </a:r>
              <a:r>
                <a:rPr b="1" lang="en" sz="75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HTTP 403</a:t>
              </a:r>
              <a:endParaRPr b="0" sz="1125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" sz="9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• Replay attacks and timestamp manipulations are rejected if packet age exceeds 60 seconds.</a:t>
              </a:r>
              <a:endParaRPr b="0" sz="97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9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• Packet tampering fails the HMAC cryptographic signature check, triggering connection drops.</a:t>
              </a:r>
              <a:endParaRPr b="0" sz="97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13" name="Google Shape;413;p22"/>
          <p:cNvGrpSpPr/>
          <p:nvPr/>
        </p:nvGrpSpPr>
        <p:grpSpPr>
          <a:xfrm>
            <a:off x="4762500" y="1143000"/>
            <a:ext cx="4000500" cy="1571700"/>
            <a:chOff x="4762500" y="1143000"/>
            <a:chExt cx="4000500" cy="1571700"/>
          </a:xfrm>
        </p:grpSpPr>
        <p:sp>
          <p:nvSpPr>
            <p:cNvPr id="414" name="Google Shape;414;p22"/>
            <p:cNvSpPr/>
            <p:nvPr/>
          </p:nvSpPr>
          <p:spPr>
            <a:xfrm>
              <a:off x="4762500" y="1143000"/>
              <a:ext cx="4000500" cy="1571700"/>
            </a:xfrm>
            <a:prstGeom prst="rect">
              <a:avLst/>
            </a:prstGeom>
            <a:solidFill>
              <a:srgbClr val="F4F6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" name="Google Shape;415;p22"/>
            <p:cNvSpPr/>
            <p:nvPr/>
          </p:nvSpPr>
          <p:spPr>
            <a:xfrm>
              <a:off x="4762500" y="1143000"/>
              <a:ext cx="38100" cy="1571700"/>
            </a:xfrm>
            <a:prstGeom prst="rect">
              <a:avLst/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" name="Google Shape;416;p22"/>
            <p:cNvSpPr/>
            <p:nvPr/>
          </p:nvSpPr>
          <p:spPr>
            <a:xfrm>
              <a:off x="4976717" y="1311211"/>
              <a:ext cx="142428" cy="174051"/>
            </a:xfrm>
            <a:custGeom>
              <a:rect b="b" l="l" r="r" t="t"/>
              <a:pathLst>
                <a:path extrusionOk="0" h="120000" w="120000">
                  <a:moveTo>
                    <a:pt x="60000" y="0"/>
                  </a:moveTo>
                  <a:lnTo>
                    <a:pt x="0" y="21818"/>
                  </a:lnTo>
                  <a:lnTo>
                    <a:pt x="0" y="54545"/>
                  </a:lnTo>
                  <a:cubicBezTo>
                    <a:pt x="0" y="84818"/>
                    <a:pt x="25600" y="113127"/>
                    <a:pt x="60000" y="120000"/>
                  </a:cubicBezTo>
                  <a:cubicBezTo>
                    <a:pt x="94400" y="113127"/>
                    <a:pt x="120000" y="84818"/>
                    <a:pt x="120000" y="54545"/>
                  </a:cubicBezTo>
                  <a:lnTo>
                    <a:pt x="120000" y="21818"/>
                  </a:lnTo>
                  <a:lnTo>
                    <a:pt x="60000" y="0"/>
                  </a:lnTo>
                  <a:close/>
                  <a:moveTo>
                    <a:pt x="60000" y="11891"/>
                  </a:moveTo>
                  <a:lnTo>
                    <a:pt x="106667" y="28855"/>
                  </a:lnTo>
                  <a:lnTo>
                    <a:pt x="106667" y="54545"/>
                  </a:lnTo>
                  <a:cubicBezTo>
                    <a:pt x="106667" y="78218"/>
                    <a:pt x="87867" y="100145"/>
                    <a:pt x="60000" y="108109"/>
                  </a:cubicBezTo>
                  <a:cubicBezTo>
                    <a:pt x="32133" y="100145"/>
                    <a:pt x="13333" y="78218"/>
                    <a:pt x="13333" y="54545"/>
                  </a:cubicBezTo>
                  <a:lnTo>
                    <a:pt x="13333" y="28855"/>
                  </a:lnTo>
                  <a:lnTo>
                    <a:pt x="60000" y="11891"/>
                  </a:lnTo>
                  <a:close/>
                </a:path>
              </a:pathLst>
            </a:cu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" name="Google Shape;417;p22"/>
            <p:cNvSpPr txBox="1"/>
            <p:nvPr/>
          </p:nvSpPr>
          <p:spPr>
            <a:xfrm>
              <a:off x="5219700" y="1285875"/>
              <a:ext cx="3352800" cy="12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2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Injection &amp; Poisoning </a:t>
              </a:r>
              <a:r>
                <a:rPr b="1" lang="en" sz="75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HTTP 422</a:t>
              </a:r>
              <a:endParaRPr b="0" sz="1125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" sz="9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• False data injection and poisoning with physics-impossible values are strictly blocked.</a:t>
              </a:r>
              <a:endParaRPr b="0" sz="97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9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• Gateway physical bounds checks ensure invalid data states are never written to the database.</a:t>
              </a:r>
              <a:endParaRPr b="0" sz="97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18" name="Google Shape;418;p22"/>
          <p:cNvGrpSpPr/>
          <p:nvPr/>
        </p:nvGrpSpPr>
        <p:grpSpPr>
          <a:xfrm>
            <a:off x="381000" y="2905125"/>
            <a:ext cx="4000500" cy="1571700"/>
            <a:chOff x="381000" y="2905125"/>
            <a:chExt cx="4000500" cy="1571700"/>
          </a:xfrm>
        </p:grpSpPr>
        <p:sp>
          <p:nvSpPr>
            <p:cNvPr id="419" name="Google Shape;419;p22"/>
            <p:cNvSpPr/>
            <p:nvPr/>
          </p:nvSpPr>
          <p:spPr>
            <a:xfrm>
              <a:off x="381000" y="2905125"/>
              <a:ext cx="4000500" cy="1571700"/>
            </a:xfrm>
            <a:prstGeom prst="rect">
              <a:avLst/>
            </a:prstGeom>
            <a:solidFill>
              <a:srgbClr val="F4F6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" name="Google Shape;420;p22"/>
            <p:cNvSpPr/>
            <p:nvPr/>
          </p:nvSpPr>
          <p:spPr>
            <a:xfrm>
              <a:off x="381000" y="2905125"/>
              <a:ext cx="38100" cy="1571700"/>
            </a:xfrm>
            <a:prstGeom prst="rect">
              <a:avLst/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" name="Google Shape;421;p22"/>
            <p:cNvSpPr/>
            <p:nvPr/>
          </p:nvSpPr>
          <p:spPr>
            <a:xfrm>
              <a:off x="595217" y="3073337"/>
              <a:ext cx="142428" cy="174051"/>
            </a:xfrm>
            <a:custGeom>
              <a:rect b="b" l="l" r="r" t="t"/>
              <a:pathLst>
                <a:path extrusionOk="0" h="120000" w="120000">
                  <a:moveTo>
                    <a:pt x="60000" y="0"/>
                  </a:moveTo>
                  <a:lnTo>
                    <a:pt x="0" y="21818"/>
                  </a:lnTo>
                  <a:lnTo>
                    <a:pt x="0" y="54545"/>
                  </a:lnTo>
                  <a:cubicBezTo>
                    <a:pt x="0" y="84818"/>
                    <a:pt x="25600" y="113127"/>
                    <a:pt x="60000" y="120000"/>
                  </a:cubicBezTo>
                  <a:cubicBezTo>
                    <a:pt x="94400" y="113127"/>
                    <a:pt x="120000" y="84818"/>
                    <a:pt x="120000" y="54545"/>
                  </a:cubicBezTo>
                  <a:lnTo>
                    <a:pt x="120000" y="21818"/>
                  </a:lnTo>
                  <a:lnTo>
                    <a:pt x="60000" y="0"/>
                  </a:lnTo>
                  <a:close/>
                  <a:moveTo>
                    <a:pt x="60000" y="11891"/>
                  </a:moveTo>
                  <a:lnTo>
                    <a:pt x="106667" y="28855"/>
                  </a:lnTo>
                  <a:lnTo>
                    <a:pt x="106667" y="54545"/>
                  </a:lnTo>
                  <a:cubicBezTo>
                    <a:pt x="106667" y="78218"/>
                    <a:pt x="87867" y="100145"/>
                    <a:pt x="60000" y="108109"/>
                  </a:cubicBezTo>
                  <a:cubicBezTo>
                    <a:pt x="32133" y="100145"/>
                    <a:pt x="13333" y="78218"/>
                    <a:pt x="13333" y="54545"/>
                  </a:cubicBezTo>
                  <a:lnTo>
                    <a:pt x="13333" y="28855"/>
                  </a:lnTo>
                  <a:lnTo>
                    <a:pt x="60000" y="11891"/>
                  </a:lnTo>
                  <a:close/>
                </a:path>
              </a:pathLst>
            </a:cu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" name="Google Shape;422;p22"/>
            <p:cNvSpPr txBox="1"/>
            <p:nvPr/>
          </p:nvSpPr>
          <p:spPr>
            <a:xfrm>
              <a:off x="838200" y="3048000"/>
              <a:ext cx="3352800" cy="12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2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DoS Flood Protection </a:t>
              </a:r>
              <a:r>
                <a:rPr b="1" lang="en" sz="75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HTTP 422</a:t>
              </a:r>
              <a:endParaRPr b="0" sz="1125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" sz="9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• Denial of Service (DoS) floods automatically trigger API and ingestion rate-limiting thresholds.</a:t>
              </a:r>
              <a:endParaRPr b="0" sz="97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9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• Throttles excessive packet bursts to guarantee high-availability access for trusted nodes.</a:t>
              </a:r>
              <a:endParaRPr b="0" sz="97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23" name="Google Shape;423;p22"/>
          <p:cNvGrpSpPr/>
          <p:nvPr/>
        </p:nvGrpSpPr>
        <p:grpSpPr>
          <a:xfrm>
            <a:off x="4762500" y="2905125"/>
            <a:ext cx="4000500" cy="1571700"/>
            <a:chOff x="4762500" y="2905125"/>
            <a:chExt cx="4000500" cy="1571700"/>
          </a:xfrm>
        </p:grpSpPr>
        <p:sp>
          <p:nvSpPr>
            <p:cNvPr id="424" name="Google Shape;424;p22"/>
            <p:cNvSpPr/>
            <p:nvPr/>
          </p:nvSpPr>
          <p:spPr>
            <a:xfrm>
              <a:off x="4762500" y="2905125"/>
              <a:ext cx="4000500" cy="1571700"/>
            </a:xfrm>
            <a:prstGeom prst="rect">
              <a:avLst/>
            </a:prstGeom>
            <a:solidFill>
              <a:srgbClr val="F4F6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" name="Google Shape;425;p22"/>
            <p:cNvSpPr/>
            <p:nvPr/>
          </p:nvSpPr>
          <p:spPr>
            <a:xfrm>
              <a:off x="4762500" y="2905125"/>
              <a:ext cx="38100" cy="15717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" name="Google Shape;426;p22"/>
            <p:cNvSpPr/>
            <p:nvPr/>
          </p:nvSpPr>
          <p:spPr>
            <a:xfrm>
              <a:off x="4976717" y="3073337"/>
              <a:ext cx="142428" cy="174051"/>
            </a:xfrm>
            <a:custGeom>
              <a:rect b="b" l="l" r="r" t="t"/>
              <a:pathLst>
                <a:path extrusionOk="0" h="120000" w="120000">
                  <a:moveTo>
                    <a:pt x="60000" y="0"/>
                  </a:moveTo>
                  <a:lnTo>
                    <a:pt x="0" y="21818"/>
                  </a:lnTo>
                  <a:lnTo>
                    <a:pt x="0" y="54545"/>
                  </a:lnTo>
                  <a:cubicBezTo>
                    <a:pt x="0" y="84818"/>
                    <a:pt x="25600" y="113127"/>
                    <a:pt x="60000" y="120000"/>
                  </a:cubicBezTo>
                  <a:cubicBezTo>
                    <a:pt x="94400" y="113127"/>
                    <a:pt x="120000" y="84818"/>
                    <a:pt x="120000" y="54545"/>
                  </a:cubicBezTo>
                  <a:lnTo>
                    <a:pt x="120000" y="21818"/>
                  </a:lnTo>
                  <a:lnTo>
                    <a:pt x="60000" y="0"/>
                  </a:lnTo>
                  <a:close/>
                  <a:moveTo>
                    <a:pt x="60000" y="11891"/>
                  </a:moveTo>
                  <a:lnTo>
                    <a:pt x="106667" y="28855"/>
                  </a:lnTo>
                  <a:lnTo>
                    <a:pt x="106667" y="54545"/>
                  </a:lnTo>
                  <a:cubicBezTo>
                    <a:pt x="106667" y="78218"/>
                    <a:pt x="87867" y="100145"/>
                    <a:pt x="60000" y="108109"/>
                  </a:cubicBezTo>
                  <a:cubicBezTo>
                    <a:pt x="32133" y="100145"/>
                    <a:pt x="13333" y="78218"/>
                    <a:pt x="13333" y="54545"/>
                  </a:cubicBezTo>
                  <a:lnTo>
                    <a:pt x="13333" y="28855"/>
                  </a:lnTo>
                  <a:lnTo>
                    <a:pt x="60000" y="11891"/>
                  </a:lnTo>
                  <a:close/>
                </a:path>
              </a:pathLst>
            </a:cu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" name="Google Shape;427;p22"/>
            <p:cNvSpPr txBox="1"/>
            <p:nvPr/>
          </p:nvSpPr>
          <p:spPr>
            <a:xfrm>
              <a:off x="5219700" y="3048000"/>
              <a:ext cx="3352800" cy="12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2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Impersonation &amp; Adversarial </a:t>
              </a:r>
              <a:r>
                <a:rPr b="1" lang="en" sz="75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SECURE GATE</a:t>
              </a:r>
              <a:endParaRPr b="0" sz="1125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" sz="9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• Device impersonation attempts are blocked at AWS IoT Core due to missing or invalid mTLS certificates.</a:t>
              </a:r>
              <a:endParaRPr b="0" sz="97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9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• Adversarial inputs causing impossible voltage jumps are immediately isolated by a delta-V anomaly check.</a:t>
              </a:r>
              <a:endParaRPr b="0" sz="97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2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23"/>
          <p:cNvSpPr/>
          <p:nvPr/>
        </p:nvSpPr>
        <p:spPr>
          <a:xfrm>
            <a:off x="0" y="0"/>
            <a:ext cx="9144000" cy="573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23"/>
          <p:cNvSpPr/>
          <p:nvPr/>
        </p:nvSpPr>
        <p:spPr>
          <a:xfrm>
            <a:off x="0" y="57150"/>
            <a:ext cx="1143000" cy="192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35" name="Google Shape;43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72700" cy="4972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91500" y="190500"/>
            <a:ext cx="495300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23"/>
          <p:cNvSpPr txBox="1"/>
          <p:nvPr/>
        </p:nvSpPr>
        <p:spPr>
          <a:xfrm>
            <a:off x="381000" y="333375"/>
            <a:ext cx="762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Simulation Testing &amp; Environments</a:t>
            </a:r>
            <a:endParaRPr b="1" sz="240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438" name="Google Shape;438;p23"/>
          <p:cNvGrpSpPr/>
          <p:nvPr/>
        </p:nvGrpSpPr>
        <p:grpSpPr>
          <a:xfrm>
            <a:off x="381000" y="1095375"/>
            <a:ext cx="2667000" cy="1571700"/>
            <a:chOff x="0" y="0"/>
            <a:chExt cx="2667000" cy="1571700"/>
          </a:xfrm>
        </p:grpSpPr>
        <p:sp>
          <p:nvSpPr>
            <p:cNvPr id="439" name="Google Shape;439;p23"/>
            <p:cNvSpPr/>
            <p:nvPr/>
          </p:nvSpPr>
          <p:spPr>
            <a:xfrm>
              <a:off x="0" y="0"/>
              <a:ext cx="2667000" cy="1571700"/>
            </a:xfrm>
            <a:prstGeom prst="rect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" name="Google Shape;440;p23"/>
            <p:cNvSpPr/>
            <p:nvPr/>
          </p:nvSpPr>
          <p:spPr>
            <a:xfrm>
              <a:off x="0" y="0"/>
              <a:ext cx="2667000" cy="381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" name="Google Shape;441;p23"/>
            <p:cNvSpPr txBox="1"/>
            <p:nvPr/>
          </p:nvSpPr>
          <p:spPr>
            <a:xfrm>
              <a:off x="190500" y="152400"/>
              <a:ext cx="2286000" cy="12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694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Baseline Environment</a:t>
              </a:r>
              <a:endParaRPr b="0" sz="694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041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Device-001</a:t>
              </a:r>
              <a:endParaRPr b="0" sz="1041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2636">
                  <a:solidFill>
                    <a:srgbClr val="0284C7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10% </a:t>
              </a:r>
              <a:r>
                <a:rPr b="0" lang="en" sz="971">
                  <a:solidFill>
                    <a:srgbClr val="475569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Fault Rate</a:t>
              </a:r>
              <a:endParaRPr b="0" sz="2636">
                <a:solidFill>
                  <a:srgbClr val="0284C7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902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Runs baseline configurations with unique credential certificates under Happy/Normal thread environments.</a:t>
              </a:r>
              <a:endParaRPr b="0" sz="902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42" name="Google Shape;442;p23"/>
          <p:cNvGrpSpPr/>
          <p:nvPr/>
        </p:nvGrpSpPr>
        <p:grpSpPr>
          <a:xfrm>
            <a:off x="3238500" y="1095375"/>
            <a:ext cx="2667000" cy="1571700"/>
            <a:chOff x="0" y="0"/>
            <a:chExt cx="2667000" cy="1571700"/>
          </a:xfrm>
        </p:grpSpPr>
        <p:sp>
          <p:nvSpPr>
            <p:cNvPr id="443" name="Google Shape;443;p23"/>
            <p:cNvSpPr/>
            <p:nvPr/>
          </p:nvSpPr>
          <p:spPr>
            <a:xfrm>
              <a:off x="0" y="0"/>
              <a:ext cx="2667000" cy="1571700"/>
            </a:xfrm>
            <a:prstGeom prst="rect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" name="Google Shape;444;p23"/>
            <p:cNvSpPr/>
            <p:nvPr/>
          </p:nvSpPr>
          <p:spPr>
            <a:xfrm>
              <a:off x="0" y="0"/>
              <a:ext cx="2667000" cy="38100"/>
            </a:xfrm>
            <a:prstGeom prst="rect">
              <a:avLst/>
            </a:prstGeom>
            <a:solidFill>
              <a:srgbClr val="0369A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23"/>
            <p:cNvSpPr txBox="1"/>
            <p:nvPr/>
          </p:nvSpPr>
          <p:spPr>
            <a:xfrm>
              <a:off x="190500" y="152400"/>
              <a:ext cx="2286000" cy="12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694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Telemetry Stress</a:t>
              </a:r>
              <a:endParaRPr b="0" sz="694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041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Device-002</a:t>
              </a:r>
              <a:endParaRPr b="0" sz="1041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2636">
                  <a:solidFill>
                    <a:srgbClr val="0284C7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20% </a:t>
              </a:r>
              <a:r>
                <a:rPr b="0" lang="en" sz="971">
                  <a:solidFill>
                    <a:srgbClr val="475569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Fault Rate</a:t>
              </a:r>
              <a:endParaRPr b="0" sz="2636">
                <a:solidFill>
                  <a:srgbClr val="0284C7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902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Simulates noisy sensors and telemetry variations using dedicated unique credentials.</a:t>
              </a:r>
              <a:endParaRPr b="0" sz="902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46" name="Google Shape;446;p23"/>
          <p:cNvGrpSpPr/>
          <p:nvPr/>
        </p:nvGrpSpPr>
        <p:grpSpPr>
          <a:xfrm>
            <a:off x="6096000" y="1095375"/>
            <a:ext cx="2667000" cy="1571700"/>
            <a:chOff x="0" y="0"/>
            <a:chExt cx="2667000" cy="1571700"/>
          </a:xfrm>
        </p:grpSpPr>
        <p:sp>
          <p:nvSpPr>
            <p:cNvPr id="447" name="Google Shape;447;p23"/>
            <p:cNvSpPr/>
            <p:nvPr/>
          </p:nvSpPr>
          <p:spPr>
            <a:xfrm>
              <a:off x="0" y="0"/>
              <a:ext cx="2667000" cy="1571700"/>
            </a:xfrm>
            <a:prstGeom prst="rect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" name="Google Shape;448;p23"/>
            <p:cNvSpPr/>
            <p:nvPr/>
          </p:nvSpPr>
          <p:spPr>
            <a:xfrm>
              <a:off x="0" y="0"/>
              <a:ext cx="2667000" cy="38100"/>
            </a:xfrm>
            <a:prstGeom prst="rect">
              <a:avLst/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" name="Google Shape;449;p23"/>
            <p:cNvSpPr txBox="1"/>
            <p:nvPr/>
          </p:nvSpPr>
          <p:spPr>
            <a:xfrm>
              <a:off x="190500" y="152400"/>
              <a:ext cx="2286000" cy="12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694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Network Impairment</a:t>
              </a:r>
              <a:endParaRPr b="0" sz="694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041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Device-003</a:t>
              </a:r>
              <a:endParaRPr b="0" sz="1041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2636">
                  <a:solidFill>
                    <a:srgbClr val="0284C7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30% </a:t>
              </a:r>
              <a:r>
                <a:rPr b="0" lang="en" sz="971">
                  <a:solidFill>
                    <a:srgbClr val="475569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Fault Rate</a:t>
              </a:r>
              <a:endParaRPr b="0" sz="2636">
                <a:solidFill>
                  <a:srgbClr val="0284C7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902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Tests duplicate packets, latency drops, and heavy transmission noise with custom certificates.</a:t>
              </a:r>
              <a:endParaRPr b="0" sz="902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50" name="Google Shape;450;p23"/>
          <p:cNvGrpSpPr/>
          <p:nvPr/>
        </p:nvGrpSpPr>
        <p:grpSpPr>
          <a:xfrm>
            <a:off x="381000" y="2952750"/>
            <a:ext cx="8382000" cy="1809600"/>
            <a:chOff x="0" y="0"/>
            <a:chExt cx="8382000" cy="1809600"/>
          </a:xfrm>
        </p:grpSpPr>
        <p:sp>
          <p:nvSpPr>
            <p:cNvPr id="451" name="Google Shape;451;p23"/>
            <p:cNvSpPr/>
            <p:nvPr/>
          </p:nvSpPr>
          <p:spPr>
            <a:xfrm>
              <a:off x="0" y="0"/>
              <a:ext cx="8382000" cy="1809600"/>
            </a:xfrm>
            <a:prstGeom prst="rect">
              <a:avLst/>
            </a:prstGeom>
            <a:solidFill>
              <a:srgbClr val="F4F6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" name="Google Shape;452;p23"/>
            <p:cNvSpPr/>
            <p:nvPr/>
          </p:nvSpPr>
          <p:spPr>
            <a:xfrm>
              <a:off x="0" y="0"/>
              <a:ext cx="57300" cy="18096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" name="Google Shape;453;p23"/>
            <p:cNvSpPr txBox="1"/>
            <p:nvPr/>
          </p:nvSpPr>
          <p:spPr>
            <a:xfrm>
              <a:off x="285750" y="190500"/>
              <a:ext cx="37149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21 Scenarios &amp; 5 Simulator Modes</a:t>
              </a:r>
              <a:endParaRPr b="0" sz="75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112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Comprehensive Scenario Suites</a:t>
              </a:r>
              <a:endParaRPr b="0" sz="1125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9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Simulation testing is executed across five distinct edge simulator modes: </a:t>
              </a:r>
              <a:r>
                <a:rPr b="0" lang="en" sz="97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Happy, Noisy, Network, Attack,</a:t>
              </a:r>
              <a:r>
                <a:rPr b="0" lang="en" sz="9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and </a:t>
              </a:r>
              <a:r>
                <a:rPr b="0" lang="en" sz="97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Chaos</a:t>
              </a:r>
              <a:r>
                <a:rPr b="0" lang="en" sz="9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. These scenarios run concurrently over multi-device threading to validate runtime security.</a:t>
              </a:r>
              <a:endParaRPr b="0" sz="97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454" name="Google Shape;454;p23"/>
            <p:cNvCxnSpPr/>
            <p:nvPr/>
          </p:nvCxnSpPr>
          <p:spPr>
            <a:xfrm>
              <a:off x="4191000" y="190500"/>
              <a:ext cx="0" cy="142890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455" name="Google Shape;455;p23"/>
            <p:cNvSpPr txBox="1"/>
            <p:nvPr/>
          </p:nvSpPr>
          <p:spPr>
            <a:xfrm>
              <a:off x="4429125" y="190500"/>
              <a:ext cx="3667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Resilience &amp; Grid Protection</a:t>
              </a:r>
              <a:endParaRPr b="0" sz="75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112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Fault Injection Verification</a:t>
              </a:r>
              <a:endParaRPr b="0" sz="1125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9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Verifies defense logic against normal states, noisy sensors, duplicate packets, and </a:t>
              </a:r>
              <a:r>
                <a:rPr b="0" lang="en" sz="97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seven specific grid faults</a:t>
              </a:r>
              <a:r>
                <a:rPr b="0" lang="en" sz="9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, including severe voltage sags, overcurrents, and telemetry disruption events.</a:t>
              </a:r>
              <a:endParaRPr b="0" sz="97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0" name="Google Shape;460;p2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461" name="Google Shape;461;p2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62" name="Google Shape;462;p24"/>
            <p:cNvGrpSpPr/>
            <p:nvPr/>
          </p:nvGrpSpPr>
          <p:grpSpPr>
            <a:xfrm>
              <a:off x="0" y="0"/>
              <a:ext cx="9144000" cy="76350"/>
              <a:chOff x="0" y="0"/>
              <a:chExt cx="9144000" cy="76350"/>
            </a:xfrm>
          </p:grpSpPr>
          <p:sp>
            <p:nvSpPr>
              <p:cNvPr id="463" name="Google Shape;463;p24"/>
              <p:cNvSpPr/>
              <p:nvPr/>
            </p:nvSpPr>
            <p:spPr>
              <a:xfrm>
                <a:off x="0" y="0"/>
                <a:ext cx="9144000" cy="57300"/>
              </a:xfrm>
              <a:prstGeom prst="rect">
                <a:avLst/>
              </a:prstGeom>
              <a:solidFill>
                <a:srgbClr val="0284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4" name="Google Shape;464;p24"/>
              <p:cNvSpPr/>
              <p:nvPr/>
            </p:nvSpPr>
            <p:spPr>
              <a:xfrm>
                <a:off x="0" y="57150"/>
                <a:ext cx="1143000" cy="19200"/>
              </a:xfrm>
              <a:prstGeom prst="rect">
                <a:avLst/>
              </a:prstGeom>
              <a:solidFill>
                <a:srgbClr val="0369A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pic>
          <p:nvPicPr>
            <p:cNvPr id="465" name="Google Shape;465;p2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8191500" y="190500"/>
              <a:ext cx="495300" cy="4953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66" name="Google Shape;466;p24"/>
          <p:cNvSpPr txBox="1"/>
          <p:nvPr/>
        </p:nvSpPr>
        <p:spPr>
          <a:xfrm>
            <a:off x="381000" y="38100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Infrastructure &amp; Automatic Deployment</a:t>
            </a:r>
            <a:endParaRPr b="1" sz="240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67" name="Google Shape;467;p24"/>
          <p:cNvSpPr txBox="1"/>
          <p:nvPr/>
        </p:nvSpPr>
        <p:spPr>
          <a:xfrm>
            <a:off x="381000" y="1143000"/>
            <a:ext cx="3905400" cy="361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5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Automated IaC Provisioning</a:t>
            </a:r>
            <a:br>
              <a:rPr b="0" lang="en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b="0" lang="en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The entire infrastructure is automated using Terraform Infrastructure-as-Code, enabling rapid, reproducible, and self-documenting deployments.</a:t>
            </a:r>
            <a:endParaRPr b="0" sz="105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0" lang="en" sz="105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Highly Secure Network &amp; S3 Storage</a:t>
            </a:r>
            <a:br>
              <a:rPr b="0" lang="en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b="0" lang="en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Provisions a robust VPC with public and private subnets across two Availability Zones, featuring private endpoints for S3 and Secrets Manager. Storage is secured with native AES256 encryption.</a:t>
            </a:r>
            <a:endParaRPr b="0" sz="105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0" lang="en" sz="105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Seamless Lambda &amp; Monitoring Deploys</a:t>
            </a:r>
            <a:br>
              <a:rPr b="0" lang="en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b="0" lang="en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Automatically packages Lambda from source, configures SNS real-time alerts, and sets up least-privilege IAM roles. Security is strictly enforced via IAM and Secrets Manager.</a:t>
            </a:r>
            <a:endParaRPr b="0" sz="105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468" name="Google Shape;468;p24"/>
          <p:cNvGrpSpPr/>
          <p:nvPr/>
        </p:nvGrpSpPr>
        <p:grpSpPr>
          <a:xfrm>
            <a:off x="4572000" y="1143000"/>
            <a:ext cx="4191000" cy="2352600"/>
            <a:chOff x="0" y="0"/>
            <a:chExt cx="4191000" cy="2352600"/>
          </a:xfrm>
        </p:grpSpPr>
        <p:sp>
          <p:nvSpPr>
            <p:cNvPr id="469" name="Google Shape;469;p24"/>
            <p:cNvSpPr/>
            <p:nvPr/>
          </p:nvSpPr>
          <p:spPr>
            <a:xfrm>
              <a:off x="0" y="0"/>
              <a:ext cx="4191000" cy="2352600"/>
            </a:xfrm>
            <a:prstGeom prst="roundRect">
              <a:avLst>
                <a:gd fmla="val 2429" name="adj"/>
              </a:avLst>
            </a:prstGeom>
            <a:solidFill>
              <a:srgbClr val="0F172A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" name="Google Shape;470;p24"/>
            <p:cNvSpPr/>
            <p:nvPr/>
          </p:nvSpPr>
          <p:spPr>
            <a:xfrm>
              <a:off x="0" y="0"/>
              <a:ext cx="4191000" cy="266700"/>
            </a:xfrm>
            <a:custGeom>
              <a:rect b="b" l="l" r="r" t="t"/>
              <a:pathLst>
                <a:path extrusionOk="0" h="120000" w="120000">
                  <a:moveTo>
                    <a:pt x="0" y="25714"/>
                  </a:moveTo>
                  <a:cubicBezTo>
                    <a:pt x="0" y="11513"/>
                    <a:pt x="733" y="0"/>
                    <a:pt x="1636" y="0"/>
                  </a:cubicBezTo>
                  <a:lnTo>
                    <a:pt x="118364" y="0"/>
                  </a:lnTo>
                  <a:cubicBezTo>
                    <a:pt x="119268" y="3"/>
                    <a:pt x="120000" y="11515"/>
                    <a:pt x="120000" y="25714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1E293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" name="Google Shape;471;p24"/>
            <p:cNvSpPr/>
            <p:nvPr/>
          </p:nvSpPr>
          <p:spPr>
            <a:xfrm>
              <a:off x="104775" y="85725"/>
              <a:ext cx="95400" cy="954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" name="Google Shape;472;p24"/>
            <p:cNvSpPr/>
            <p:nvPr/>
          </p:nvSpPr>
          <p:spPr>
            <a:xfrm>
              <a:off x="257175" y="85725"/>
              <a:ext cx="95400" cy="95400"/>
            </a:xfrm>
            <a:prstGeom prst="ellipse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" name="Google Shape;473;p24"/>
            <p:cNvSpPr/>
            <p:nvPr/>
          </p:nvSpPr>
          <p:spPr>
            <a:xfrm>
              <a:off x="409575" y="85725"/>
              <a:ext cx="95400" cy="954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" name="Google Shape;474;p24"/>
            <p:cNvSpPr txBox="1"/>
            <p:nvPr/>
          </p:nvSpPr>
          <p:spPr>
            <a:xfrm>
              <a:off x="762000" y="0"/>
              <a:ext cx="26670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25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terminal - terraform deploy</a:t>
              </a:r>
              <a:endParaRPr sz="825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" name="Google Shape;475;p24"/>
            <p:cNvSpPr txBox="1"/>
            <p:nvPr/>
          </p:nvSpPr>
          <p:spPr>
            <a:xfrm>
              <a:off x="152400" y="381000"/>
              <a:ext cx="3886200" cy="18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25">
                  <a:solidFill>
                    <a:srgbClr val="38BDF8"/>
                  </a:solidFill>
                  <a:latin typeface="Arial"/>
                  <a:ea typeface="Arial"/>
                  <a:cs typeface="Arial"/>
                  <a:sym typeface="Arial"/>
                </a:rPr>
                <a:t>$ terraform init</a:t>
              </a:r>
              <a:endParaRPr sz="825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" sz="825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Initializing provider plugins...</a:t>
              </a:r>
              <a:endParaRPr sz="825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" sz="825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- Reusing previous version of hashicorp/aws</a:t>
              </a:r>
              <a:endParaRPr sz="825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" sz="825">
                  <a:solidFill>
                    <a:srgbClr val="38BDF8"/>
                  </a:solidFill>
                  <a:latin typeface="Arial"/>
                  <a:ea typeface="Arial"/>
                  <a:cs typeface="Arial"/>
                  <a:sym typeface="Arial"/>
                </a:rPr>
                <a:t>$ terraform apply -auto-approve</a:t>
              </a:r>
              <a:endParaRPr sz="825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" sz="825">
                  <a:solidFill>
                    <a:srgbClr val="E2E8F0"/>
                  </a:solidFill>
                  <a:latin typeface="Arial"/>
                  <a:ea typeface="Arial"/>
                  <a:cs typeface="Arial"/>
                  <a:sym typeface="Arial"/>
                </a:rPr>
                <a:t>aws_vpc.main: Creating... [0s elapsed]</a:t>
              </a:r>
              <a:endParaRPr sz="825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" sz="825">
                  <a:solidFill>
                    <a:srgbClr val="E2E8F0"/>
                  </a:solidFill>
                  <a:latin typeface="Arial"/>
                  <a:ea typeface="Arial"/>
                  <a:cs typeface="Arial"/>
                  <a:sym typeface="Arial"/>
                </a:rPr>
                <a:t>aws_subnet.private_a: Creating... [2s elapsed]</a:t>
              </a:r>
              <a:endParaRPr sz="825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" sz="825">
                  <a:solidFill>
                    <a:srgbClr val="E2E8F0"/>
                  </a:solidFill>
                  <a:latin typeface="Arial"/>
                  <a:ea typeface="Arial"/>
                  <a:cs typeface="Arial"/>
                  <a:sym typeface="Arial"/>
                </a:rPr>
                <a:t>aws_iam_role.lambda_execution: Creating... [4s elapsed]</a:t>
              </a:r>
              <a:endParaRPr sz="825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" sz="825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Apply complete! Resources: 24 added, 0 changed.</a:t>
              </a:r>
              <a:endParaRPr sz="825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" sz="825">
                  <a:solidFill>
                    <a:srgbClr val="0284C7"/>
                  </a:solidFill>
                  <a:latin typeface="Arial"/>
                  <a:ea typeface="Arial"/>
                  <a:cs typeface="Arial"/>
                  <a:sym typeface="Arial"/>
                </a:rPr>
                <a:t>Time elapsed: 2m 54s</a:t>
              </a:r>
              <a:endParaRPr sz="825">
                <a:solidFill>
                  <a:srgbClr val="0284C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6" name="Google Shape;476;p24"/>
          <p:cNvSpPr txBox="1"/>
          <p:nvPr/>
        </p:nvSpPr>
        <p:spPr>
          <a:xfrm>
            <a:off x="4572000" y="3638550"/>
            <a:ext cx="41910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25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Standard Terraform Deployment</a:t>
            </a:r>
            <a:endParaRPr b="0" sz="825">
              <a:solidFill>
                <a:srgbClr val="0369A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The complete stack, including standard CloudWatch dashboards and alarms, deploys in approximately three minutes using standard initialization and apply commands.</a:t>
            </a:r>
            <a:endParaRPr b="0" sz="975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1" name="Google Shape;481;p25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482" name="Google Shape;482;p2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4F6F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" name="Google Shape;483;p25"/>
            <p:cNvSpPr/>
            <p:nvPr/>
          </p:nvSpPr>
          <p:spPr>
            <a:xfrm>
              <a:off x="0" y="0"/>
              <a:ext cx="190500" cy="51435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" name="Google Shape;484;p25"/>
            <p:cNvSpPr/>
            <p:nvPr/>
          </p:nvSpPr>
          <p:spPr>
            <a:xfrm>
              <a:off x="190500" y="0"/>
              <a:ext cx="38100" cy="5143500"/>
            </a:xfrm>
            <a:prstGeom prst="rect">
              <a:avLst/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85" name="Google Shape;485;p25"/>
          <p:cNvSpPr txBox="1"/>
          <p:nvPr/>
        </p:nvSpPr>
        <p:spPr>
          <a:xfrm>
            <a:off x="571500" y="428625"/>
            <a:ext cx="8191500" cy="104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Research Angles &amp; Advanced Topics</a:t>
            </a:r>
            <a:endParaRPr b="1" sz="240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" sz="1088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Future research must address emerging vulnerabilities and advanced defense mechanisms.</a:t>
            </a:r>
            <a:endParaRPr b="0" sz="1088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486" name="Google Shape;486;p25"/>
          <p:cNvGrpSpPr/>
          <p:nvPr/>
        </p:nvGrpSpPr>
        <p:grpSpPr>
          <a:xfrm>
            <a:off x="571500" y="1714500"/>
            <a:ext cx="8191500" cy="2857500"/>
            <a:chOff x="571500" y="1714500"/>
            <a:chExt cx="8191500" cy="2857500"/>
          </a:xfrm>
        </p:grpSpPr>
        <p:grpSp>
          <p:nvGrpSpPr>
            <p:cNvPr id="487" name="Google Shape;487;p25"/>
            <p:cNvGrpSpPr/>
            <p:nvPr/>
          </p:nvGrpSpPr>
          <p:grpSpPr>
            <a:xfrm>
              <a:off x="571500" y="1714500"/>
              <a:ext cx="1485900" cy="2857500"/>
              <a:chOff x="0" y="0"/>
              <a:chExt cx="1485900" cy="2857500"/>
            </a:xfrm>
          </p:grpSpPr>
          <p:sp>
            <p:nvSpPr>
              <p:cNvPr id="488" name="Google Shape;488;p25"/>
              <p:cNvSpPr/>
              <p:nvPr/>
            </p:nvSpPr>
            <p:spPr>
              <a:xfrm>
                <a:off x="0" y="0"/>
                <a:ext cx="1485900" cy="2857500"/>
              </a:xfrm>
              <a:prstGeom prst="rect">
                <a:avLst/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9" name="Google Shape;489;p25"/>
              <p:cNvSpPr/>
              <p:nvPr/>
            </p:nvSpPr>
            <p:spPr>
              <a:xfrm>
                <a:off x="0" y="0"/>
                <a:ext cx="1485900" cy="38100"/>
              </a:xfrm>
              <a:prstGeom prst="rect">
                <a:avLst/>
              </a:prstGeom>
              <a:solidFill>
                <a:srgbClr val="0284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0" name="Google Shape;490;p25"/>
              <p:cNvSpPr txBox="1"/>
              <p:nvPr/>
            </p:nvSpPr>
            <p:spPr>
              <a:xfrm>
                <a:off x="114300" y="190500"/>
                <a:ext cx="1257300" cy="2476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675">
                    <a:solidFill>
                      <a:srgbClr val="0284C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01 / SUPPLY CHAIN</a:t>
                </a:r>
                <a:endParaRPr b="0" sz="675">
                  <a:solidFill>
                    <a:srgbClr val="0284C7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900"/>
                  </a:spcBef>
                  <a:spcAft>
                    <a:spcPts val="0"/>
                  </a:spcAft>
                  <a:buNone/>
                </a:pPr>
                <a:r>
                  <a:rPr b="0" lang="en" sz="975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Mitigating Attacks</a:t>
                </a:r>
                <a:endParaRPr b="0" sz="97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750"/>
                  </a:spcBef>
                  <a:spcAft>
                    <a:spcPts val="0"/>
                  </a:spcAft>
                  <a:buNone/>
                </a:pPr>
                <a:r>
                  <a:rPr b="0" lang="en" sz="863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Mitigating supply chain attacks where counterfeit sensors slowly poison RL training.</a:t>
                </a:r>
                <a:endParaRPr b="0" sz="86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91" name="Google Shape;491;p25"/>
            <p:cNvGrpSpPr/>
            <p:nvPr/>
          </p:nvGrpSpPr>
          <p:grpSpPr>
            <a:xfrm>
              <a:off x="2247900" y="1714500"/>
              <a:ext cx="1485900" cy="2857500"/>
              <a:chOff x="0" y="0"/>
              <a:chExt cx="1485900" cy="2857500"/>
            </a:xfrm>
          </p:grpSpPr>
          <p:sp>
            <p:nvSpPr>
              <p:cNvPr id="492" name="Google Shape;492;p25"/>
              <p:cNvSpPr/>
              <p:nvPr/>
            </p:nvSpPr>
            <p:spPr>
              <a:xfrm>
                <a:off x="0" y="0"/>
                <a:ext cx="1485900" cy="2857500"/>
              </a:xfrm>
              <a:prstGeom prst="rect">
                <a:avLst/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3" name="Google Shape;493;p25"/>
              <p:cNvSpPr/>
              <p:nvPr/>
            </p:nvSpPr>
            <p:spPr>
              <a:xfrm>
                <a:off x="0" y="0"/>
                <a:ext cx="1485900" cy="38100"/>
              </a:xfrm>
              <a:prstGeom prst="rect">
                <a:avLst/>
              </a:prstGeom>
              <a:solidFill>
                <a:srgbClr val="0284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4" name="Google Shape;494;p25"/>
              <p:cNvSpPr txBox="1"/>
              <p:nvPr/>
            </p:nvSpPr>
            <p:spPr>
              <a:xfrm>
                <a:off x="114300" y="190500"/>
                <a:ext cx="1257300" cy="2476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675">
                    <a:solidFill>
                      <a:srgbClr val="0284C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02 / ADVERSARIAL</a:t>
                </a:r>
                <a:endParaRPr b="0" sz="675">
                  <a:solidFill>
                    <a:srgbClr val="0284C7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900"/>
                  </a:spcBef>
                  <a:spcAft>
                    <a:spcPts val="0"/>
                  </a:spcAft>
                  <a:buNone/>
                </a:pPr>
                <a:r>
                  <a:rPr b="0" lang="en" sz="975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Defending Examples</a:t>
                </a:r>
                <a:endParaRPr b="0" sz="97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750"/>
                  </a:spcBef>
                  <a:spcAft>
                    <a:spcPts val="0"/>
                  </a:spcAft>
                  <a:buNone/>
                </a:pPr>
                <a:r>
                  <a:rPr b="0" lang="en" sz="863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Defending against complex adversarial examples that pass bounds checks but force destructive actions.</a:t>
                </a:r>
                <a:endParaRPr b="0" sz="86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95" name="Google Shape;495;p25"/>
            <p:cNvGrpSpPr/>
            <p:nvPr/>
          </p:nvGrpSpPr>
          <p:grpSpPr>
            <a:xfrm>
              <a:off x="3924300" y="1714500"/>
              <a:ext cx="1485900" cy="2857500"/>
              <a:chOff x="0" y="0"/>
              <a:chExt cx="1485900" cy="2857500"/>
            </a:xfrm>
          </p:grpSpPr>
          <p:sp>
            <p:nvSpPr>
              <p:cNvPr id="496" name="Google Shape;496;p25"/>
              <p:cNvSpPr/>
              <p:nvPr/>
            </p:nvSpPr>
            <p:spPr>
              <a:xfrm>
                <a:off x="0" y="0"/>
                <a:ext cx="1485900" cy="2857500"/>
              </a:xfrm>
              <a:prstGeom prst="rect">
                <a:avLst/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7" name="Google Shape;497;p25"/>
              <p:cNvSpPr/>
              <p:nvPr/>
            </p:nvSpPr>
            <p:spPr>
              <a:xfrm>
                <a:off x="0" y="0"/>
                <a:ext cx="1485900" cy="38100"/>
              </a:xfrm>
              <a:prstGeom prst="rect">
                <a:avLst/>
              </a:prstGeom>
              <a:solidFill>
                <a:srgbClr val="0284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8" name="Google Shape;498;p25"/>
              <p:cNvSpPr txBox="1"/>
              <p:nvPr/>
            </p:nvSpPr>
            <p:spPr>
              <a:xfrm>
                <a:off x="114300" y="190500"/>
                <a:ext cx="1257300" cy="2476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675">
                    <a:solidFill>
                      <a:srgbClr val="0284C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03 / AUTOENCODER</a:t>
                </a:r>
                <a:endParaRPr b="0" sz="675">
                  <a:solidFill>
                    <a:srgbClr val="0284C7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900"/>
                  </a:spcBef>
                  <a:spcAft>
                    <a:spcPts val="0"/>
                  </a:spcAft>
                  <a:buNone/>
                </a:pPr>
                <a:r>
                  <a:rPr b="0" lang="en" sz="975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Unsupervised Defense</a:t>
                </a:r>
                <a:endParaRPr b="0" sz="97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750"/>
                  </a:spcBef>
                  <a:spcAft>
                    <a:spcPts val="0"/>
                  </a:spcAft>
                  <a:buNone/>
                </a:pPr>
                <a:r>
                  <a:rPr b="0" lang="en" sz="863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Implementing an autoencoder defense for unsupervised anomaly detection prior to SageMaker inference.</a:t>
                </a:r>
                <a:endParaRPr b="0" sz="86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99" name="Google Shape;499;p25"/>
            <p:cNvGrpSpPr/>
            <p:nvPr/>
          </p:nvGrpSpPr>
          <p:grpSpPr>
            <a:xfrm>
              <a:off x="5600700" y="1714500"/>
              <a:ext cx="1485900" cy="2857500"/>
              <a:chOff x="0" y="0"/>
              <a:chExt cx="1485900" cy="2857500"/>
            </a:xfrm>
          </p:grpSpPr>
          <p:sp>
            <p:nvSpPr>
              <p:cNvPr id="500" name="Google Shape;500;p25"/>
              <p:cNvSpPr/>
              <p:nvPr/>
            </p:nvSpPr>
            <p:spPr>
              <a:xfrm>
                <a:off x="0" y="0"/>
                <a:ext cx="1485900" cy="2857500"/>
              </a:xfrm>
              <a:prstGeom prst="rect">
                <a:avLst/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1" name="Google Shape;501;p25"/>
              <p:cNvSpPr/>
              <p:nvPr/>
            </p:nvSpPr>
            <p:spPr>
              <a:xfrm>
                <a:off x="0" y="0"/>
                <a:ext cx="1485900" cy="38100"/>
              </a:xfrm>
              <a:prstGeom prst="rect">
                <a:avLst/>
              </a:prstGeom>
              <a:solidFill>
                <a:srgbClr val="0284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2" name="Google Shape;502;p25"/>
              <p:cNvSpPr txBox="1"/>
              <p:nvPr/>
            </p:nvSpPr>
            <p:spPr>
              <a:xfrm>
                <a:off x="114300" y="190500"/>
                <a:ext cx="1257300" cy="2476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675">
                    <a:solidFill>
                      <a:srgbClr val="0284C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04 / MULTI-AGENT</a:t>
                </a:r>
                <a:endParaRPr b="0" sz="675">
                  <a:solidFill>
                    <a:srgbClr val="0284C7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900"/>
                  </a:spcBef>
                  <a:spcAft>
                    <a:spcPts val="0"/>
                  </a:spcAft>
                  <a:buNone/>
                </a:pPr>
                <a:r>
                  <a:rPr b="0" lang="en" sz="975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Voting Architectures</a:t>
                </a:r>
                <a:endParaRPr b="0" sz="97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750"/>
                  </a:spcBef>
                  <a:spcAft>
                    <a:spcPts val="0"/>
                  </a:spcAft>
                  <a:buNone/>
                </a:pPr>
                <a:r>
                  <a:rPr b="0" lang="en" sz="863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Exploring multi-agent voting with independent RL architectures.</a:t>
                </a:r>
                <a:endParaRPr b="0" sz="86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503" name="Google Shape;503;p25"/>
            <p:cNvGrpSpPr/>
            <p:nvPr/>
          </p:nvGrpSpPr>
          <p:grpSpPr>
            <a:xfrm>
              <a:off x="7277100" y="1714500"/>
              <a:ext cx="1485900" cy="2857500"/>
              <a:chOff x="0" y="0"/>
              <a:chExt cx="1485900" cy="2857500"/>
            </a:xfrm>
          </p:grpSpPr>
          <p:sp>
            <p:nvSpPr>
              <p:cNvPr id="504" name="Google Shape;504;p25"/>
              <p:cNvSpPr/>
              <p:nvPr/>
            </p:nvSpPr>
            <p:spPr>
              <a:xfrm>
                <a:off x="0" y="0"/>
                <a:ext cx="1485900" cy="2857500"/>
              </a:xfrm>
              <a:prstGeom prst="rect">
                <a:avLst/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5" name="Google Shape;505;p25"/>
              <p:cNvSpPr/>
              <p:nvPr/>
            </p:nvSpPr>
            <p:spPr>
              <a:xfrm>
                <a:off x="0" y="0"/>
                <a:ext cx="1485900" cy="38100"/>
              </a:xfrm>
              <a:prstGeom prst="rect">
                <a:avLst/>
              </a:prstGeom>
              <a:solidFill>
                <a:srgbClr val="0284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6" name="Google Shape;506;p25"/>
              <p:cNvSpPr txBox="1"/>
              <p:nvPr/>
            </p:nvSpPr>
            <p:spPr>
              <a:xfrm>
                <a:off x="114300" y="190500"/>
                <a:ext cx="1257300" cy="2476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675">
                    <a:solidFill>
                      <a:srgbClr val="0284C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05 / TEMPORAL</a:t>
                </a:r>
                <a:endParaRPr b="0" sz="675">
                  <a:solidFill>
                    <a:srgbClr val="0284C7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900"/>
                  </a:spcBef>
                  <a:spcAft>
                    <a:spcPts val="0"/>
                  </a:spcAft>
                  <a:buNone/>
                </a:pPr>
                <a:r>
                  <a:rPr b="0" lang="en" sz="975">
                    <a:solidFill>
                      <a:srgbClr val="0F172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Physical Consistency</a:t>
                </a:r>
                <a:endParaRPr b="0" sz="975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750"/>
                  </a:spcBef>
                  <a:spcAft>
                    <a:spcPts val="0"/>
                  </a:spcAft>
                  <a:buNone/>
                </a:pPr>
                <a:r>
                  <a:rPr b="0" lang="en" sz="863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Enforcing temporal consistency based on physical power grid laws to further harden the system against sophisticated cyber-physical threats.</a:t>
                </a:r>
                <a:endParaRPr b="0" sz="86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1" name="Google Shape;511;p26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512" name="Google Shape;512;p26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13" name="Google Shape;513;p26"/>
            <p:cNvGrpSpPr/>
            <p:nvPr/>
          </p:nvGrpSpPr>
          <p:grpSpPr>
            <a:xfrm>
              <a:off x="0" y="0"/>
              <a:ext cx="9144000" cy="76350"/>
              <a:chOff x="0" y="0"/>
              <a:chExt cx="9144000" cy="76350"/>
            </a:xfrm>
          </p:grpSpPr>
          <p:sp>
            <p:nvSpPr>
              <p:cNvPr id="514" name="Google Shape;514;p26"/>
              <p:cNvSpPr/>
              <p:nvPr/>
            </p:nvSpPr>
            <p:spPr>
              <a:xfrm>
                <a:off x="0" y="0"/>
                <a:ext cx="9144000" cy="57300"/>
              </a:xfrm>
              <a:prstGeom prst="rect">
                <a:avLst/>
              </a:prstGeom>
              <a:solidFill>
                <a:srgbClr val="0284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5" name="Google Shape;515;p26"/>
              <p:cNvSpPr/>
              <p:nvPr/>
            </p:nvSpPr>
            <p:spPr>
              <a:xfrm>
                <a:off x="0" y="57150"/>
                <a:ext cx="1143000" cy="19200"/>
              </a:xfrm>
              <a:prstGeom prst="rect">
                <a:avLst/>
              </a:prstGeom>
              <a:solidFill>
                <a:srgbClr val="0369A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pic>
          <p:nvPicPr>
            <p:cNvPr id="516" name="Google Shape;516;p2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8191500" y="190500"/>
              <a:ext cx="495300" cy="4953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17" name="Google Shape;517;p26"/>
          <p:cNvSpPr txBox="1"/>
          <p:nvPr/>
        </p:nvSpPr>
        <p:spPr>
          <a:xfrm>
            <a:off x="381000" y="38100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Project Summary &amp; Highlights</a:t>
            </a:r>
            <a:endParaRPr b="1" sz="240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8" name="Google Shape;518;p26"/>
          <p:cNvSpPr txBox="1"/>
          <p:nvPr/>
        </p:nvSpPr>
        <p:spPr>
          <a:xfrm>
            <a:off x="381000" y="904875"/>
            <a:ext cx="83820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2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GridGuard-RL demonstrates a highly scalable and resilient approach to autonomous grid control.</a:t>
            </a:r>
            <a:endParaRPr b="0" sz="1125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519" name="Google Shape;519;p26"/>
          <p:cNvGrpSpPr/>
          <p:nvPr/>
        </p:nvGrpSpPr>
        <p:grpSpPr>
          <a:xfrm>
            <a:off x="381000" y="1476375"/>
            <a:ext cx="3619500" cy="2667000"/>
            <a:chOff x="0" y="0"/>
            <a:chExt cx="3619500" cy="2667000"/>
          </a:xfrm>
        </p:grpSpPr>
        <p:sp>
          <p:nvSpPr>
            <p:cNvPr id="520" name="Google Shape;520;p26"/>
            <p:cNvSpPr/>
            <p:nvPr/>
          </p:nvSpPr>
          <p:spPr>
            <a:xfrm>
              <a:off x="0" y="0"/>
              <a:ext cx="3619500" cy="2667000"/>
            </a:xfrm>
            <a:prstGeom prst="roundRect">
              <a:avLst>
                <a:gd fmla="val 0" name="adj"/>
              </a:avLst>
            </a:prstGeom>
            <a:solidFill>
              <a:srgbClr val="F4F6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" name="Google Shape;521;p26"/>
            <p:cNvSpPr/>
            <p:nvPr/>
          </p:nvSpPr>
          <p:spPr>
            <a:xfrm>
              <a:off x="0" y="0"/>
              <a:ext cx="3619500" cy="381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" name="Google Shape;522;p26"/>
            <p:cNvSpPr txBox="1"/>
            <p:nvPr/>
          </p:nvSpPr>
          <p:spPr>
            <a:xfrm>
              <a:off x="190500" y="238125"/>
              <a:ext cx="32385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63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&lt; 1s</a:t>
              </a:r>
              <a:endParaRPr b="1" sz="630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ctr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Device Shadow Latency</a:t>
              </a:r>
              <a:endParaRPr b="0" sz="900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ctr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" sz="101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Achieving safe, automated decision-making with a Device Shadow round-trip latency of under one second.</a:t>
              </a:r>
              <a:endParaRPr b="0" sz="1013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523" name="Google Shape;523;p26"/>
          <p:cNvSpPr/>
          <p:nvPr/>
        </p:nvSpPr>
        <p:spPr>
          <a:xfrm>
            <a:off x="4381500" y="1476375"/>
            <a:ext cx="19200" cy="2667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24" name="Google Shape;524;p26"/>
          <p:cNvGrpSpPr/>
          <p:nvPr/>
        </p:nvGrpSpPr>
        <p:grpSpPr>
          <a:xfrm>
            <a:off x="4762500" y="1476375"/>
            <a:ext cx="1905000" cy="1238400"/>
            <a:chOff x="0" y="0"/>
            <a:chExt cx="1905000" cy="1238400"/>
          </a:xfrm>
        </p:grpSpPr>
        <p:sp>
          <p:nvSpPr>
            <p:cNvPr id="525" name="Google Shape;525;p26"/>
            <p:cNvSpPr/>
            <p:nvPr/>
          </p:nvSpPr>
          <p:spPr>
            <a:xfrm>
              <a:off x="0" y="0"/>
              <a:ext cx="1905000" cy="12384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" name="Google Shape;526;p26"/>
            <p:cNvSpPr/>
            <p:nvPr/>
          </p:nvSpPr>
          <p:spPr>
            <a:xfrm>
              <a:off x="0" y="0"/>
              <a:ext cx="38100" cy="12384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" name="Google Shape;527;p26"/>
            <p:cNvSpPr txBox="1"/>
            <p:nvPr/>
          </p:nvSpPr>
          <p:spPr>
            <a:xfrm>
              <a:off x="142875" y="142875"/>
              <a:ext cx="16191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9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500K</a:t>
              </a:r>
              <a:endParaRPr b="1" sz="195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825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Training Samples</a:t>
              </a:r>
              <a:endParaRPr b="0" sz="825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82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Trained across 500 episodes to ensure robust, safe policy generation.</a:t>
              </a:r>
              <a:endParaRPr b="0" sz="82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8" name="Google Shape;528;p26"/>
          <p:cNvGrpSpPr/>
          <p:nvPr/>
        </p:nvGrpSpPr>
        <p:grpSpPr>
          <a:xfrm>
            <a:off x="6858000" y="1476375"/>
            <a:ext cx="1905000" cy="1238400"/>
            <a:chOff x="0" y="0"/>
            <a:chExt cx="1905000" cy="1238400"/>
          </a:xfrm>
        </p:grpSpPr>
        <p:sp>
          <p:nvSpPr>
            <p:cNvPr id="529" name="Google Shape;529;p26"/>
            <p:cNvSpPr/>
            <p:nvPr/>
          </p:nvSpPr>
          <p:spPr>
            <a:xfrm>
              <a:off x="0" y="0"/>
              <a:ext cx="1905000" cy="12384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" name="Google Shape;530;p26"/>
            <p:cNvSpPr/>
            <p:nvPr/>
          </p:nvSpPr>
          <p:spPr>
            <a:xfrm>
              <a:off x="0" y="0"/>
              <a:ext cx="38100" cy="12384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" name="Google Shape;531;p26"/>
            <p:cNvSpPr txBox="1"/>
            <p:nvPr/>
          </p:nvSpPr>
          <p:spPr>
            <a:xfrm>
              <a:off x="142875" y="142875"/>
              <a:ext cx="16191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9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5 Gates</a:t>
              </a:r>
              <a:endParaRPr b="1" sz="195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825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Security Layers</a:t>
              </a:r>
              <a:endParaRPr b="0" sz="825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82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Multi-layer mechanisms defending against 8 active attack types.</a:t>
              </a:r>
              <a:endParaRPr b="0" sz="82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32" name="Google Shape;532;p26"/>
          <p:cNvGrpSpPr/>
          <p:nvPr/>
        </p:nvGrpSpPr>
        <p:grpSpPr>
          <a:xfrm>
            <a:off x="4762500" y="2905125"/>
            <a:ext cx="1905000" cy="1238400"/>
            <a:chOff x="0" y="0"/>
            <a:chExt cx="1905000" cy="1238400"/>
          </a:xfrm>
        </p:grpSpPr>
        <p:sp>
          <p:nvSpPr>
            <p:cNvPr id="533" name="Google Shape;533;p26"/>
            <p:cNvSpPr/>
            <p:nvPr/>
          </p:nvSpPr>
          <p:spPr>
            <a:xfrm>
              <a:off x="0" y="0"/>
              <a:ext cx="1905000" cy="12384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" name="Google Shape;534;p26"/>
            <p:cNvSpPr/>
            <p:nvPr/>
          </p:nvSpPr>
          <p:spPr>
            <a:xfrm>
              <a:off x="0" y="0"/>
              <a:ext cx="38100" cy="12384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" name="Google Shape;535;p26"/>
            <p:cNvSpPr txBox="1"/>
            <p:nvPr/>
          </p:nvSpPr>
          <p:spPr>
            <a:xfrm>
              <a:off x="142875" y="142875"/>
              <a:ext cx="16191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9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21</a:t>
              </a:r>
              <a:endParaRPr b="1" sz="195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825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Test Scenarios</a:t>
              </a:r>
              <a:endParaRPr b="0" sz="825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82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Extensively evaluated to prove system resilience under diverse faults.</a:t>
              </a:r>
              <a:endParaRPr b="0" sz="82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36" name="Google Shape;536;p26"/>
          <p:cNvGrpSpPr/>
          <p:nvPr/>
        </p:nvGrpSpPr>
        <p:grpSpPr>
          <a:xfrm>
            <a:off x="6858000" y="2905125"/>
            <a:ext cx="1905000" cy="1238400"/>
            <a:chOff x="0" y="0"/>
            <a:chExt cx="1905000" cy="1238400"/>
          </a:xfrm>
        </p:grpSpPr>
        <p:sp>
          <p:nvSpPr>
            <p:cNvPr id="537" name="Google Shape;537;p26"/>
            <p:cNvSpPr/>
            <p:nvPr/>
          </p:nvSpPr>
          <p:spPr>
            <a:xfrm>
              <a:off x="0" y="0"/>
              <a:ext cx="1905000" cy="12384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" name="Google Shape;538;p26"/>
            <p:cNvSpPr/>
            <p:nvPr/>
          </p:nvSpPr>
          <p:spPr>
            <a:xfrm>
              <a:off x="0" y="0"/>
              <a:ext cx="38100" cy="1238400"/>
            </a:xfrm>
            <a:prstGeom prst="rect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" name="Google Shape;539;p26"/>
            <p:cNvSpPr txBox="1"/>
            <p:nvPr/>
          </p:nvSpPr>
          <p:spPr>
            <a:xfrm>
              <a:off x="142875" y="142875"/>
              <a:ext cx="16191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9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3-Min</a:t>
              </a:r>
              <a:endParaRPr b="1" sz="195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825">
                  <a:solidFill>
                    <a:srgbClr val="0369A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Terraform Setup</a:t>
              </a:r>
              <a:endParaRPr b="0" sz="825">
                <a:solidFill>
                  <a:srgbClr val="0369A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82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Fully reproducible deploy managing 8 AWS services &amp; SageMaker.</a:t>
              </a:r>
              <a:endParaRPr b="0" sz="82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